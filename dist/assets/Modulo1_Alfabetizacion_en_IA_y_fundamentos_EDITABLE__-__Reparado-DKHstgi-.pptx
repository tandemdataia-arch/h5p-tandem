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512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M01_AUD_01 incrustado.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M01_AUD_02 incrustado.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M01_AUD_03 incrustado.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Valorar varios indicios y estimar qué resultado es más probable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Soluciones: 1 Automatización; 2 IA no supervisada; 3 Operación automática; 4 IA generativa; 5 Sistema de 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Soluciones: Informe programado = Automatización; Agrupar reclamaciones = IA no supervisada; Sumar columna = Operación automática; Generar resumen = IA generativa; Recomendar candidatura = Sistema de IA.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M01_AUD_04 incrustado.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Desactualización de los datos | Falta de representación de personas o situaciones | Etiquetado incorrecto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Aprendizaje supervisado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Aprendizaje no supervisado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Aprendizaje por refuerzo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Aprendizaje supervisado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M01_AUD_05 incrustado.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Una fuente o referencia que podría no existir | Una fecha que podría estar desactualizada | Una afirmación dudosa presentada como segura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M01_AUD_06 incrustado.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No verificar el contenido antes de utilizarlo profesionalmente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La persona usuaria y la organización, según sus funciones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Verificar las afirmaciones con fuentes fiables | Comprobar vigencia y jurisdicción | Revisar las sentencias y separar hechos de interpretación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Sí, como apoyo inicial, si la herramienta está autorizada, se protege la información y se revisa el resultado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original M01_AUD_07 incrustado.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correcto: Comprender → Limitar → Verificar → Decidir.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m1_logo.png"/>
          <p:cNvPicPr>
            <a:picLocks noChangeAspect="1"/>
          </p:cNvPicPr>
          <p:nvPr/>
        </p:nvPicPr>
        <p:blipFill>
          <a:blip r:embed="rId3"/>
          <a:stretch>
            <a:fillRect/>
          </a:stretch>
        </p:blipFill>
        <p:spPr>
          <a:xfrm>
            <a:off x="685800" y="530352"/>
            <a:ext cx="2926080" cy="868680"/>
          </a:xfrm>
          <a:prstGeom prst="rect">
            <a:avLst/>
          </a:prstGeom>
        </p:spPr>
      </p:pic>
      <p:sp>
        <p:nvSpPr>
          <p:cNvPr id="3" name="Shape 0"/>
          <p:cNvSpPr/>
          <p:nvPr/>
        </p:nvSpPr>
        <p:spPr>
          <a:xfrm>
            <a:off x="8823960" y="411480"/>
            <a:ext cx="2331720" cy="1143000"/>
          </a:xfrm>
          <a:prstGeom prst="roundRect">
            <a:avLst>
              <a:gd name="adj" fmla="val 9600"/>
            </a:avLst>
          </a:prstGeom>
          <a:solidFill>
            <a:srgbClr val="EAF3F6"/>
          </a:solidFill>
          <a:ln w="12700">
            <a:solidFill>
              <a:srgbClr val="EAF3F6"/>
            </a:solidFill>
            <a:prstDash val="solid"/>
          </a:ln>
        </p:spPr>
        <p:txBody>
          <a:bodyPr/>
          <a:lstStyle/>
          <a:p>
            <a:endParaRPr lang="es-ES"/>
          </a:p>
        </p:txBody>
      </p:sp>
      <p:sp>
        <p:nvSpPr>
          <p:cNvPr id="4" name="Shape 1"/>
          <p:cNvSpPr/>
          <p:nvPr/>
        </p:nvSpPr>
        <p:spPr>
          <a:xfrm>
            <a:off x="9464040" y="713232"/>
            <a:ext cx="1600200" cy="1051560"/>
          </a:xfrm>
          <a:prstGeom prst="roundRect">
            <a:avLst>
              <a:gd name="adj" fmla="val 10435"/>
            </a:avLst>
          </a:prstGeom>
          <a:solidFill>
            <a:srgbClr val="1B4D5C"/>
          </a:solidFill>
          <a:ln w="12700">
            <a:solidFill>
              <a:srgbClr val="1B4D5C"/>
            </a:solidFill>
            <a:prstDash val="solid"/>
          </a:ln>
        </p:spPr>
        <p:txBody>
          <a:bodyPr/>
          <a:lstStyle/>
          <a:p>
            <a:endParaRPr lang="es-ES"/>
          </a:p>
        </p:txBody>
      </p:sp>
      <p:sp>
        <p:nvSpPr>
          <p:cNvPr id="5" name="Shape 2"/>
          <p:cNvSpPr/>
          <p:nvPr/>
        </p:nvSpPr>
        <p:spPr>
          <a:xfrm>
            <a:off x="10104120" y="475488"/>
            <a:ext cx="1097280" cy="804672"/>
          </a:xfrm>
          <a:prstGeom prst="roundRect">
            <a:avLst>
              <a:gd name="adj" fmla="val 13636"/>
            </a:avLst>
          </a:prstGeom>
          <a:solidFill>
            <a:srgbClr val="1D3461"/>
          </a:solidFill>
          <a:ln w="12700">
            <a:solidFill>
              <a:srgbClr val="1D3461"/>
            </a:solidFill>
            <a:prstDash val="solid"/>
          </a:ln>
        </p:spPr>
        <p:txBody>
          <a:bodyPr/>
          <a:lstStyle/>
          <a:p>
            <a:endParaRPr lang="es-ES"/>
          </a:p>
        </p:txBody>
      </p:sp>
      <p:sp>
        <p:nvSpPr>
          <p:cNvPr id="6" name="Shape 3"/>
          <p:cNvSpPr/>
          <p:nvPr/>
        </p:nvSpPr>
        <p:spPr>
          <a:xfrm>
            <a:off x="10533888" y="566928"/>
            <a:ext cx="530352" cy="530352"/>
          </a:xfrm>
          <a:prstGeom prst="roundRect">
            <a:avLst>
              <a:gd name="adj" fmla="val 17241"/>
            </a:avLst>
          </a:prstGeom>
          <a:solidFill>
            <a:srgbClr val="C66019"/>
          </a:solidFill>
          <a:ln w="12700">
            <a:solidFill>
              <a:srgbClr val="C66019"/>
            </a:solidFill>
            <a:prstDash val="solid"/>
          </a:ln>
        </p:spPr>
        <p:txBody>
          <a:bodyPr/>
          <a:lstStyle/>
          <a:p>
            <a:endParaRPr lang="es-ES"/>
          </a:p>
        </p:txBody>
      </p:sp>
      <p:sp>
        <p:nvSpPr>
          <p:cNvPr id="7" name="Text 4"/>
          <p:cNvSpPr/>
          <p:nvPr/>
        </p:nvSpPr>
        <p:spPr>
          <a:xfrm>
            <a:off x="731520" y="2331720"/>
            <a:ext cx="7406640" cy="566928"/>
          </a:xfrm>
          <a:prstGeom prst="rect">
            <a:avLst/>
          </a:prstGeom>
          <a:noFill/>
          <a:ln/>
        </p:spPr>
        <p:txBody>
          <a:bodyPr wrap="square" lIns="0" tIns="0" rIns="0" bIns="0" rtlCol="0" anchor="ctr"/>
          <a:lstStyle/>
          <a:p>
            <a:pPr marL="0" indent="0">
              <a:buNone/>
            </a:pPr>
            <a:r>
              <a:rPr lang="en-US" sz="3400" b="1" dirty="0">
                <a:solidFill>
                  <a:srgbClr val="1B4D5C"/>
                </a:solidFill>
                <a:latin typeface="Inter" pitchFamily="34" charset="0"/>
                <a:ea typeface="Inter" pitchFamily="34" charset="-122"/>
                <a:cs typeface="Inter" pitchFamily="34" charset="-120"/>
              </a:rPr>
              <a:t>Curso de alfabetización en IA</a:t>
            </a:r>
            <a:endParaRPr lang="en-US" sz="3400" dirty="0"/>
          </a:p>
        </p:txBody>
      </p:sp>
      <p:sp>
        <p:nvSpPr>
          <p:cNvPr id="8" name="Text 5"/>
          <p:cNvSpPr/>
          <p:nvPr/>
        </p:nvSpPr>
        <p:spPr>
          <a:xfrm>
            <a:off x="731520" y="3090672"/>
            <a:ext cx="7589520" cy="420624"/>
          </a:xfrm>
          <a:prstGeom prst="rect">
            <a:avLst/>
          </a:prstGeom>
          <a:noFill/>
          <a:ln/>
        </p:spPr>
        <p:txBody>
          <a:bodyPr wrap="square" lIns="0" tIns="0" rIns="0" bIns="0" rtlCol="0" anchor="ctr">
            <a:normAutofit/>
          </a:bodyPr>
          <a:lstStyle/>
          <a:p>
            <a:pPr marL="0" indent="0">
              <a:buNone/>
            </a:pPr>
            <a:r>
              <a:rPr lang="en-US" sz="2300" b="1" dirty="0">
                <a:solidFill>
                  <a:srgbClr val="1D3461"/>
                </a:solidFill>
                <a:latin typeface="Inter" pitchFamily="34" charset="0"/>
                <a:ea typeface="Inter" pitchFamily="34" charset="-122"/>
                <a:cs typeface="Inter" pitchFamily="34" charset="-120"/>
              </a:rPr>
              <a:t>Módulo 1 · Alfabetización en IA y fundamentos</a:t>
            </a:r>
            <a:endParaRPr lang="en-US" sz="2300" dirty="0"/>
          </a:p>
        </p:txBody>
      </p:sp>
      <p:sp>
        <p:nvSpPr>
          <p:cNvPr id="9" name="Shape 6"/>
          <p:cNvSpPr/>
          <p:nvPr/>
        </p:nvSpPr>
        <p:spPr>
          <a:xfrm>
            <a:off x="731520" y="4645152"/>
            <a:ext cx="10469880" cy="0"/>
          </a:xfrm>
          <a:prstGeom prst="line">
            <a:avLst/>
          </a:prstGeom>
          <a:noFill/>
          <a:ln w="15240">
            <a:solidFill>
              <a:srgbClr val="D8E4E8"/>
            </a:solidFill>
            <a:prstDash val="solid"/>
          </a:ln>
        </p:spPr>
        <p:txBody>
          <a:bodyPr/>
          <a:lstStyle/>
          <a:p>
            <a:endParaRPr lang="es-ES"/>
          </a:p>
        </p:txBody>
      </p:sp>
      <p:sp>
        <p:nvSpPr>
          <p:cNvPr id="10" name="Text 7"/>
          <p:cNvSpPr/>
          <p:nvPr/>
        </p:nvSpPr>
        <p:spPr>
          <a:xfrm>
            <a:off x="731520" y="4956048"/>
            <a:ext cx="4297680" cy="256032"/>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Formación corporativa · DATA &amp; IA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57200"/>
            <a:ext cx="1417320" cy="73152"/>
          </a:xfrm>
          <a:prstGeom prst="roundRect">
            <a:avLst>
              <a:gd name="adj" fmla="val 37500"/>
            </a:avLst>
          </a:prstGeom>
          <a:solidFill>
            <a:srgbClr val="C66019"/>
          </a:solidFill>
          <a:ln w="12700">
            <a:solidFill>
              <a:srgbClr val="C66019"/>
            </a:solidFill>
            <a:prstDash val="solid"/>
          </a:ln>
        </p:spPr>
        <p:txBody>
          <a:bodyPr/>
          <a:lstStyle/>
          <a:p>
            <a:endParaRPr lang="es-ES"/>
          </a:p>
        </p:txBody>
      </p:sp>
      <p:sp>
        <p:nvSpPr>
          <p:cNvPr id="3" name="Text 1"/>
          <p:cNvSpPr/>
          <p:nvPr/>
        </p:nvSpPr>
        <p:spPr>
          <a:xfrm>
            <a:off x="658368" y="731520"/>
            <a:ext cx="10698480" cy="411480"/>
          </a:xfrm>
          <a:prstGeom prst="rect">
            <a:avLst/>
          </a:prstGeom>
          <a:noFill/>
          <a:ln/>
        </p:spPr>
        <p:txBody>
          <a:bodyPr wrap="square" lIns="0" tIns="0" rIns="0" bIns="0" rtlCol="0" anchor="ctr">
            <a:normAutofit/>
          </a:bodyPr>
          <a:lstStyle/>
          <a:p>
            <a:pPr marL="0" indent="0">
              <a:buNone/>
            </a:pPr>
            <a:r>
              <a:rPr lang="en-US" sz="2500" b="1" dirty="0">
                <a:solidFill>
                  <a:srgbClr val="C66019"/>
                </a:solidFill>
                <a:latin typeface="Inter" pitchFamily="34" charset="0"/>
                <a:ea typeface="Inter" pitchFamily="34" charset="-122"/>
                <a:cs typeface="Inter" pitchFamily="34" charset="-120"/>
              </a:rPr>
              <a:t>BLOQUE 1 · PRIMEROS PASOS</a:t>
            </a:r>
            <a:endParaRPr lang="en-US" sz="2500" dirty="0"/>
          </a:p>
        </p:txBody>
      </p:sp>
      <p:sp>
        <p:nvSpPr>
          <p:cNvPr id="4" name="Shape 2"/>
          <p:cNvSpPr/>
          <p:nvPr/>
        </p:nvSpPr>
        <p:spPr>
          <a:xfrm>
            <a:off x="676656" y="1325880"/>
            <a:ext cx="10771632" cy="3749040"/>
          </a:xfrm>
          <a:prstGeom prst="roundRect">
            <a:avLst>
              <a:gd name="adj" fmla="val 1951"/>
            </a:avLst>
          </a:prstGeom>
          <a:solidFill>
            <a:srgbClr val="EAF3F6"/>
          </a:solidFill>
          <a:ln w="12700">
            <a:solidFill>
              <a:srgbClr val="D8E4E8"/>
            </a:solidFill>
            <a:prstDash val="solid"/>
          </a:ln>
        </p:spPr>
        <p:txBody>
          <a:bodyPr/>
          <a:lstStyle/>
          <a:p>
            <a:endParaRPr lang="es-ES"/>
          </a:p>
        </p:txBody>
      </p:sp>
      <p:sp>
        <p:nvSpPr>
          <p:cNvPr id="5" name="Text 3"/>
          <p:cNvSpPr/>
          <p:nvPr/>
        </p:nvSpPr>
        <p:spPr>
          <a:xfrm>
            <a:off x="1078992" y="2423160"/>
            <a:ext cx="9829800" cy="1417320"/>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Antes de hablar de tecnología, hablemos de criterio: qué esperar de una respuesta de IA y qué nivel de conocimiento necesitas según tu puesto.</a:t>
            </a:r>
            <a:endParaRPr lang="en-US" sz="23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 · BIENVENIDA</a:t>
            </a:r>
            <a:endParaRPr lang="en-US" sz="2000" dirty="0"/>
          </a:p>
        </p:txBody>
      </p:sp>
      <p:sp>
        <p:nvSpPr>
          <p:cNvPr id="3" name="Text 1"/>
          <p:cNvSpPr/>
          <p:nvPr/>
        </p:nvSpPr>
        <p:spPr>
          <a:xfrm>
            <a:off x="658368" y="658368"/>
            <a:ext cx="10607040" cy="530352"/>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Una respuesta convincente no es necesariamente correcta</a:t>
            </a:r>
            <a:endParaRPr lang="en-US" sz="2400" dirty="0"/>
          </a:p>
        </p:txBody>
      </p:sp>
      <p:sp>
        <p:nvSpPr>
          <p:cNvPr id="4" name="Shape 2"/>
          <p:cNvSpPr/>
          <p:nvPr/>
        </p:nvSpPr>
        <p:spPr>
          <a:xfrm>
            <a:off x="292608" y="1353312"/>
            <a:ext cx="11475720" cy="1389888"/>
          </a:xfrm>
          <a:prstGeom prst="roundRect">
            <a:avLst>
              <a:gd name="adj" fmla="val 5263"/>
            </a:avLst>
          </a:prstGeom>
          <a:solidFill>
            <a:srgbClr val="EAF3F6"/>
          </a:solidFill>
          <a:ln w="12700">
            <a:solidFill>
              <a:srgbClr val="EAF3F6"/>
            </a:solidFill>
            <a:prstDash val="solid"/>
          </a:ln>
        </p:spPr>
        <p:txBody>
          <a:bodyPr/>
          <a:lstStyle/>
          <a:p>
            <a:endParaRPr lang="es-ES"/>
          </a:p>
        </p:txBody>
      </p:sp>
      <p:sp>
        <p:nvSpPr>
          <p:cNvPr id="5" name="Text 3"/>
          <p:cNvSpPr/>
          <p:nvPr/>
        </p:nvSpPr>
        <p:spPr>
          <a:xfrm>
            <a:off x="566928" y="1600200"/>
            <a:ext cx="10972800" cy="896112"/>
          </a:xfrm>
          <a:prstGeom prst="rect">
            <a:avLst/>
          </a:prstGeom>
          <a:noFill/>
          <a:ln/>
        </p:spPr>
        <p:txBody>
          <a:bodyPr wrap="square" lIns="0" tIns="0" rIns="0" bIns="0" rtlCol="0" anchor="ctr">
            <a:normAutofit/>
          </a:bodyPr>
          <a:lstStyle/>
          <a:p>
            <a:pPr marL="0" indent="0" algn="l">
              <a:buNone/>
            </a:pPr>
            <a:r>
              <a:rPr lang="en-US" sz="1900" b="1" dirty="0">
                <a:solidFill>
                  <a:srgbClr val="1D3461"/>
                </a:solidFill>
                <a:latin typeface="Inter" pitchFamily="34" charset="0"/>
                <a:ea typeface="Inter" pitchFamily="34" charset="-122"/>
                <a:cs typeface="Inter" pitchFamily="34" charset="-120"/>
              </a:rPr>
              <a:t>Una herramienta genera en pocos segundos una respuesta clara, detallada y aparentemente profesional. ¿Significa eso que la respuesta es correcta?</a:t>
            </a:r>
            <a:endParaRPr lang="en-US" sz="1900" dirty="0"/>
          </a:p>
        </p:txBody>
      </p:sp>
      <p:sp>
        <p:nvSpPr>
          <p:cNvPr id="6" name="Shape 4"/>
          <p:cNvSpPr/>
          <p:nvPr/>
        </p:nvSpPr>
        <p:spPr>
          <a:xfrm>
            <a:off x="292608" y="3072384"/>
            <a:ext cx="11475720" cy="1600200"/>
          </a:xfrm>
          <a:prstGeom prst="roundRect">
            <a:avLst>
              <a:gd name="adj" fmla="val 4571"/>
            </a:avLst>
          </a:prstGeom>
          <a:solidFill>
            <a:srgbClr val="FFF6EF"/>
          </a:solidFill>
          <a:ln w="12700">
            <a:solidFill>
              <a:srgbClr val="D8E4E8"/>
            </a:solidFill>
            <a:prstDash val="solid"/>
          </a:ln>
        </p:spPr>
        <p:txBody>
          <a:bodyPr/>
          <a:lstStyle/>
          <a:p>
            <a:endParaRPr lang="es-ES"/>
          </a:p>
        </p:txBody>
      </p:sp>
      <p:sp>
        <p:nvSpPr>
          <p:cNvPr id="7" name="Shape 5"/>
          <p:cNvSpPr/>
          <p:nvPr/>
        </p:nvSpPr>
        <p:spPr>
          <a:xfrm>
            <a:off x="292608" y="3072384"/>
            <a:ext cx="73152" cy="1600200"/>
          </a:xfrm>
          <a:prstGeom prst="rect">
            <a:avLst/>
          </a:prstGeom>
          <a:solidFill>
            <a:srgbClr val="C66019"/>
          </a:solidFill>
          <a:ln w="12700">
            <a:solidFill>
              <a:srgbClr val="C66019"/>
            </a:solidFill>
            <a:prstDash val="solid"/>
          </a:ln>
        </p:spPr>
        <p:txBody>
          <a:bodyPr/>
          <a:lstStyle/>
          <a:p>
            <a:endParaRPr lang="es-ES"/>
          </a:p>
        </p:txBody>
      </p:sp>
      <p:sp>
        <p:nvSpPr>
          <p:cNvPr id="8" name="Text 6"/>
          <p:cNvSpPr/>
          <p:nvPr/>
        </p:nvSpPr>
        <p:spPr>
          <a:xfrm>
            <a:off x="566928" y="3328416"/>
            <a:ext cx="1828800" cy="219456"/>
          </a:xfrm>
          <a:prstGeom prst="rect">
            <a:avLst/>
          </a:prstGeom>
          <a:noFill/>
          <a:ln/>
        </p:spPr>
        <p:txBody>
          <a:bodyPr wrap="square" lIns="0" tIns="0" rIns="0" bIns="0" rtlCol="0" anchor="ctr"/>
          <a:lstStyle/>
          <a:p>
            <a:pPr marL="0" indent="0">
              <a:buNone/>
            </a:pPr>
            <a:r>
              <a:rPr lang="en-US" sz="1300" b="1" dirty="0">
                <a:solidFill>
                  <a:srgbClr val="C66019"/>
                </a:solidFill>
                <a:latin typeface="Inter" pitchFamily="34" charset="0"/>
                <a:ea typeface="Inter" pitchFamily="34" charset="-122"/>
                <a:cs typeface="Inter" pitchFamily="34" charset="-120"/>
              </a:rPr>
              <a:t>IDEA CLAVE</a:t>
            </a:r>
            <a:endParaRPr lang="en-US" sz="1300" dirty="0"/>
          </a:p>
        </p:txBody>
      </p:sp>
      <p:sp>
        <p:nvSpPr>
          <p:cNvPr id="9" name="Text 7"/>
          <p:cNvSpPr/>
          <p:nvPr/>
        </p:nvSpPr>
        <p:spPr>
          <a:xfrm>
            <a:off x="566928" y="3657600"/>
            <a:ext cx="10607040" cy="731520"/>
          </a:xfrm>
          <a:prstGeom prst="rect">
            <a:avLst/>
          </a:prstGeom>
          <a:noFill/>
          <a:ln/>
        </p:spPr>
        <p:txBody>
          <a:bodyPr wrap="square" lIns="0" tIns="0" rIns="0" bIns="0" rtlCol="0" anchor="ctr">
            <a:normAutofit/>
          </a:bodyPr>
          <a:lstStyle/>
          <a:p>
            <a:pPr marL="0" indent="0" algn="l">
              <a:buNone/>
            </a:pPr>
            <a:r>
              <a:rPr lang="en-US" sz="1700" dirty="0">
                <a:solidFill>
                  <a:srgbClr val="0B2F3A"/>
                </a:solidFill>
                <a:latin typeface="Inter" pitchFamily="34" charset="0"/>
                <a:ea typeface="Inter" pitchFamily="34" charset="-122"/>
                <a:cs typeface="Inter" pitchFamily="34" charset="-120"/>
              </a:rPr>
              <a:t>No necesariamente. Puede incluir errores, datos desactualizados, referencias inexistentes o conclusiones no justificadas.</a:t>
            </a:r>
            <a:endParaRPr lang="en-US" sz="1700" dirty="0"/>
          </a:p>
        </p:txBody>
      </p:sp>
      <p:sp>
        <p:nvSpPr>
          <p:cNvPr id="10" name="Shape 8"/>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1" name="Text 9"/>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2 · APERTURA</a:t>
            </a:r>
            <a:endParaRPr lang="en-US" sz="20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658368" y="640080"/>
            <a:ext cx="10607040" cy="530352"/>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La IA ya forma parte del trabajo</a:t>
            </a:r>
            <a:endParaRPr lang="en-US" sz="2300" dirty="0"/>
          </a:p>
        </p:txBody>
      </p:sp>
      <p:sp>
        <p:nvSpPr>
          <p:cNvPr id="9" name="Shape 6"/>
          <p:cNvSpPr/>
          <p:nvPr/>
        </p:nvSpPr>
        <p:spPr>
          <a:xfrm>
            <a:off x="292608" y="1444752"/>
            <a:ext cx="1874520" cy="713232"/>
          </a:xfrm>
          <a:prstGeom prst="roundRect">
            <a:avLst>
              <a:gd name="adj" fmla="val 10256"/>
            </a:avLst>
          </a:prstGeom>
          <a:solidFill>
            <a:srgbClr val="EAF3F6"/>
          </a:solidFill>
          <a:ln w="12700">
            <a:solidFill>
              <a:srgbClr val="D8E4E8"/>
            </a:solidFill>
            <a:prstDash val="solid"/>
          </a:ln>
        </p:spPr>
        <p:txBody>
          <a:bodyPr/>
          <a:lstStyle/>
          <a:p>
            <a:endParaRPr lang="es-ES"/>
          </a:p>
        </p:txBody>
      </p:sp>
      <p:sp>
        <p:nvSpPr>
          <p:cNvPr id="10" name="Text 7"/>
          <p:cNvSpPr/>
          <p:nvPr/>
        </p:nvSpPr>
        <p:spPr>
          <a:xfrm>
            <a:off x="438912" y="1554480"/>
            <a:ext cx="1554480" cy="457200"/>
          </a:xfrm>
          <a:prstGeom prst="rect">
            <a:avLst/>
          </a:prstGeom>
          <a:noFill/>
          <a:ln/>
        </p:spPr>
        <p:txBody>
          <a:bodyPr wrap="square" lIns="0" tIns="0" rIns="0" bIns="0" rtlCol="0" anchor="ctr">
            <a:normAutofit/>
          </a:bodyPr>
          <a:lstStyle/>
          <a:p>
            <a:pPr marL="0" indent="0" algn="l">
              <a:buNone/>
            </a:pPr>
            <a:r>
              <a:rPr lang="en-US" sz="1500" b="1" dirty="0">
                <a:solidFill>
                  <a:srgbClr val="0B2F3A"/>
                </a:solidFill>
                <a:latin typeface="Inter" pitchFamily="34" charset="0"/>
                <a:ea typeface="Inter" pitchFamily="34" charset="-122"/>
                <a:cs typeface="Inter" pitchFamily="34" charset="-120"/>
              </a:rPr>
              <a:t>REDACTA</a:t>
            </a:r>
            <a:endParaRPr lang="en-US" sz="1500" dirty="0"/>
          </a:p>
        </p:txBody>
      </p:sp>
      <p:sp>
        <p:nvSpPr>
          <p:cNvPr id="11" name="Shape 8"/>
          <p:cNvSpPr/>
          <p:nvPr/>
        </p:nvSpPr>
        <p:spPr>
          <a:xfrm>
            <a:off x="2286000" y="1444752"/>
            <a:ext cx="1874520" cy="713232"/>
          </a:xfrm>
          <a:prstGeom prst="roundRect">
            <a:avLst>
              <a:gd name="adj" fmla="val 10256"/>
            </a:avLst>
          </a:prstGeom>
          <a:solidFill>
            <a:srgbClr val="FFF6EF"/>
          </a:solidFill>
          <a:ln w="12700">
            <a:solidFill>
              <a:srgbClr val="D8E4E8"/>
            </a:solidFill>
            <a:prstDash val="solid"/>
          </a:ln>
        </p:spPr>
        <p:txBody>
          <a:bodyPr/>
          <a:lstStyle/>
          <a:p>
            <a:endParaRPr lang="es-ES"/>
          </a:p>
        </p:txBody>
      </p:sp>
      <p:sp>
        <p:nvSpPr>
          <p:cNvPr id="12" name="Text 9"/>
          <p:cNvSpPr/>
          <p:nvPr/>
        </p:nvSpPr>
        <p:spPr>
          <a:xfrm>
            <a:off x="2432304" y="1554480"/>
            <a:ext cx="1554480" cy="457200"/>
          </a:xfrm>
          <a:prstGeom prst="rect">
            <a:avLst/>
          </a:prstGeom>
          <a:noFill/>
          <a:ln/>
        </p:spPr>
        <p:txBody>
          <a:bodyPr wrap="square" lIns="0" tIns="0" rIns="0" bIns="0" rtlCol="0" anchor="ctr">
            <a:normAutofit/>
          </a:bodyPr>
          <a:lstStyle/>
          <a:p>
            <a:pPr marL="0" indent="0" algn="l">
              <a:buNone/>
            </a:pPr>
            <a:r>
              <a:rPr lang="en-US" sz="1500" b="1" dirty="0">
                <a:solidFill>
                  <a:srgbClr val="C66019"/>
                </a:solidFill>
                <a:latin typeface="Inter" pitchFamily="34" charset="0"/>
                <a:ea typeface="Inter" pitchFamily="34" charset="-122"/>
                <a:cs typeface="Inter" pitchFamily="34" charset="-120"/>
              </a:rPr>
              <a:t>RESUME</a:t>
            </a:r>
            <a:endParaRPr lang="en-US" sz="1500" dirty="0"/>
          </a:p>
        </p:txBody>
      </p:sp>
      <p:sp>
        <p:nvSpPr>
          <p:cNvPr id="13" name="Shape 10"/>
          <p:cNvSpPr/>
          <p:nvPr/>
        </p:nvSpPr>
        <p:spPr>
          <a:xfrm>
            <a:off x="4279392" y="1444752"/>
            <a:ext cx="1874520" cy="713232"/>
          </a:xfrm>
          <a:prstGeom prst="roundRect">
            <a:avLst>
              <a:gd name="adj" fmla="val 10256"/>
            </a:avLst>
          </a:prstGeom>
          <a:solidFill>
            <a:srgbClr val="EAF3F6"/>
          </a:solidFill>
          <a:ln w="12700">
            <a:solidFill>
              <a:srgbClr val="D8E4E8"/>
            </a:solidFill>
            <a:prstDash val="solid"/>
          </a:ln>
        </p:spPr>
        <p:txBody>
          <a:bodyPr/>
          <a:lstStyle/>
          <a:p>
            <a:endParaRPr lang="es-ES"/>
          </a:p>
        </p:txBody>
      </p:sp>
      <p:sp>
        <p:nvSpPr>
          <p:cNvPr id="14" name="Text 11"/>
          <p:cNvSpPr/>
          <p:nvPr/>
        </p:nvSpPr>
        <p:spPr>
          <a:xfrm>
            <a:off x="4425696" y="1554480"/>
            <a:ext cx="1554480" cy="457200"/>
          </a:xfrm>
          <a:prstGeom prst="rect">
            <a:avLst/>
          </a:prstGeom>
          <a:noFill/>
          <a:ln/>
        </p:spPr>
        <p:txBody>
          <a:bodyPr wrap="square" lIns="0" tIns="0" rIns="0" bIns="0" rtlCol="0" anchor="ctr">
            <a:normAutofit/>
          </a:bodyPr>
          <a:lstStyle/>
          <a:p>
            <a:pPr marL="0" indent="0" algn="l">
              <a:buNone/>
            </a:pPr>
            <a:r>
              <a:rPr lang="en-US" sz="1500" b="1" dirty="0">
                <a:solidFill>
                  <a:srgbClr val="0B2F3A"/>
                </a:solidFill>
                <a:latin typeface="Inter" pitchFamily="34" charset="0"/>
                <a:ea typeface="Inter" pitchFamily="34" charset="-122"/>
                <a:cs typeface="Inter" pitchFamily="34" charset="-120"/>
              </a:rPr>
              <a:t>TRADUCE</a:t>
            </a:r>
            <a:endParaRPr lang="en-US" sz="1500" dirty="0"/>
          </a:p>
        </p:txBody>
      </p:sp>
      <p:sp>
        <p:nvSpPr>
          <p:cNvPr id="15" name="Shape 12"/>
          <p:cNvSpPr/>
          <p:nvPr/>
        </p:nvSpPr>
        <p:spPr>
          <a:xfrm>
            <a:off x="6272784" y="1444752"/>
            <a:ext cx="1874520" cy="713232"/>
          </a:xfrm>
          <a:prstGeom prst="roundRect">
            <a:avLst>
              <a:gd name="adj" fmla="val 10256"/>
            </a:avLst>
          </a:prstGeom>
          <a:solidFill>
            <a:srgbClr val="FFF6EF"/>
          </a:solidFill>
          <a:ln w="12700">
            <a:solidFill>
              <a:srgbClr val="D8E4E8"/>
            </a:solidFill>
            <a:prstDash val="solid"/>
          </a:ln>
        </p:spPr>
        <p:txBody>
          <a:bodyPr/>
          <a:lstStyle/>
          <a:p>
            <a:endParaRPr lang="es-ES"/>
          </a:p>
        </p:txBody>
      </p:sp>
      <p:sp>
        <p:nvSpPr>
          <p:cNvPr id="16" name="Text 13"/>
          <p:cNvSpPr/>
          <p:nvPr/>
        </p:nvSpPr>
        <p:spPr>
          <a:xfrm>
            <a:off x="6419088" y="1554480"/>
            <a:ext cx="1554480" cy="457200"/>
          </a:xfrm>
          <a:prstGeom prst="rect">
            <a:avLst/>
          </a:prstGeom>
          <a:noFill/>
          <a:ln/>
        </p:spPr>
        <p:txBody>
          <a:bodyPr wrap="square" lIns="0" tIns="0" rIns="0" bIns="0" rtlCol="0" anchor="ctr">
            <a:normAutofit/>
          </a:bodyPr>
          <a:lstStyle/>
          <a:p>
            <a:pPr marL="0" indent="0" algn="l">
              <a:buNone/>
            </a:pPr>
            <a:r>
              <a:rPr lang="en-US" sz="1500" b="1" dirty="0">
                <a:solidFill>
                  <a:srgbClr val="C66019"/>
                </a:solidFill>
                <a:latin typeface="Inter" pitchFamily="34" charset="0"/>
                <a:ea typeface="Inter" pitchFamily="34" charset="-122"/>
                <a:cs typeface="Inter" pitchFamily="34" charset="-120"/>
              </a:rPr>
              <a:t>CLASIFICA</a:t>
            </a:r>
            <a:endParaRPr lang="en-US" sz="1500" dirty="0"/>
          </a:p>
        </p:txBody>
      </p:sp>
      <p:sp>
        <p:nvSpPr>
          <p:cNvPr id="17" name="Shape 14"/>
          <p:cNvSpPr/>
          <p:nvPr/>
        </p:nvSpPr>
        <p:spPr>
          <a:xfrm>
            <a:off x="8266176" y="1444752"/>
            <a:ext cx="1874520" cy="713232"/>
          </a:xfrm>
          <a:prstGeom prst="roundRect">
            <a:avLst>
              <a:gd name="adj" fmla="val 10256"/>
            </a:avLst>
          </a:prstGeom>
          <a:solidFill>
            <a:srgbClr val="EAF3F6"/>
          </a:solidFill>
          <a:ln w="12700">
            <a:solidFill>
              <a:srgbClr val="D8E4E8"/>
            </a:solidFill>
            <a:prstDash val="solid"/>
          </a:ln>
        </p:spPr>
        <p:txBody>
          <a:bodyPr/>
          <a:lstStyle/>
          <a:p>
            <a:endParaRPr lang="es-ES"/>
          </a:p>
        </p:txBody>
      </p:sp>
      <p:sp>
        <p:nvSpPr>
          <p:cNvPr id="18" name="Text 15"/>
          <p:cNvSpPr/>
          <p:nvPr/>
        </p:nvSpPr>
        <p:spPr>
          <a:xfrm>
            <a:off x="8412480" y="1554480"/>
            <a:ext cx="1554480" cy="457200"/>
          </a:xfrm>
          <a:prstGeom prst="rect">
            <a:avLst/>
          </a:prstGeom>
          <a:noFill/>
          <a:ln/>
        </p:spPr>
        <p:txBody>
          <a:bodyPr wrap="square" lIns="0" tIns="0" rIns="0" bIns="0" rtlCol="0" anchor="ctr">
            <a:normAutofit/>
          </a:bodyPr>
          <a:lstStyle/>
          <a:p>
            <a:pPr marL="0" indent="0" algn="l">
              <a:buNone/>
            </a:pPr>
            <a:r>
              <a:rPr lang="en-US" sz="1500" b="1" dirty="0">
                <a:solidFill>
                  <a:srgbClr val="0B2F3A"/>
                </a:solidFill>
                <a:latin typeface="Inter" pitchFamily="34" charset="0"/>
                <a:ea typeface="Inter" pitchFamily="34" charset="-122"/>
                <a:cs typeface="Inter" pitchFamily="34" charset="-120"/>
              </a:rPr>
              <a:t>GENERA</a:t>
            </a:r>
            <a:endParaRPr lang="en-US" sz="1500" dirty="0"/>
          </a:p>
        </p:txBody>
      </p:sp>
      <p:sp>
        <p:nvSpPr>
          <p:cNvPr id="19" name="Text 16"/>
          <p:cNvSpPr/>
          <p:nvPr/>
        </p:nvSpPr>
        <p:spPr>
          <a:xfrm>
            <a:off x="292608" y="2606040"/>
            <a:ext cx="11155680" cy="1005840"/>
          </a:xfrm>
          <a:prstGeom prst="rect">
            <a:avLst/>
          </a:prstGeom>
          <a:noFill/>
          <a:ln/>
        </p:spPr>
        <p:txBody>
          <a:bodyPr wrap="square" lIns="0" tIns="0" rIns="0" bIns="0" rtlCol="0" anchor="ctr">
            <a:normAutofit/>
          </a:bodyPr>
          <a:lstStyle/>
          <a:p>
            <a:pPr marL="0" indent="0" algn="l">
              <a:buNone/>
            </a:pPr>
            <a:r>
              <a:rPr lang="en-US" sz="1700" dirty="0">
                <a:solidFill>
                  <a:srgbClr val="0B2F3A"/>
                </a:solidFill>
                <a:latin typeface="Inter" pitchFamily="34" charset="0"/>
                <a:ea typeface="Inter" pitchFamily="34" charset="-122"/>
                <a:cs typeface="Inter" pitchFamily="34" charset="-120"/>
              </a:rPr>
              <a:t>Utilizar IA bien no consiste solo en obtener una respuesta rápida. También exige comprender sus límites, proteger la información y revisar el resultado antes de utilizarlo.</a:t>
            </a:r>
            <a:endParaRPr lang="en-US" sz="1700" dirty="0"/>
          </a:p>
        </p:txBody>
      </p:sp>
      <p:sp>
        <p:nvSpPr>
          <p:cNvPr id="20" name="Shape 17"/>
          <p:cNvSpPr/>
          <p:nvPr/>
        </p:nvSpPr>
        <p:spPr>
          <a:xfrm>
            <a:off x="292608" y="4133088"/>
            <a:ext cx="11475720" cy="1097280"/>
          </a:xfrm>
          <a:prstGeom prst="roundRect">
            <a:avLst>
              <a:gd name="adj" fmla="val 6667"/>
            </a:avLst>
          </a:prstGeom>
          <a:solidFill>
            <a:srgbClr val="1D3461"/>
          </a:solidFill>
          <a:ln w="12700">
            <a:solidFill>
              <a:srgbClr val="1D3461"/>
            </a:solidFill>
            <a:prstDash val="solid"/>
          </a:ln>
        </p:spPr>
        <p:txBody>
          <a:bodyPr/>
          <a:lstStyle/>
          <a:p>
            <a:endParaRPr lang="es-ES"/>
          </a:p>
        </p:txBody>
      </p:sp>
      <p:sp>
        <p:nvSpPr>
          <p:cNvPr id="21" name="Text 18"/>
          <p:cNvSpPr/>
          <p:nvPr/>
        </p:nvSpPr>
        <p:spPr>
          <a:xfrm>
            <a:off x="566928" y="4407408"/>
            <a:ext cx="10789920" cy="621792"/>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Inter" pitchFamily="34" charset="0"/>
                <a:ea typeface="Inter" pitchFamily="34" charset="-122"/>
                <a:cs typeface="Inter" pitchFamily="34" charset="-120"/>
              </a:rPr>
              <a:t>La IA puede estar integrada en correo, gestión documental, edición, atención al cliente o herramientas de productividad, aunque la aplicación no se llame «inteligencia artificial».</a:t>
            </a:r>
            <a:endParaRPr lang="en-US" sz="1600" dirty="0"/>
          </a:p>
        </p:txBody>
      </p:sp>
      <p:sp>
        <p:nvSpPr>
          <p:cNvPr id="22" name="Shape 19"/>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3" name="Text 20"/>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3 · DIAGNÓSTICO RÁPIDO</a:t>
            </a:r>
            <a:endParaRPr lang="en-US" sz="2000" dirty="0"/>
          </a:p>
        </p:txBody>
      </p:sp>
      <p:sp>
        <p:nvSpPr>
          <p:cNvPr id="3" name="Text 1"/>
          <p:cNvSpPr/>
          <p:nvPr/>
        </p:nvSpPr>
        <p:spPr>
          <a:xfrm>
            <a:off x="658368" y="868680"/>
            <a:ext cx="7863840" cy="320040"/>
          </a:xfrm>
          <a:prstGeom prst="rect">
            <a:avLst/>
          </a:prstGeom>
          <a:noFill/>
          <a:ln/>
        </p:spPr>
        <p:txBody>
          <a:bodyPr wrap="square" lIns="0" tIns="0" rIns="0" bIns="0" rtlCol="0" anchor="ctr"/>
          <a:lstStyle/>
          <a:p>
            <a:pPr marL="0" indent="0">
              <a:buNone/>
            </a:pPr>
            <a:r>
              <a:rPr lang="en-US" sz="1700" b="1" dirty="0">
                <a:solidFill>
                  <a:srgbClr val="1B4D5C"/>
                </a:solidFill>
                <a:latin typeface="Inter" pitchFamily="34" charset="0"/>
                <a:ea typeface="Inter" pitchFamily="34" charset="-122"/>
                <a:cs typeface="Inter" pitchFamily="34" charset="-120"/>
              </a:rPr>
              <a:t>Ejemplos de IA que puedes encontrar en tu trabajo</a:t>
            </a:r>
            <a:endParaRPr lang="en-US" sz="1700" dirty="0"/>
          </a:p>
        </p:txBody>
      </p:sp>
      <p:sp>
        <p:nvSpPr>
          <p:cNvPr id="4" name="Shape 2"/>
          <p:cNvSpPr/>
          <p:nvPr/>
        </p:nvSpPr>
        <p:spPr>
          <a:xfrm>
            <a:off x="292608" y="1325880"/>
            <a:ext cx="548640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5" name="Text 3"/>
          <p:cNvSpPr/>
          <p:nvPr/>
        </p:nvSpPr>
        <p:spPr>
          <a:xfrm>
            <a:off x="822960" y="1417320"/>
            <a:ext cx="457200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Asistente para redactar textos</a:t>
            </a:r>
            <a:endParaRPr lang="en-US" sz="1450" dirty="0"/>
          </a:p>
        </p:txBody>
      </p:sp>
      <p:sp>
        <p:nvSpPr>
          <p:cNvPr id="6" name="Shape 4"/>
          <p:cNvSpPr/>
          <p:nvPr/>
        </p:nvSpPr>
        <p:spPr>
          <a:xfrm>
            <a:off x="6199632" y="1325880"/>
            <a:ext cx="5413248"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7" name="Text 5"/>
          <p:cNvSpPr/>
          <p:nvPr/>
        </p:nvSpPr>
        <p:spPr>
          <a:xfrm>
            <a:off x="6748272" y="1417320"/>
            <a:ext cx="448056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Traductor automático</a:t>
            </a:r>
            <a:endParaRPr lang="en-US" sz="1450" dirty="0"/>
          </a:p>
        </p:txBody>
      </p:sp>
      <p:sp>
        <p:nvSpPr>
          <p:cNvPr id="8" name="Shape 6"/>
          <p:cNvSpPr/>
          <p:nvPr/>
        </p:nvSpPr>
        <p:spPr>
          <a:xfrm>
            <a:off x="292608" y="2130552"/>
            <a:ext cx="548640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822960" y="2221992"/>
            <a:ext cx="457200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Chatbot de atención al cliente</a:t>
            </a:r>
            <a:endParaRPr lang="en-US" sz="1450" dirty="0"/>
          </a:p>
        </p:txBody>
      </p:sp>
      <p:sp>
        <p:nvSpPr>
          <p:cNvPr id="10" name="Shape 8"/>
          <p:cNvSpPr/>
          <p:nvPr/>
        </p:nvSpPr>
        <p:spPr>
          <a:xfrm>
            <a:off x="6199632" y="2130552"/>
            <a:ext cx="5413248"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1" name="Text 9"/>
          <p:cNvSpPr/>
          <p:nvPr/>
        </p:nvSpPr>
        <p:spPr>
          <a:xfrm>
            <a:off x="6748272" y="2221992"/>
            <a:ext cx="448056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Generador de imágenes</a:t>
            </a:r>
            <a:endParaRPr lang="en-US" sz="1450" dirty="0"/>
          </a:p>
        </p:txBody>
      </p:sp>
      <p:sp>
        <p:nvSpPr>
          <p:cNvPr id="12" name="Shape 10"/>
          <p:cNvSpPr/>
          <p:nvPr/>
        </p:nvSpPr>
        <p:spPr>
          <a:xfrm>
            <a:off x="292608" y="2935224"/>
            <a:ext cx="548640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3" name="Text 11"/>
          <p:cNvSpPr/>
          <p:nvPr/>
        </p:nvSpPr>
        <p:spPr>
          <a:xfrm>
            <a:off x="822960" y="3026664"/>
            <a:ext cx="457200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Corrector avanzado</a:t>
            </a:r>
            <a:endParaRPr lang="en-US" sz="1450" dirty="0"/>
          </a:p>
        </p:txBody>
      </p:sp>
      <p:sp>
        <p:nvSpPr>
          <p:cNvPr id="14" name="Shape 12"/>
          <p:cNvSpPr/>
          <p:nvPr/>
        </p:nvSpPr>
        <p:spPr>
          <a:xfrm>
            <a:off x="6199632" y="2935224"/>
            <a:ext cx="5413248"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6748272" y="3026664"/>
            <a:ext cx="448056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Sistema de recomendación</a:t>
            </a:r>
            <a:endParaRPr lang="en-US" sz="1450" dirty="0"/>
          </a:p>
        </p:txBody>
      </p:sp>
      <p:sp>
        <p:nvSpPr>
          <p:cNvPr id="16" name="Shape 14"/>
          <p:cNvSpPr/>
          <p:nvPr/>
        </p:nvSpPr>
        <p:spPr>
          <a:xfrm>
            <a:off x="292608" y="3739896"/>
            <a:ext cx="548640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7" name="Text 15"/>
          <p:cNvSpPr/>
          <p:nvPr/>
        </p:nvSpPr>
        <p:spPr>
          <a:xfrm>
            <a:off x="822960" y="3831336"/>
            <a:ext cx="457200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Transcripción automática</a:t>
            </a:r>
            <a:endParaRPr lang="en-US" sz="1450" dirty="0"/>
          </a:p>
        </p:txBody>
      </p:sp>
      <p:sp>
        <p:nvSpPr>
          <p:cNvPr id="18" name="Shape 16"/>
          <p:cNvSpPr/>
          <p:nvPr/>
        </p:nvSpPr>
        <p:spPr>
          <a:xfrm>
            <a:off x="6199632" y="3739896"/>
            <a:ext cx="5413248"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9" name="Text 17"/>
          <p:cNvSpPr/>
          <p:nvPr/>
        </p:nvSpPr>
        <p:spPr>
          <a:xfrm>
            <a:off x="6748272" y="3831336"/>
            <a:ext cx="448056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Clasificación de correos</a:t>
            </a:r>
            <a:endParaRPr lang="en-US" sz="1450" dirty="0"/>
          </a:p>
        </p:txBody>
      </p:sp>
      <p:sp>
        <p:nvSpPr>
          <p:cNvPr id="20" name="Shape 18"/>
          <p:cNvSpPr/>
          <p:nvPr/>
        </p:nvSpPr>
        <p:spPr>
          <a:xfrm>
            <a:off x="292608" y="4544568"/>
            <a:ext cx="548640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21" name="Text 19"/>
          <p:cNvSpPr/>
          <p:nvPr/>
        </p:nvSpPr>
        <p:spPr>
          <a:xfrm>
            <a:off x="822960" y="4636008"/>
            <a:ext cx="457200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Asistente en Word, Gmail o Teams</a:t>
            </a:r>
            <a:endParaRPr lang="en-US" sz="1450" dirty="0"/>
          </a:p>
        </p:txBody>
      </p:sp>
      <p:sp>
        <p:nvSpPr>
          <p:cNvPr id="22" name="Shape 20"/>
          <p:cNvSpPr/>
          <p:nvPr/>
        </p:nvSpPr>
        <p:spPr>
          <a:xfrm>
            <a:off x="6199632" y="4544568"/>
            <a:ext cx="5413248"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23" name="Text 21"/>
          <p:cNvSpPr/>
          <p:nvPr/>
        </p:nvSpPr>
        <p:spPr>
          <a:xfrm>
            <a:off x="6748272" y="4636008"/>
            <a:ext cx="448056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Ninguna de las anteriores</a:t>
            </a:r>
            <a:endParaRPr lang="en-US" sz="1450" dirty="0"/>
          </a:p>
        </p:txBody>
      </p:sp>
      <p:sp>
        <p:nvSpPr>
          <p:cNvPr id="24" name="Shape 2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5" name="Text 2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896112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4 · NO BASTA CON SABER ESCRIBIR UN PROMPT</a:t>
            </a:r>
            <a:endParaRPr lang="en-US" sz="20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658368" y="658368"/>
            <a:ext cx="8869680" cy="566928"/>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Alfabetización en IA = comprender + utilizar + revisar + decidir</a:t>
            </a:r>
            <a:endParaRPr lang="en-US" sz="2300" dirty="0"/>
          </a:p>
        </p:txBody>
      </p:sp>
      <p:sp>
        <p:nvSpPr>
          <p:cNvPr id="9" name="Shape 6"/>
          <p:cNvSpPr/>
          <p:nvPr/>
        </p:nvSpPr>
        <p:spPr>
          <a:xfrm>
            <a:off x="384048" y="1874520"/>
            <a:ext cx="11320272"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10" name="Text 7"/>
          <p:cNvSpPr/>
          <p:nvPr/>
        </p:nvSpPr>
        <p:spPr>
          <a:xfrm>
            <a:off x="621792" y="2057400"/>
            <a:ext cx="10835640" cy="594360"/>
          </a:xfrm>
          <a:prstGeom prst="rect">
            <a:avLst/>
          </a:prstGeom>
          <a:noFill/>
          <a:ln/>
        </p:spPr>
        <p:txBody>
          <a:bodyPr wrap="square" lIns="0" tIns="0" rIns="0" bIns="0" rtlCol="0" anchor="ctr">
            <a:normAutofit/>
          </a:bodyPr>
          <a:lstStyle/>
          <a:p>
            <a:pPr marL="0" indent="0" algn="l">
              <a:buNone/>
            </a:pPr>
            <a:r>
              <a:rPr lang="en-US" sz="1550" dirty="0">
                <a:solidFill>
                  <a:srgbClr val="0B2F3A"/>
                </a:solidFill>
                <a:latin typeface="Inter" pitchFamily="34" charset="0"/>
                <a:ea typeface="Inter" pitchFamily="34" charset="-122"/>
                <a:cs typeface="Inter" pitchFamily="34" charset="-120"/>
              </a:rPr>
              <a:t>La alfabetización debe adaptarse al tipo de herramienta, al puesto de trabajo y a las consecuencias que podría producir un error. No todas las personas necesitan el mismo nivel de conocimiento.</a:t>
            </a:r>
            <a:endParaRPr lang="en-US" sz="1550" dirty="0"/>
          </a:p>
        </p:txBody>
      </p:sp>
      <p:sp>
        <p:nvSpPr>
          <p:cNvPr id="11" name="Shape 8"/>
          <p:cNvSpPr/>
          <p:nvPr/>
        </p:nvSpPr>
        <p:spPr>
          <a:xfrm>
            <a:off x="384048" y="3182112"/>
            <a:ext cx="2615184" cy="1353312"/>
          </a:xfrm>
          <a:prstGeom prst="roundRect">
            <a:avLst>
              <a:gd name="adj" fmla="val 5405"/>
            </a:avLst>
          </a:prstGeom>
          <a:solidFill>
            <a:srgbClr val="FFFFFF"/>
          </a:solidFill>
          <a:ln w="12700">
            <a:solidFill>
              <a:srgbClr val="D8E4E8"/>
            </a:solidFill>
            <a:prstDash val="solid"/>
          </a:ln>
        </p:spPr>
        <p:txBody>
          <a:bodyPr/>
          <a:lstStyle/>
          <a:p>
            <a:endParaRPr lang="es-ES"/>
          </a:p>
        </p:txBody>
      </p:sp>
      <p:sp>
        <p:nvSpPr>
          <p:cNvPr id="12" name="Shape 9"/>
          <p:cNvSpPr/>
          <p:nvPr/>
        </p:nvSpPr>
        <p:spPr>
          <a:xfrm>
            <a:off x="384048" y="3182112"/>
            <a:ext cx="64008" cy="1353312"/>
          </a:xfrm>
          <a:prstGeom prst="rect">
            <a:avLst/>
          </a:prstGeom>
          <a:solidFill>
            <a:srgbClr val="1B4D5C"/>
          </a:solidFill>
          <a:ln w="12700">
            <a:solidFill>
              <a:srgbClr val="1B4D5C"/>
            </a:solidFill>
            <a:prstDash val="solid"/>
          </a:ln>
        </p:spPr>
        <p:txBody>
          <a:bodyPr/>
          <a:lstStyle/>
          <a:p>
            <a:endParaRPr lang="es-ES"/>
          </a:p>
        </p:txBody>
      </p:sp>
      <p:sp>
        <p:nvSpPr>
          <p:cNvPr id="13" name="Text 10"/>
          <p:cNvSpPr/>
          <p:nvPr/>
        </p:nvSpPr>
        <p:spPr>
          <a:xfrm>
            <a:off x="548640" y="3337560"/>
            <a:ext cx="2295144" cy="256032"/>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COMPRENDER</a:t>
            </a:r>
            <a:endParaRPr lang="en-US" sz="1350" dirty="0"/>
          </a:p>
        </p:txBody>
      </p:sp>
      <p:sp>
        <p:nvSpPr>
          <p:cNvPr id="14" name="Text 11"/>
          <p:cNvSpPr/>
          <p:nvPr/>
        </p:nvSpPr>
        <p:spPr>
          <a:xfrm>
            <a:off x="548640" y="3639312"/>
            <a:ext cx="2295144" cy="758952"/>
          </a:xfrm>
          <a:prstGeom prst="rect">
            <a:avLst/>
          </a:prstGeom>
          <a:noFill/>
          <a:ln/>
        </p:spPr>
        <p:txBody>
          <a:bodyPr wrap="square" lIns="0" tIns="0" rIns="0" bIns="0" rtlCol="0" anchor="t">
            <a:normAutofit/>
          </a:bodyPr>
          <a:lstStyle/>
          <a:p>
            <a:pPr marL="0" indent="0">
              <a:buNone/>
            </a:pPr>
            <a:r>
              <a:rPr lang="en-US" sz="1320" dirty="0">
                <a:solidFill>
                  <a:srgbClr val="0B2F3A"/>
                </a:solidFill>
                <a:latin typeface="Inter" pitchFamily="34" charset="0"/>
                <a:ea typeface="Inter" pitchFamily="34" charset="-122"/>
                <a:cs typeface="Inter" pitchFamily="34" charset="-120"/>
              </a:rPr>
              <a:t>qué es la IA y cómo funciona</a:t>
            </a:r>
            <a:endParaRPr lang="en-US" sz="1320" dirty="0"/>
          </a:p>
        </p:txBody>
      </p:sp>
      <p:sp>
        <p:nvSpPr>
          <p:cNvPr id="15" name="Shape 12"/>
          <p:cNvSpPr/>
          <p:nvPr/>
        </p:nvSpPr>
        <p:spPr>
          <a:xfrm>
            <a:off x="3200400" y="3182112"/>
            <a:ext cx="2615184" cy="1353312"/>
          </a:xfrm>
          <a:prstGeom prst="roundRect">
            <a:avLst>
              <a:gd name="adj" fmla="val 5405"/>
            </a:avLst>
          </a:prstGeom>
          <a:solidFill>
            <a:srgbClr val="FFFFFF"/>
          </a:solidFill>
          <a:ln w="12700">
            <a:solidFill>
              <a:srgbClr val="D8E4E8"/>
            </a:solidFill>
            <a:prstDash val="solid"/>
          </a:ln>
        </p:spPr>
        <p:txBody>
          <a:bodyPr/>
          <a:lstStyle/>
          <a:p>
            <a:endParaRPr lang="es-ES"/>
          </a:p>
        </p:txBody>
      </p:sp>
      <p:sp>
        <p:nvSpPr>
          <p:cNvPr id="16" name="Shape 13"/>
          <p:cNvSpPr/>
          <p:nvPr/>
        </p:nvSpPr>
        <p:spPr>
          <a:xfrm>
            <a:off x="3200400" y="3182112"/>
            <a:ext cx="64008" cy="1353312"/>
          </a:xfrm>
          <a:prstGeom prst="rect">
            <a:avLst/>
          </a:prstGeom>
          <a:solidFill>
            <a:srgbClr val="C66019"/>
          </a:solidFill>
          <a:ln w="12700">
            <a:solidFill>
              <a:srgbClr val="C66019"/>
            </a:solidFill>
            <a:prstDash val="solid"/>
          </a:ln>
        </p:spPr>
        <p:txBody>
          <a:bodyPr/>
          <a:lstStyle/>
          <a:p>
            <a:endParaRPr lang="es-ES"/>
          </a:p>
        </p:txBody>
      </p:sp>
      <p:sp>
        <p:nvSpPr>
          <p:cNvPr id="17" name="Text 14"/>
          <p:cNvSpPr/>
          <p:nvPr/>
        </p:nvSpPr>
        <p:spPr>
          <a:xfrm>
            <a:off x="3364992" y="3337560"/>
            <a:ext cx="2295144" cy="256032"/>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LIMITAR</a:t>
            </a:r>
            <a:endParaRPr lang="en-US" sz="1350" dirty="0"/>
          </a:p>
        </p:txBody>
      </p:sp>
      <p:sp>
        <p:nvSpPr>
          <p:cNvPr id="18" name="Text 15"/>
          <p:cNvSpPr/>
          <p:nvPr/>
        </p:nvSpPr>
        <p:spPr>
          <a:xfrm>
            <a:off x="3364992" y="3639312"/>
            <a:ext cx="2295144" cy="758952"/>
          </a:xfrm>
          <a:prstGeom prst="rect">
            <a:avLst/>
          </a:prstGeom>
          <a:noFill/>
          <a:ln/>
        </p:spPr>
        <p:txBody>
          <a:bodyPr wrap="square" lIns="0" tIns="0" rIns="0" bIns="0" rtlCol="0" anchor="t">
            <a:normAutofit/>
          </a:bodyPr>
          <a:lstStyle/>
          <a:p>
            <a:pPr marL="0" indent="0">
              <a:buNone/>
            </a:pPr>
            <a:r>
              <a:rPr lang="en-US" sz="1320" dirty="0">
                <a:solidFill>
                  <a:srgbClr val="0B2F3A"/>
                </a:solidFill>
                <a:latin typeface="Inter" pitchFamily="34" charset="0"/>
                <a:ea typeface="Inter" pitchFamily="34" charset="-122"/>
                <a:cs typeface="Inter" pitchFamily="34" charset="-120"/>
              </a:rPr>
              <a:t>qué información introducir</a:t>
            </a:r>
            <a:endParaRPr lang="en-US" sz="1320" dirty="0"/>
          </a:p>
        </p:txBody>
      </p:sp>
      <p:sp>
        <p:nvSpPr>
          <p:cNvPr id="19" name="Shape 16"/>
          <p:cNvSpPr/>
          <p:nvPr/>
        </p:nvSpPr>
        <p:spPr>
          <a:xfrm>
            <a:off x="6016752" y="3182112"/>
            <a:ext cx="2615184" cy="1353312"/>
          </a:xfrm>
          <a:prstGeom prst="roundRect">
            <a:avLst>
              <a:gd name="adj" fmla="val 5405"/>
            </a:avLst>
          </a:prstGeom>
          <a:solidFill>
            <a:srgbClr val="FFFFFF"/>
          </a:solidFill>
          <a:ln w="12700">
            <a:solidFill>
              <a:srgbClr val="D8E4E8"/>
            </a:solidFill>
            <a:prstDash val="solid"/>
          </a:ln>
        </p:spPr>
        <p:txBody>
          <a:bodyPr/>
          <a:lstStyle/>
          <a:p>
            <a:endParaRPr lang="es-ES"/>
          </a:p>
        </p:txBody>
      </p:sp>
      <p:sp>
        <p:nvSpPr>
          <p:cNvPr id="20" name="Shape 17"/>
          <p:cNvSpPr/>
          <p:nvPr/>
        </p:nvSpPr>
        <p:spPr>
          <a:xfrm>
            <a:off x="6016752" y="3182112"/>
            <a:ext cx="64008" cy="1353312"/>
          </a:xfrm>
          <a:prstGeom prst="rect">
            <a:avLst/>
          </a:prstGeom>
          <a:solidFill>
            <a:srgbClr val="1D3461"/>
          </a:solidFill>
          <a:ln w="12700">
            <a:solidFill>
              <a:srgbClr val="1D3461"/>
            </a:solidFill>
            <a:prstDash val="solid"/>
          </a:ln>
        </p:spPr>
        <p:txBody>
          <a:bodyPr/>
          <a:lstStyle/>
          <a:p>
            <a:endParaRPr lang="es-ES"/>
          </a:p>
        </p:txBody>
      </p:sp>
      <p:sp>
        <p:nvSpPr>
          <p:cNvPr id="21" name="Text 18"/>
          <p:cNvSpPr/>
          <p:nvPr/>
        </p:nvSpPr>
        <p:spPr>
          <a:xfrm>
            <a:off x="6181344" y="3337560"/>
            <a:ext cx="2295144" cy="256032"/>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VERIFICAR</a:t>
            </a:r>
            <a:endParaRPr lang="en-US" sz="1350" dirty="0"/>
          </a:p>
        </p:txBody>
      </p:sp>
      <p:sp>
        <p:nvSpPr>
          <p:cNvPr id="22" name="Text 19"/>
          <p:cNvSpPr/>
          <p:nvPr/>
        </p:nvSpPr>
        <p:spPr>
          <a:xfrm>
            <a:off x="6181344" y="3639312"/>
            <a:ext cx="2295144" cy="758952"/>
          </a:xfrm>
          <a:prstGeom prst="rect">
            <a:avLst/>
          </a:prstGeom>
          <a:noFill/>
          <a:ln/>
        </p:spPr>
        <p:txBody>
          <a:bodyPr wrap="square" lIns="0" tIns="0" rIns="0" bIns="0" rtlCol="0" anchor="t">
            <a:normAutofit/>
          </a:bodyPr>
          <a:lstStyle/>
          <a:p>
            <a:pPr marL="0" indent="0">
              <a:buNone/>
            </a:pPr>
            <a:r>
              <a:rPr lang="en-US" sz="1320" dirty="0">
                <a:solidFill>
                  <a:srgbClr val="0B2F3A"/>
                </a:solidFill>
                <a:latin typeface="Inter" pitchFamily="34" charset="0"/>
                <a:ea typeface="Inter" pitchFamily="34" charset="-122"/>
                <a:cs typeface="Inter" pitchFamily="34" charset="-120"/>
              </a:rPr>
              <a:t>cómo comprobar resultados</a:t>
            </a:r>
            <a:endParaRPr lang="en-US" sz="1320" dirty="0"/>
          </a:p>
        </p:txBody>
      </p:sp>
      <p:sp>
        <p:nvSpPr>
          <p:cNvPr id="23" name="Shape 20"/>
          <p:cNvSpPr/>
          <p:nvPr/>
        </p:nvSpPr>
        <p:spPr>
          <a:xfrm>
            <a:off x="8833104" y="3182112"/>
            <a:ext cx="2615184" cy="1353312"/>
          </a:xfrm>
          <a:prstGeom prst="roundRect">
            <a:avLst>
              <a:gd name="adj" fmla="val 5405"/>
            </a:avLst>
          </a:prstGeom>
          <a:solidFill>
            <a:srgbClr val="FFFFFF"/>
          </a:solidFill>
          <a:ln w="12700">
            <a:solidFill>
              <a:srgbClr val="D8E4E8"/>
            </a:solidFill>
            <a:prstDash val="solid"/>
          </a:ln>
        </p:spPr>
        <p:txBody>
          <a:bodyPr/>
          <a:lstStyle/>
          <a:p>
            <a:endParaRPr lang="es-ES"/>
          </a:p>
        </p:txBody>
      </p:sp>
      <p:sp>
        <p:nvSpPr>
          <p:cNvPr id="24" name="Shape 21"/>
          <p:cNvSpPr/>
          <p:nvPr/>
        </p:nvSpPr>
        <p:spPr>
          <a:xfrm>
            <a:off x="8833104" y="3182112"/>
            <a:ext cx="64008" cy="1353312"/>
          </a:xfrm>
          <a:prstGeom prst="rect">
            <a:avLst/>
          </a:prstGeom>
          <a:solidFill>
            <a:srgbClr val="1B4D5C"/>
          </a:solidFill>
          <a:ln w="12700">
            <a:solidFill>
              <a:srgbClr val="1B4D5C"/>
            </a:solidFill>
            <a:prstDash val="solid"/>
          </a:ln>
        </p:spPr>
        <p:txBody>
          <a:bodyPr/>
          <a:lstStyle/>
          <a:p>
            <a:endParaRPr lang="es-ES"/>
          </a:p>
        </p:txBody>
      </p:sp>
      <p:sp>
        <p:nvSpPr>
          <p:cNvPr id="25" name="Text 22"/>
          <p:cNvSpPr/>
          <p:nvPr/>
        </p:nvSpPr>
        <p:spPr>
          <a:xfrm>
            <a:off x="8997696" y="3337560"/>
            <a:ext cx="2295144" cy="256032"/>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CONSULTAR</a:t>
            </a:r>
            <a:endParaRPr lang="en-US" sz="1350" dirty="0"/>
          </a:p>
        </p:txBody>
      </p:sp>
      <p:sp>
        <p:nvSpPr>
          <p:cNvPr id="26" name="Text 23"/>
          <p:cNvSpPr/>
          <p:nvPr/>
        </p:nvSpPr>
        <p:spPr>
          <a:xfrm>
            <a:off x="8997696" y="3639312"/>
            <a:ext cx="2295144" cy="758952"/>
          </a:xfrm>
          <a:prstGeom prst="rect">
            <a:avLst/>
          </a:prstGeom>
          <a:noFill/>
          <a:ln/>
        </p:spPr>
        <p:txBody>
          <a:bodyPr wrap="square" lIns="0" tIns="0" rIns="0" bIns="0" rtlCol="0" anchor="t">
            <a:normAutofit/>
          </a:bodyPr>
          <a:lstStyle/>
          <a:p>
            <a:pPr marL="0" indent="0">
              <a:buNone/>
            </a:pPr>
            <a:r>
              <a:rPr lang="en-US" sz="1320" dirty="0">
                <a:solidFill>
                  <a:srgbClr val="0B2F3A"/>
                </a:solidFill>
                <a:latin typeface="Inter" pitchFamily="34" charset="0"/>
                <a:ea typeface="Inter" pitchFamily="34" charset="-122"/>
                <a:cs typeface="Inter" pitchFamily="34" charset="-120"/>
              </a:rPr>
              <a:t>cuándo pedir autorización</a:t>
            </a:r>
            <a:endParaRPr lang="en-US" sz="1320" dirty="0"/>
          </a:p>
        </p:txBody>
      </p:sp>
      <p:sp>
        <p:nvSpPr>
          <p:cNvPr id="27" name="Shape 24"/>
          <p:cNvSpPr/>
          <p:nvPr/>
        </p:nvSpPr>
        <p:spPr>
          <a:xfrm>
            <a:off x="384048" y="4983480"/>
            <a:ext cx="11320272" cy="731520"/>
          </a:xfrm>
          <a:prstGeom prst="roundRect">
            <a:avLst>
              <a:gd name="adj" fmla="val 10000"/>
            </a:avLst>
          </a:prstGeom>
          <a:solidFill>
            <a:srgbClr val="FFF6EF"/>
          </a:solidFill>
          <a:ln w="12700">
            <a:solidFill>
              <a:srgbClr val="D8E4E8"/>
            </a:solidFill>
            <a:prstDash val="solid"/>
          </a:ln>
        </p:spPr>
        <p:txBody>
          <a:bodyPr/>
          <a:lstStyle/>
          <a:p>
            <a:endParaRPr lang="es-ES"/>
          </a:p>
        </p:txBody>
      </p:sp>
      <p:sp>
        <p:nvSpPr>
          <p:cNvPr id="28" name="Text 25"/>
          <p:cNvSpPr/>
          <p:nvPr/>
        </p:nvSpPr>
        <p:spPr>
          <a:xfrm>
            <a:off x="621792" y="5157216"/>
            <a:ext cx="10835640" cy="347472"/>
          </a:xfrm>
          <a:prstGeom prst="rect">
            <a:avLst/>
          </a:prstGeom>
          <a:noFill/>
          <a:ln/>
        </p:spPr>
        <p:txBody>
          <a:bodyPr wrap="square" lIns="0" tIns="0" rIns="0" bIns="0" rtlCol="0" anchor="ctr">
            <a:normAutofit/>
          </a:bodyPr>
          <a:lstStyle/>
          <a:p>
            <a:pPr marL="0" indent="0" algn="l">
              <a:buNone/>
            </a:pPr>
            <a:r>
              <a:rPr lang="en-US" sz="1470" b="1" dirty="0">
                <a:solidFill>
                  <a:srgbClr val="0B2F3A"/>
                </a:solidFill>
                <a:latin typeface="Inter" pitchFamily="34" charset="0"/>
                <a:ea typeface="Inter" pitchFamily="34" charset="-122"/>
                <a:cs typeface="Inter" pitchFamily="34" charset="-120"/>
              </a:rPr>
              <a:t>El marco jurídico de esta obligación y su aplicación en la empresa se desarrollan en el Módulo 4.</a:t>
            </a:r>
            <a:endParaRPr lang="en-US" sz="1470" dirty="0"/>
          </a:p>
        </p:txBody>
      </p:sp>
      <p:sp>
        <p:nvSpPr>
          <p:cNvPr id="29" name="Shape 26"/>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30" name="Text 27"/>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5 · TRES NIVELES DE ALFABETIZACIÓN</a:t>
            </a:r>
            <a:endParaRPr lang="en-US" sz="2000" dirty="0"/>
          </a:p>
        </p:txBody>
      </p:sp>
      <p:sp>
        <p:nvSpPr>
          <p:cNvPr id="3" name="Shape 1"/>
          <p:cNvSpPr/>
          <p:nvPr/>
        </p:nvSpPr>
        <p:spPr>
          <a:xfrm>
            <a:off x="292608" y="1234440"/>
            <a:ext cx="11475720" cy="1124712"/>
          </a:xfrm>
          <a:prstGeom prst="roundRect">
            <a:avLst>
              <a:gd name="adj" fmla="val 6504"/>
            </a:avLst>
          </a:prstGeom>
          <a:solidFill>
            <a:srgbClr val="EAF3F6"/>
          </a:solidFill>
          <a:ln w="12700">
            <a:solidFill>
              <a:srgbClr val="D8E4E8"/>
            </a:solidFill>
            <a:prstDash val="solid"/>
          </a:ln>
        </p:spPr>
        <p:txBody>
          <a:bodyPr/>
          <a:lstStyle/>
          <a:p>
            <a:endParaRPr lang="es-ES"/>
          </a:p>
        </p:txBody>
      </p:sp>
      <p:sp>
        <p:nvSpPr>
          <p:cNvPr id="4" name="Text 2"/>
          <p:cNvSpPr/>
          <p:nvPr/>
        </p:nvSpPr>
        <p:spPr>
          <a:xfrm>
            <a:off x="530352" y="1490472"/>
            <a:ext cx="1554480" cy="274320"/>
          </a:xfrm>
          <a:prstGeom prst="rect">
            <a:avLst/>
          </a:prstGeom>
          <a:noFill/>
          <a:ln/>
        </p:spPr>
        <p:txBody>
          <a:bodyPr wrap="square" lIns="0" tIns="0" rIns="0" bIns="0" rtlCol="0" anchor="ctr"/>
          <a:lstStyle/>
          <a:p>
            <a:pPr marL="0" indent="0">
              <a:buNone/>
            </a:pPr>
            <a:r>
              <a:rPr lang="en-US" sz="1400" b="1" dirty="0">
                <a:solidFill>
                  <a:srgbClr val="0B2F3A"/>
                </a:solidFill>
                <a:latin typeface="Inter" pitchFamily="34" charset="0"/>
                <a:ea typeface="Inter" pitchFamily="34" charset="-122"/>
                <a:cs typeface="Inter" pitchFamily="34" charset="-120"/>
              </a:rPr>
              <a:t>GENERAL</a:t>
            </a:r>
            <a:endParaRPr lang="en-US" sz="1400" dirty="0"/>
          </a:p>
        </p:txBody>
      </p:sp>
      <p:sp>
        <p:nvSpPr>
          <p:cNvPr id="5" name="Text 3"/>
          <p:cNvSpPr/>
          <p:nvPr/>
        </p:nvSpPr>
        <p:spPr>
          <a:xfrm>
            <a:off x="2322576" y="1444752"/>
            <a:ext cx="6309360" cy="274320"/>
          </a:xfrm>
          <a:prstGeom prst="rect">
            <a:avLst/>
          </a:prstGeom>
          <a:noFill/>
          <a:ln/>
        </p:spPr>
        <p:txBody>
          <a:bodyPr wrap="square" lIns="0" tIns="0" rIns="0" bIns="0" rtlCol="0" anchor="ctr"/>
          <a:lstStyle/>
          <a:p>
            <a:pPr marL="0" indent="0">
              <a:buNone/>
            </a:pPr>
            <a:r>
              <a:rPr lang="en-US" sz="1520" b="1" dirty="0">
                <a:solidFill>
                  <a:srgbClr val="0B2F3A"/>
                </a:solidFill>
                <a:latin typeface="Inter" pitchFamily="34" charset="0"/>
                <a:ea typeface="Inter" pitchFamily="34" charset="-122"/>
                <a:cs typeface="Inter" pitchFamily="34" charset="-120"/>
              </a:rPr>
              <a:t>Todas las personas usuarias</a:t>
            </a:r>
            <a:endParaRPr lang="en-US" sz="1520" dirty="0"/>
          </a:p>
        </p:txBody>
      </p:sp>
      <p:sp>
        <p:nvSpPr>
          <p:cNvPr id="6" name="Text 4"/>
          <p:cNvSpPr/>
          <p:nvPr/>
        </p:nvSpPr>
        <p:spPr>
          <a:xfrm>
            <a:off x="2322576" y="1828800"/>
            <a:ext cx="8732520" cy="310896"/>
          </a:xfrm>
          <a:prstGeom prst="rect">
            <a:avLst/>
          </a:prstGeom>
          <a:noFill/>
          <a:ln/>
        </p:spPr>
        <p:txBody>
          <a:bodyPr wrap="square" lIns="0" tIns="0" rIns="0" bIns="0" rtlCol="0" anchor="ctr">
            <a:normAutofit/>
          </a:bodyPr>
          <a:lstStyle/>
          <a:p>
            <a:pPr marL="0" indent="0">
              <a:buNone/>
            </a:pPr>
            <a:r>
              <a:rPr lang="en-US" sz="1350" dirty="0">
                <a:solidFill>
                  <a:srgbClr val="0B2F3A"/>
                </a:solidFill>
                <a:latin typeface="Inter" pitchFamily="34" charset="0"/>
                <a:ea typeface="Inter" pitchFamily="34" charset="-122"/>
                <a:cs typeface="Inter" pitchFamily="34" charset="-120"/>
              </a:rPr>
              <a:t>capacidades · límites · protección de información · verificación · riesgos básicos · política interna</a:t>
            </a:r>
            <a:endParaRPr lang="en-US" sz="1350" dirty="0"/>
          </a:p>
        </p:txBody>
      </p:sp>
      <p:sp>
        <p:nvSpPr>
          <p:cNvPr id="7" name="Shape 5"/>
          <p:cNvSpPr/>
          <p:nvPr/>
        </p:nvSpPr>
        <p:spPr>
          <a:xfrm>
            <a:off x="292608" y="2578608"/>
            <a:ext cx="11475720" cy="1124712"/>
          </a:xfrm>
          <a:prstGeom prst="roundRect">
            <a:avLst>
              <a:gd name="adj" fmla="val 6504"/>
            </a:avLst>
          </a:prstGeom>
          <a:solidFill>
            <a:srgbClr val="FFF6EF"/>
          </a:solidFill>
          <a:ln w="12700">
            <a:solidFill>
              <a:srgbClr val="D8E4E8"/>
            </a:solidFill>
            <a:prstDash val="solid"/>
          </a:ln>
        </p:spPr>
        <p:txBody>
          <a:bodyPr/>
          <a:lstStyle/>
          <a:p>
            <a:endParaRPr lang="es-ES"/>
          </a:p>
        </p:txBody>
      </p:sp>
      <p:sp>
        <p:nvSpPr>
          <p:cNvPr id="8" name="Text 6"/>
          <p:cNvSpPr/>
          <p:nvPr/>
        </p:nvSpPr>
        <p:spPr>
          <a:xfrm>
            <a:off x="530352" y="2834640"/>
            <a:ext cx="1554480" cy="274320"/>
          </a:xfrm>
          <a:prstGeom prst="rect">
            <a:avLst/>
          </a:prstGeom>
          <a:noFill/>
          <a:ln/>
        </p:spPr>
        <p:txBody>
          <a:bodyPr wrap="square" lIns="0" tIns="0" rIns="0" bIns="0" rtlCol="0" anchor="ctr"/>
          <a:lstStyle/>
          <a:p>
            <a:pPr marL="0" indent="0">
              <a:buNone/>
            </a:pPr>
            <a:r>
              <a:rPr lang="en-US" sz="1400" b="1" dirty="0">
                <a:solidFill>
                  <a:srgbClr val="C66019"/>
                </a:solidFill>
                <a:latin typeface="Inter" pitchFamily="34" charset="0"/>
                <a:ea typeface="Inter" pitchFamily="34" charset="-122"/>
                <a:cs typeface="Inter" pitchFamily="34" charset="-120"/>
              </a:rPr>
              <a:t>FUNCIONAL</a:t>
            </a:r>
            <a:endParaRPr lang="en-US" sz="1400" dirty="0"/>
          </a:p>
        </p:txBody>
      </p:sp>
      <p:sp>
        <p:nvSpPr>
          <p:cNvPr id="9" name="Text 7"/>
          <p:cNvSpPr/>
          <p:nvPr/>
        </p:nvSpPr>
        <p:spPr>
          <a:xfrm>
            <a:off x="2322576" y="2788920"/>
            <a:ext cx="6309360" cy="274320"/>
          </a:xfrm>
          <a:prstGeom prst="rect">
            <a:avLst/>
          </a:prstGeom>
          <a:noFill/>
          <a:ln/>
        </p:spPr>
        <p:txBody>
          <a:bodyPr wrap="square" lIns="0" tIns="0" rIns="0" bIns="0" rtlCol="0" anchor="ctr"/>
          <a:lstStyle/>
          <a:p>
            <a:pPr marL="0" indent="0">
              <a:buNone/>
            </a:pPr>
            <a:r>
              <a:rPr lang="en-US" sz="1520" b="1" dirty="0">
                <a:solidFill>
                  <a:srgbClr val="0B2F3A"/>
                </a:solidFill>
                <a:latin typeface="Inter" pitchFamily="34" charset="0"/>
                <a:ea typeface="Inter" pitchFamily="34" charset="-122"/>
                <a:cs typeface="Inter" pitchFamily="34" charset="-120"/>
              </a:rPr>
              <a:t>Uso frecuente de IA</a:t>
            </a:r>
            <a:endParaRPr lang="en-US" sz="1520" dirty="0"/>
          </a:p>
        </p:txBody>
      </p:sp>
      <p:sp>
        <p:nvSpPr>
          <p:cNvPr id="10" name="Text 8"/>
          <p:cNvSpPr/>
          <p:nvPr/>
        </p:nvSpPr>
        <p:spPr>
          <a:xfrm>
            <a:off x="2322576" y="3172968"/>
            <a:ext cx="8732520" cy="310896"/>
          </a:xfrm>
          <a:prstGeom prst="rect">
            <a:avLst/>
          </a:prstGeom>
          <a:noFill/>
          <a:ln/>
        </p:spPr>
        <p:txBody>
          <a:bodyPr wrap="square" lIns="0" tIns="0" rIns="0" bIns="0" rtlCol="0" anchor="ctr">
            <a:normAutofit/>
          </a:bodyPr>
          <a:lstStyle/>
          <a:p>
            <a:pPr marL="0" indent="0">
              <a:buNone/>
            </a:pPr>
            <a:r>
              <a:rPr lang="en-US" sz="1350" dirty="0">
                <a:solidFill>
                  <a:srgbClr val="0B2F3A"/>
                </a:solidFill>
                <a:latin typeface="Inter" pitchFamily="34" charset="0"/>
                <a:ea typeface="Inter" pitchFamily="34" charset="-122"/>
                <a:cs typeface="Inter" pitchFamily="34" charset="-120"/>
              </a:rPr>
              <a:t>herramientas concretas · datos · configuración · prompts · supervisión · registro</a:t>
            </a:r>
            <a:endParaRPr lang="en-US" sz="1350" dirty="0"/>
          </a:p>
        </p:txBody>
      </p:sp>
      <p:sp>
        <p:nvSpPr>
          <p:cNvPr id="11" name="Shape 9"/>
          <p:cNvSpPr/>
          <p:nvPr/>
        </p:nvSpPr>
        <p:spPr>
          <a:xfrm>
            <a:off x="292608" y="3922776"/>
            <a:ext cx="11475720" cy="1124712"/>
          </a:xfrm>
          <a:prstGeom prst="roundRect">
            <a:avLst>
              <a:gd name="adj" fmla="val 6504"/>
            </a:avLst>
          </a:prstGeom>
          <a:solidFill>
            <a:srgbClr val="EDF6F4"/>
          </a:solidFill>
          <a:ln w="12700">
            <a:solidFill>
              <a:srgbClr val="D8E4E8"/>
            </a:solidFill>
            <a:prstDash val="solid"/>
          </a:ln>
        </p:spPr>
        <p:txBody>
          <a:bodyPr/>
          <a:lstStyle/>
          <a:p>
            <a:endParaRPr lang="es-ES"/>
          </a:p>
        </p:txBody>
      </p:sp>
      <p:sp>
        <p:nvSpPr>
          <p:cNvPr id="12" name="Text 10"/>
          <p:cNvSpPr/>
          <p:nvPr/>
        </p:nvSpPr>
        <p:spPr>
          <a:xfrm>
            <a:off x="530352" y="4178808"/>
            <a:ext cx="1554480" cy="274320"/>
          </a:xfrm>
          <a:prstGeom prst="rect">
            <a:avLst/>
          </a:prstGeom>
          <a:noFill/>
          <a:ln/>
        </p:spPr>
        <p:txBody>
          <a:bodyPr wrap="square" lIns="0" tIns="0" rIns="0" bIns="0" rtlCol="0" anchor="ctr"/>
          <a:lstStyle/>
          <a:p>
            <a:pPr marL="0" indent="0">
              <a:buNone/>
            </a:pPr>
            <a:r>
              <a:rPr lang="en-US" sz="1400" b="1" dirty="0">
                <a:solidFill>
                  <a:srgbClr val="1D3461"/>
                </a:solidFill>
                <a:latin typeface="Inter" pitchFamily="34" charset="0"/>
                <a:ea typeface="Inter" pitchFamily="34" charset="-122"/>
                <a:cs typeface="Inter" pitchFamily="34" charset="-120"/>
              </a:rPr>
              <a:t>REFORZADO</a:t>
            </a:r>
            <a:endParaRPr lang="en-US" sz="1400" dirty="0"/>
          </a:p>
        </p:txBody>
      </p:sp>
      <p:sp>
        <p:nvSpPr>
          <p:cNvPr id="13" name="Text 11"/>
          <p:cNvSpPr/>
          <p:nvPr/>
        </p:nvSpPr>
        <p:spPr>
          <a:xfrm>
            <a:off x="2322576" y="4133088"/>
            <a:ext cx="6309360" cy="274320"/>
          </a:xfrm>
          <a:prstGeom prst="rect">
            <a:avLst/>
          </a:prstGeom>
          <a:noFill/>
          <a:ln/>
        </p:spPr>
        <p:txBody>
          <a:bodyPr wrap="square" lIns="0" tIns="0" rIns="0" bIns="0" rtlCol="0" anchor="ctr"/>
          <a:lstStyle/>
          <a:p>
            <a:pPr marL="0" indent="0">
              <a:buNone/>
            </a:pPr>
            <a:r>
              <a:rPr lang="en-US" sz="1520" b="1" dirty="0">
                <a:solidFill>
                  <a:srgbClr val="0B2F3A"/>
                </a:solidFill>
                <a:latin typeface="Inter" pitchFamily="34" charset="0"/>
                <a:ea typeface="Inter" pitchFamily="34" charset="-122"/>
                <a:cs typeface="Inter" pitchFamily="34" charset="-120"/>
              </a:rPr>
              <a:t>Dirección, responsables, técnicos o mayor riesgo</a:t>
            </a:r>
            <a:endParaRPr lang="en-US" sz="1520" dirty="0"/>
          </a:p>
        </p:txBody>
      </p:sp>
      <p:sp>
        <p:nvSpPr>
          <p:cNvPr id="14" name="Text 12"/>
          <p:cNvSpPr/>
          <p:nvPr/>
        </p:nvSpPr>
        <p:spPr>
          <a:xfrm>
            <a:off x="2322576" y="4517136"/>
            <a:ext cx="8732520" cy="310896"/>
          </a:xfrm>
          <a:prstGeom prst="rect">
            <a:avLst/>
          </a:prstGeom>
          <a:noFill/>
          <a:ln/>
        </p:spPr>
        <p:txBody>
          <a:bodyPr wrap="square" lIns="0" tIns="0" rIns="0" bIns="0" rtlCol="0" anchor="ctr">
            <a:normAutofit/>
          </a:bodyPr>
          <a:lstStyle/>
          <a:p>
            <a:pPr marL="0" indent="0">
              <a:buNone/>
            </a:pPr>
            <a:r>
              <a:rPr lang="en-US" sz="1350" dirty="0">
                <a:solidFill>
                  <a:srgbClr val="0B2F3A"/>
                </a:solidFill>
                <a:latin typeface="Inter" pitchFamily="34" charset="0"/>
                <a:ea typeface="Inter" pitchFamily="34" charset="-122"/>
                <a:cs typeface="Inter" pitchFamily="34" charset="-120"/>
              </a:rPr>
              <a:t>evaluación · contratación · gobernanza · derechos · gestión de incidentes</a:t>
            </a:r>
            <a:endParaRPr lang="en-US" sz="1350" dirty="0"/>
          </a:p>
        </p:txBody>
      </p:sp>
      <p:sp>
        <p:nvSpPr>
          <p:cNvPr id="15" name="Text 13"/>
          <p:cNvSpPr/>
          <p:nvPr/>
        </p:nvSpPr>
        <p:spPr>
          <a:xfrm>
            <a:off x="292608" y="5394960"/>
            <a:ext cx="11247120" cy="475488"/>
          </a:xfrm>
          <a:prstGeom prst="rect">
            <a:avLst/>
          </a:prstGeom>
          <a:noFill/>
          <a:ln/>
        </p:spPr>
        <p:txBody>
          <a:bodyPr wrap="square" lIns="0" tIns="0" rIns="0" bIns="0" rtlCol="0" anchor="ctr">
            <a:normAutofit/>
          </a:bodyPr>
          <a:lstStyle/>
          <a:p>
            <a:pPr marL="0" indent="0">
              <a:buNone/>
            </a:pPr>
            <a:r>
              <a:rPr lang="en-US" sz="1400" dirty="0">
                <a:solidFill>
                  <a:srgbClr val="1B4D5C"/>
                </a:solidFill>
                <a:latin typeface="Inter" pitchFamily="34" charset="0"/>
                <a:ea typeface="Inter" pitchFamily="34" charset="-122"/>
                <a:cs typeface="Inter" pitchFamily="34" charset="-120"/>
              </a:rPr>
              <a:t>La formación no es la misma para todos los puestos: el nivel debe adaptarse a la responsabilidad de cada perfil, al grado en que usa la IA y a qué aplicaciones/sistemas concretos maneja.</a:t>
            </a:r>
            <a:endParaRPr lang="en-US" sz="1400" dirty="0"/>
          </a:p>
        </p:txBody>
      </p:sp>
      <p:sp>
        <p:nvSpPr>
          <p:cNvPr id="16" name="Shape 1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7" name="Text 1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57200"/>
            <a:ext cx="1417320" cy="73152"/>
          </a:xfrm>
          <a:prstGeom prst="roundRect">
            <a:avLst>
              <a:gd name="adj" fmla="val 37500"/>
            </a:avLst>
          </a:prstGeom>
          <a:solidFill>
            <a:srgbClr val="C66019"/>
          </a:solidFill>
          <a:ln w="12700">
            <a:solidFill>
              <a:srgbClr val="C66019"/>
            </a:solidFill>
            <a:prstDash val="solid"/>
          </a:ln>
        </p:spPr>
        <p:txBody>
          <a:bodyPr/>
          <a:lstStyle/>
          <a:p>
            <a:endParaRPr lang="es-ES"/>
          </a:p>
        </p:txBody>
      </p:sp>
      <p:sp>
        <p:nvSpPr>
          <p:cNvPr id="3" name="Text 1"/>
          <p:cNvSpPr/>
          <p:nvPr/>
        </p:nvSpPr>
        <p:spPr>
          <a:xfrm>
            <a:off x="658368" y="731520"/>
            <a:ext cx="10698480" cy="411480"/>
          </a:xfrm>
          <a:prstGeom prst="rect">
            <a:avLst/>
          </a:prstGeom>
          <a:noFill/>
          <a:ln/>
        </p:spPr>
        <p:txBody>
          <a:bodyPr wrap="square" lIns="0" tIns="0" rIns="0" bIns="0" rtlCol="0" anchor="ctr">
            <a:normAutofit/>
          </a:bodyPr>
          <a:lstStyle/>
          <a:p>
            <a:pPr marL="0" indent="0">
              <a:buNone/>
            </a:pPr>
            <a:r>
              <a:rPr lang="en-US" sz="2500" b="1" dirty="0">
                <a:solidFill>
                  <a:srgbClr val="C66019"/>
                </a:solidFill>
                <a:latin typeface="Inter" pitchFamily="34" charset="0"/>
                <a:ea typeface="Inter" pitchFamily="34" charset="-122"/>
                <a:cs typeface="Inter" pitchFamily="34" charset="-120"/>
              </a:rPr>
              <a:t>BLOQUE 2 · FUNDAMENTOS DE LA IA</a:t>
            </a:r>
            <a:endParaRPr lang="en-US" sz="2500" dirty="0"/>
          </a:p>
        </p:txBody>
      </p:sp>
      <p:sp>
        <p:nvSpPr>
          <p:cNvPr id="4" name="Shape 2"/>
          <p:cNvSpPr/>
          <p:nvPr/>
        </p:nvSpPr>
        <p:spPr>
          <a:xfrm>
            <a:off x="676656" y="1325880"/>
            <a:ext cx="10771632" cy="3749040"/>
          </a:xfrm>
          <a:prstGeom prst="roundRect">
            <a:avLst>
              <a:gd name="adj" fmla="val 1951"/>
            </a:avLst>
          </a:prstGeom>
          <a:solidFill>
            <a:srgbClr val="EAF3F6"/>
          </a:solidFill>
          <a:ln w="12700">
            <a:solidFill>
              <a:srgbClr val="D8E4E8"/>
            </a:solidFill>
            <a:prstDash val="solid"/>
          </a:ln>
        </p:spPr>
        <p:txBody>
          <a:bodyPr/>
          <a:lstStyle/>
          <a:p>
            <a:endParaRPr lang="es-ES"/>
          </a:p>
        </p:txBody>
      </p:sp>
      <p:sp>
        <p:nvSpPr>
          <p:cNvPr id="5" name="Text 3"/>
          <p:cNvSpPr/>
          <p:nvPr/>
        </p:nvSpPr>
        <p:spPr>
          <a:xfrm>
            <a:off x="1078992" y="2423160"/>
            <a:ext cx="9829800" cy="1417320"/>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Ahora sí entramos en la tecnología: qué es un sistema de IA, qué significa que "infiera", y con qué piezas básicas se construye (datos, entrenamiento, modelo).</a:t>
            </a:r>
            <a:endParaRPr lang="en-US" sz="23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6 · SISTEMA DE IA VS. MODELO DE IA</a:t>
            </a:r>
            <a:endParaRPr lang="en-US" sz="2000" dirty="0"/>
          </a:p>
        </p:txBody>
      </p:sp>
      <p:sp>
        <p:nvSpPr>
          <p:cNvPr id="3" name="Shape 1"/>
          <p:cNvSpPr/>
          <p:nvPr/>
        </p:nvSpPr>
        <p:spPr>
          <a:xfrm>
            <a:off x="292608" y="960120"/>
            <a:ext cx="5623560" cy="2331720"/>
          </a:xfrm>
          <a:prstGeom prst="roundRect">
            <a:avLst>
              <a:gd name="adj" fmla="val 3137"/>
            </a:avLst>
          </a:prstGeom>
          <a:solidFill>
            <a:srgbClr val="FFF6EF"/>
          </a:solidFill>
          <a:ln w="12700">
            <a:solidFill>
              <a:srgbClr val="D8E4E8"/>
            </a:solidFill>
            <a:prstDash val="solid"/>
          </a:ln>
        </p:spPr>
        <p:txBody>
          <a:bodyPr/>
          <a:lstStyle/>
          <a:p>
            <a:endParaRPr lang="es-ES"/>
          </a:p>
        </p:txBody>
      </p:sp>
      <p:sp>
        <p:nvSpPr>
          <p:cNvPr id="4" name="Text 2"/>
          <p:cNvSpPr/>
          <p:nvPr/>
        </p:nvSpPr>
        <p:spPr>
          <a:xfrm>
            <a:off x="457200" y="1115568"/>
            <a:ext cx="5303520" cy="256032"/>
          </a:xfrm>
          <a:prstGeom prst="rect">
            <a:avLst/>
          </a:prstGeom>
          <a:noFill/>
          <a:ln/>
        </p:spPr>
        <p:txBody>
          <a:bodyPr wrap="square" lIns="0" tIns="0" rIns="0" bIns="0" rtlCol="0" anchor="ctr">
            <a:normAutofit/>
          </a:bodyPr>
          <a:lstStyle/>
          <a:p>
            <a:pPr marL="0" indent="0">
              <a:buNone/>
            </a:pPr>
            <a:r>
              <a:rPr lang="en-US" sz="1550" b="1" dirty="0">
                <a:solidFill>
                  <a:srgbClr val="C66019"/>
                </a:solidFill>
                <a:latin typeface="Inter" pitchFamily="34" charset="0"/>
                <a:ea typeface="Inter" pitchFamily="34" charset="-122"/>
                <a:cs typeface="Inter" pitchFamily="34" charset="-120"/>
              </a:rPr>
              <a:t>Modelo de IA - el motor</a:t>
            </a:r>
            <a:endParaRPr lang="en-US" sz="1550" dirty="0"/>
          </a:p>
        </p:txBody>
      </p:sp>
      <p:sp>
        <p:nvSpPr>
          <p:cNvPr id="5" name="Text 3"/>
          <p:cNvSpPr/>
          <p:nvPr/>
        </p:nvSpPr>
        <p:spPr>
          <a:xfrm>
            <a:off x="457200" y="1417320"/>
            <a:ext cx="5303520" cy="1737360"/>
          </a:xfrm>
          <a:prstGeom prst="rect">
            <a:avLst/>
          </a:prstGeom>
          <a:noFill/>
          <a:ln/>
        </p:spPr>
        <p:txBody>
          <a:bodyPr wrap="square" lIns="0" tIns="0" rIns="0" bIns="0" rtlCol="0" anchor="t">
            <a:normAutofit/>
          </a:bodyPr>
          <a:lstStyle/>
          <a:p>
            <a:pPr marL="0" indent="0">
              <a:buNone/>
            </a:pPr>
            <a:r>
              <a:rPr lang="en-US" sz="1500" dirty="0">
                <a:solidFill>
                  <a:srgbClr val="1B4D5C"/>
                </a:solidFill>
                <a:latin typeface="Inter" pitchFamily="34" charset="0"/>
                <a:ea typeface="Inter" pitchFamily="34" charset="-122"/>
                <a:cs typeface="Inter" pitchFamily="34" charset="-120"/>
              </a:rPr>
              <a:t>Un modelo de IA (por ejemplo, GPT-4, Claude o Gemini para texto; u otros modelos especializados en imagen, audio o vídeo) entrenado con grandes volúmenes de datos capaz de realizar muchas tareas distintas y de integrarse en distintas aplicaciones (Art. 3.63 AI Act)</a:t>
            </a:r>
            <a:endParaRPr lang="en-US" sz="1500" dirty="0"/>
          </a:p>
        </p:txBody>
      </p:sp>
      <p:sp>
        <p:nvSpPr>
          <p:cNvPr id="6" name="Shape 4"/>
          <p:cNvSpPr/>
          <p:nvPr/>
        </p:nvSpPr>
        <p:spPr>
          <a:xfrm>
            <a:off x="6144768" y="960120"/>
            <a:ext cx="5577840" cy="2331720"/>
          </a:xfrm>
          <a:prstGeom prst="roundRect">
            <a:avLst>
              <a:gd name="adj" fmla="val 3137"/>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6309360" y="1115568"/>
            <a:ext cx="5257800" cy="256032"/>
          </a:xfrm>
          <a:prstGeom prst="rect">
            <a:avLst/>
          </a:prstGeom>
          <a:noFill/>
          <a:ln/>
        </p:spPr>
        <p:txBody>
          <a:bodyPr wrap="square" lIns="0" tIns="0" rIns="0" bIns="0" rtlCol="0" anchor="ctr">
            <a:normAutofit/>
          </a:bodyPr>
          <a:lstStyle/>
          <a:p>
            <a:pPr marL="0" indent="0">
              <a:buNone/>
            </a:pPr>
            <a:r>
              <a:rPr lang="en-US" sz="1520" b="1" dirty="0">
                <a:solidFill>
                  <a:srgbClr val="1B4D5C"/>
                </a:solidFill>
                <a:latin typeface="Inter" pitchFamily="34" charset="0"/>
                <a:ea typeface="Inter" pitchFamily="34" charset="-122"/>
                <a:cs typeface="Inter" pitchFamily="34" charset="-120"/>
              </a:rPr>
              <a:t>Sistema de IA - la aplicación construida con ese motor</a:t>
            </a:r>
            <a:endParaRPr lang="en-US" sz="1520" dirty="0"/>
          </a:p>
        </p:txBody>
      </p:sp>
      <p:sp>
        <p:nvSpPr>
          <p:cNvPr id="8" name="Text 6"/>
          <p:cNvSpPr/>
          <p:nvPr/>
        </p:nvSpPr>
        <p:spPr>
          <a:xfrm>
            <a:off x="6309360" y="1417320"/>
            <a:ext cx="5257800" cy="1737360"/>
          </a:xfrm>
          <a:prstGeom prst="rect">
            <a:avLst/>
          </a:prstGeom>
          <a:noFill/>
          <a:ln/>
        </p:spPr>
        <p:txBody>
          <a:bodyPr wrap="square" lIns="0" tIns="0" rIns="0" bIns="0" rtlCol="0" anchor="t">
            <a:normAutofit/>
          </a:bodyPr>
          <a:lstStyle/>
          <a:p>
            <a:pPr marL="0" indent="0">
              <a:buNone/>
            </a:pPr>
            <a:r>
              <a:rPr lang="en-US" sz="1490" dirty="0">
                <a:solidFill>
                  <a:srgbClr val="1B4D5C"/>
                </a:solidFill>
                <a:latin typeface="Inter" pitchFamily="34" charset="0"/>
                <a:ea typeface="Inter" pitchFamily="34" charset="-122"/>
                <a:cs typeface="Inter" pitchFamily="34" charset="-120"/>
              </a:rPr>
              <a:t>Un sistema basado en máquina que, con cierta autonomía, infiere a partir de datos de entrada cómo generar predicciones, contenidos, recomendaciones o decisiones que afectan a un entorno. (Art. 3.1 AI Act)</a:t>
            </a:r>
            <a:endParaRPr lang="en-US" sz="1490" dirty="0"/>
          </a:p>
        </p:txBody>
      </p:sp>
      <p:sp>
        <p:nvSpPr>
          <p:cNvPr id="9" name="Shape 7"/>
          <p:cNvSpPr/>
          <p:nvPr/>
        </p:nvSpPr>
        <p:spPr>
          <a:xfrm>
            <a:off x="292608" y="3529584"/>
            <a:ext cx="11430000" cy="1051560"/>
          </a:xfrm>
          <a:prstGeom prst="roundRect">
            <a:avLst>
              <a:gd name="adj" fmla="val 6957"/>
            </a:avLst>
          </a:prstGeom>
          <a:solidFill>
            <a:srgbClr val="EDF6F4"/>
          </a:solidFill>
          <a:ln w="12700">
            <a:solidFill>
              <a:srgbClr val="D8E4E8"/>
            </a:solidFill>
            <a:prstDash val="solid"/>
          </a:ln>
        </p:spPr>
        <p:txBody>
          <a:bodyPr/>
          <a:lstStyle/>
          <a:p>
            <a:endParaRPr lang="es-ES"/>
          </a:p>
        </p:txBody>
      </p:sp>
      <p:sp>
        <p:nvSpPr>
          <p:cNvPr id="10" name="Text 8"/>
          <p:cNvSpPr/>
          <p:nvPr/>
        </p:nvSpPr>
        <p:spPr>
          <a:xfrm>
            <a:off x="475488" y="3712464"/>
            <a:ext cx="1097280" cy="210312"/>
          </a:xfrm>
          <a:prstGeom prst="rect">
            <a:avLst/>
          </a:prstGeom>
          <a:noFill/>
          <a:ln/>
        </p:spPr>
        <p:txBody>
          <a:bodyPr wrap="square" lIns="0" tIns="0" rIns="0" bIns="0" rtlCol="0" anchor="ctr"/>
          <a:lstStyle/>
          <a:p>
            <a:pPr marL="0" indent="0">
              <a:buNone/>
            </a:pPr>
            <a:r>
              <a:rPr lang="en-US" sz="1350" b="1" dirty="0">
                <a:solidFill>
                  <a:srgbClr val="1B4D5C"/>
                </a:solidFill>
                <a:latin typeface="Inter" pitchFamily="34" charset="0"/>
                <a:ea typeface="Inter" pitchFamily="34" charset="-122"/>
                <a:cs typeface="Inter" pitchFamily="34" charset="-120"/>
              </a:rPr>
              <a:t>LA CLAVE</a:t>
            </a:r>
            <a:endParaRPr lang="en-US" sz="1350" dirty="0"/>
          </a:p>
        </p:txBody>
      </p:sp>
      <p:sp>
        <p:nvSpPr>
          <p:cNvPr id="11" name="Text 9"/>
          <p:cNvSpPr/>
          <p:nvPr/>
        </p:nvSpPr>
        <p:spPr>
          <a:xfrm>
            <a:off x="475488" y="3977640"/>
            <a:ext cx="10789920" cy="475488"/>
          </a:xfrm>
          <a:prstGeom prst="rect">
            <a:avLst/>
          </a:prstGeom>
          <a:noFill/>
          <a:ln/>
        </p:spPr>
        <p:txBody>
          <a:bodyPr wrap="square" lIns="0" tIns="0" rIns="0" bIns="0" rtlCol="0" anchor="ctr">
            <a:normAutofit/>
          </a:bodyPr>
          <a:lstStyle/>
          <a:p>
            <a:pPr marL="0" indent="0" algn="l">
              <a:buNone/>
            </a:pPr>
            <a:r>
              <a:rPr lang="en-US" sz="1380" b="1" dirty="0">
                <a:solidFill>
                  <a:srgbClr val="0B2F3A"/>
                </a:solidFill>
                <a:latin typeface="Inter" pitchFamily="34" charset="0"/>
                <a:ea typeface="Inter" pitchFamily="34" charset="-122"/>
                <a:cs typeface="Inter" pitchFamily="34" charset="-120"/>
              </a:rPr>
              <a:t>La clave: las obligaciones del modelo recaen solo sobre quien lo desarrolla (OpenAI, Anthropic, Google...). Las obligaciones del sistema recaen sobre quien lo despliega o lo pone en el mercado — ahí es donde entra tu empresa.</a:t>
            </a:r>
            <a:endParaRPr lang="en-US" sz="1380" dirty="0"/>
          </a:p>
        </p:txBody>
      </p:sp>
      <p:sp>
        <p:nvSpPr>
          <p:cNvPr id="12" name="Shape 10"/>
          <p:cNvSpPr/>
          <p:nvPr/>
        </p:nvSpPr>
        <p:spPr>
          <a:xfrm>
            <a:off x="292608" y="4800600"/>
            <a:ext cx="11430000" cy="822960"/>
          </a:xfrm>
          <a:prstGeom prst="roundRect">
            <a:avLst>
              <a:gd name="adj" fmla="val 8889"/>
            </a:avLst>
          </a:prstGeom>
          <a:solidFill>
            <a:srgbClr val="FFF6EF"/>
          </a:solidFill>
          <a:ln w="12700">
            <a:solidFill>
              <a:srgbClr val="D8E4E8"/>
            </a:solidFill>
            <a:prstDash val="solid"/>
          </a:ln>
        </p:spPr>
        <p:txBody>
          <a:bodyPr/>
          <a:lstStyle/>
          <a:p>
            <a:endParaRPr lang="es-ES"/>
          </a:p>
        </p:txBody>
      </p:sp>
      <p:sp>
        <p:nvSpPr>
          <p:cNvPr id="13" name="Text 11"/>
          <p:cNvSpPr/>
          <p:nvPr/>
        </p:nvSpPr>
        <p:spPr>
          <a:xfrm>
            <a:off x="475488" y="5010912"/>
            <a:ext cx="10789920" cy="384048"/>
          </a:xfrm>
          <a:prstGeom prst="rect">
            <a:avLst/>
          </a:prstGeom>
          <a:noFill/>
          <a:ln/>
        </p:spPr>
        <p:txBody>
          <a:bodyPr wrap="square" lIns="0" tIns="0" rIns="0" bIns="0" rtlCol="0" anchor="ctr">
            <a:normAutofit/>
          </a:bodyPr>
          <a:lstStyle/>
          <a:p>
            <a:pPr marL="0" indent="0" algn="l">
              <a:buNone/>
            </a:pPr>
            <a:r>
              <a:rPr lang="en-US" sz="1400" b="1" dirty="0">
                <a:solidFill>
                  <a:srgbClr val="1D3461"/>
                </a:solidFill>
                <a:latin typeface="Inter" pitchFamily="34" charset="0"/>
                <a:ea typeface="Inter" pitchFamily="34" charset="-122"/>
                <a:cs typeface="Inter" pitchFamily="34" charset="-120"/>
              </a:rPr>
              <a:t>Ejemplo: Claude es un modelo. Un chatbot de atención al cliente construido con Claude es un sistema de IA.</a:t>
            </a:r>
            <a:endParaRPr lang="en-US" sz="1400" dirty="0"/>
          </a:p>
        </p:txBody>
      </p:sp>
      <p:sp>
        <p:nvSpPr>
          <p:cNvPr id="14" name="Shape 1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5" name="Text 1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868680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7 · ¿QUÉ SIGNIFICA INFERIR?</a:t>
            </a:r>
            <a:endParaRPr lang="en-US" sz="20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658368" y="841248"/>
            <a:ext cx="9601200" cy="594360"/>
          </a:xfrm>
          <a:prstGeom prst="rect">
            <a:avLst/>
          </a:prstGeom>
          <a:noFill/>
          <a:ln/>
        </p:spPr>
        <p:txBody>
          <a:bodyPr wrap="square" lIns="0" tIns="0" rIns="0" bIns="0" rtlCol="0" anchor="ctr">
            <a:normAutofit/>
          </a:bodyPr>
          <a:lstStyle/>
          <a:p>
            <a:pPr marL="0" indent="0">
              <a:buNone/>
            </a:pPr>
            <a:r>
              <a:rPr lang="en-US" sz="1750" b="1" dirty="0">
                <a:solidFill>
                  <a:srgbClr val="1B4D5C"/>
                </a:solidFill>
                <a:latin typeface="Inter" pitchFamily="34" charset="0"/>
                <a:ea typeface="Inter" pitchFamily="34" charset="-122"/>
                <a:cs typeface="Inter" pitchFamily="34" charset="-120"/>
              </a:rPr>
              <a:t>En la definición que acabas de ver, la palabra clave es 'infiere'. Esto es lo que la distingue de una automatización simple.</a:t>
            </a:r>
            <a:endParaRPr lang="en-US" sz="1750" dirty="0"/>
          </a:p>
        </p:txBody>
      </p:sp>
      <p:sp>
        <p:nvSpPr>
          <p:cNvPr id="9" name="Shape 6"/>
          <p:cNvSpPr/>
          <p:nvPr/>
        </p:nvSpPr>
        <p:spPr>
          <a:xfrm>
            <a:off x="292608" y="1783080"/>
            <a:ext cx="5596128" cy="2743200"/>
          </a:xfrm>
          <a:prstGeom prst="roundRect">
            <a:avLst>
              <a:gd name="adj" fmla="val 2667"/>
            </a:avLst>
          </a:prstGeom>
          <a:solidFill>
            <a:srgbClr val="FFF6EF"/>
          </a:solidFill>
          <a:ln w="12700">
            <a:solidFill>
              <a:srgbClr val="D8E4E8"/>
            </a:solidFill>
            <a:prstDash val="solid"/>
          </a:ln>
        </p:spPr>
        <p:txBody>
          <a:bodyPr/>
          <a:lstStyle/>
          <a:p>
            <a:endParaRPr lang="es-ES"/>
          </a:p>
        </p:txBody>
      </p:sp>
      <p:sp>
        <p:nvSpPr>
          <p:cNvPr id="10" name="Text 7"/>
          <p:cNvSpPr/>
          <p:nvPr/>
        </p:nvSpPr>
        <p:spPr>
          <a:xfrm>
            <a:off x="457200" y="1938528"/>
            <a:ext cx="5276088" cy="256032"/>
          </a:xfrm>
          <a:prstGeom prst="rect">
            <a:avLst/>
          </a:prstGeom>
          <a:noFill/>
          <a:ln/>
        </p:spPr>
        <p:txBody>
          <a:bodyPr wrap="square" lIns="0" tIns="0" rIns="0" bIns="0" rtlCol="0" anchor="ctr">
            <a:normAutofit/>
          </a:bodyPr>
          <a:lstStyle/>
          <a:p>
            <a:pPr marL="0" indent="0">
              <a:buNone/>
            </a:pPr>
            <a:r>
              <a:rPr lang="en-US" sz="1550" b="1" dirty="0">
                <a:solidFill>
                  <a:srgbClr val="C66019"/>
                </a:solidFill>
                <a:latin typeface="Inter" pitchFamily="34" charset="0"/>
                <a:ea typeface="Inter" pitchFamily="34" charset="-122"/>
                <a:cs typeface="Inter" pitchFamily="34" charset="-120"/>
              </a:rPr>
              <a:t>REGLA FIJA</a:t>
            </a:r>
            <a:endParaRPr lang="en-US" sz="1550" dirty="0"/>
          </a:p>
        </p:txBody>
      </p:sp>
      <p:sp>
        <p:nvSpPr>
          <p:cNvPr id="11" name="Text 8"/>
          <p:cNvSpPr/>
          <p:nvPr/>
        </p:nvSpPr>
        <p:spPr>
          <a:xfrm>
            <a:off x="457200" y="2240280"/>
            <a:ext cx="5276088" cy="21488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Regla fija: "Si el correo viene de un dominio de la lista negra, muévelo a spam."</a:t>
            </a:r>
            <a:endParaRPr lang="en-US" sz="1700" dirty="0"/>
          </a:p>
        </p:txBody>
      </p:sp>
      <p:sp>
        <p:nvSpPr>
          <p:cNvPr id="12" name="Shape 9"/>
          <p:cNvSpPr/>
          <p:nvPr/>
        </p:nvSpPr>
        <p:spPr>
          <a:xfrm>
            <a:off x="6263640" y="1783080"/>
            <a:ext cx="5468112" cy="2743200"/>
          </a:xfrm>
          <a:prstGeom prst="roundRect">
            <a:avLst>
              <a:gd name="adj" fmla="val 2667"/>
            </a:avLst>
          </a:prstGeom>
          <a:solidFill>
            <a:srgbClr val="EAF3F6"/>
          </a:solidFill>
          <a:ln w="12700">
            <a:solidFill>
              <a:srgbClr val="D8E4E8"/>
            </a:solidFill>
            <a:prstDash val="solid"/>
          </a:ln>
        </p:spPr>
        <p:txBody>
          <a:bodyPr/>
          <a:lstStyle/>
          <a:p>
            <a:endParaRPr lang="es-ES"/>
          </a:p>
        </p:txBody>
      </p:sp>
      <p:sp>
        <p:nvSpPr>
          <p:cNvPr id="13" name="Text 10"/>
          <p:cNvSpPr/>
          <p:nvPr/>
        </p:nvSpPr>
        <p:spPr>
          <a:xfrm>
            <a:off x="6428232" y="1938528"/>
            <a:ext cx="5148072" cy="256032"/>
          </a:xfrm>
          <a:prstGeom prst="rect">
            <a:avLst/>
          </a:prstGeom>
          <a:noFill/>
          <a:ln/>
        </p:spPr>
        <p:txBody>
          <a:bodyPr wrap="square" lIns="0" tIns="0" rIns="0" bIns="0" rtlCol="0" anchor="ctr">
            <a:normAutofit/>
          </a:bodyPr>
          <a:lstStyle/>
          <a:p>
            <a:pPr marL="0" indent="0">
              <a:buNone/>
            </a:pPr>
            <a:r>
              <a:rPr lang="en-US" sz="1550" b="1" dirty="0">
                <a:solidFill>
                  <a:srgbClr val="1D3461"/>
                </a:solidFill>
                <a:latin typeface="Inter" pitchFamily="34" charset="0"/>
                <a:ea typeface="Inter" pitchFamily="34" charset="-122"/>
                <a:cs typeface="Inter" pitchFamily="34" charset="-120"/>
              </a:rPr>
              <a:t>INFERENCIA</a:t>
            </a:r>
            <a:endParaRPr lang="en-US" sz="1550" dirty="0"/>
          </a:p>
        </p:txBody>
      </p:sp>
      <p:sp>
        <p:nvSpPr>
          <p:cNvPr id="14" name="Text 11"/>
          <p:cNvSpPr/>
          <p:nvPr/>
        </p:nvSpPr>
        <p:spPr>
          <a:xfrm>
            <a:off x="6428232" y="2240280"/>
            <a:ext cx="5148072" cy="21488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Inferencia: "Valora el tono, la urgencia, el remitente y el contenido del mensaje para estimar si es phishing, aunque no esté en ninguna lista."</a:t>
            </a:r>
            <a:endParaRPr lang="en-US" sz="1700" dirty="0"/>
          </a:p>
        </p:txBody>
      </p:sp>
      <p:sp>
        <p:nvSpPr>
          <p:cNvPr id="15" name="Shape 1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6" name="Text 1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Regla fija o inferencia</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51931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68390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¿Qué opción describe mejor una inferencia?</a:t>
            </a:r>
            <a:endParaRPr lang="en-US" sz="1700" dirty="0"/>
          </a:p>
        </p:txBody>
      </p:sp>
      <p:sp>
        <p:nvSpPr>
          <p:cNvPr id="8" name="Shape 6"/>
          <p:cNvSpPr/>
          <p:nvPr/>
        </p:nvSpPr>
        <p:spPr>
          <a:xfrm>
            <a:off x="1005840" y="275375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90005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82690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Valorar varios indicios y estimar qué resultado es más probable</a:t>
            </a:r>
            <a:endParaRPr lang="en-US" sz="1350" dirty="0"/>
          </a:p>
        </p:txBody>
      </p:sp>
      <p:sp>
        <p:nvSpPr>
          <p:cNvPr id="11" name="Shape 9"/>
          <p:cNvSpPr/>
          <p:nvPr/>
        </p:nvSpPr>
        <p:spPr>
          <a:xfrm>
            <a:off x="1005840" y="355842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70472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63157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Ejecutar siempre una regla fija «si A, entonces B»</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8 · NO TODA AUTOMATIZACIÓN ES IA</a:t>
            </a:r>
            <a:endParaRPr lang="en-US" sz="2000" dirty="0"/>
          </a:p>
        </p:txBody>
      </p:sp>
      <p:sp>
        <p:nvSpPr>
          <p:cNvPr id="3" name="Shape 1"/>
          <p:cNvSpPr/>
          <p:nvPr/>
        </p:nvSpPr>
        <p:spPr>
          <a:xfrm>
            <a:off x="292608" y="1371600"/>
            <a:ext cx="5394960" cy="3246120"/>
          </a:xfrm>
          <a:prstGeom prst="roundRect">
            <a:avLst>
              <a:gd name="adj" fmla="val 2254"/>
            </a:avLst>
          </a:prstGeom>
          <a:solidFill>
            <a:srgbClr val="FFF6EF"/>
          </a:solidFill>
          <a:ln w="12700">
            <a:solidFill>
              <a:srgbClr val="D8E4E8"/>
            </a:solidFill>
            <a:prstDash val="solid"/>
          </a:ln>
        </p:spPr>
        <p:txBody>
          <a:bodyPr/>
          <a:lstStyle/>
          <a:p>
            <a:endParaRPr lang="es-ES"/>
          </a:p>
        </p:txBody>
      </p:sp>
      <p:sp>
        <p:nvSpPr>
          <p:cNvPr id="4" name="Text 2"/>
          <p:cNvSpPr/>
          <p:nvPr/>
        </p:nvSpPr>
        <p:spPr>
          <a:xfrm>
            <a:off x="457200" y="1527048"/>
            <a:ext cx="5074920" cy="256032"/>
          </a:xfrm>
          <a:prstGeom prst="rect">
            <a:avLst/>
          </a:prstGeom>
          <a:noFill/>
          <a:ln/>
        </p:spPr>
        <p:txBody>
          <a:bodyPr wrap="square" lIns="0" tIns="0" rIns="0" bIns="0" rtlCol="0" anchor="ctr">
            <a:normAutofit/>
          </a:bodyPr>
          <a:lstStyle/>
          <a:p>
            <a:pPr marL="0" indent="0">
              <a:buNone/>
            </a:pPr>
            <a:r>
              <a:rPr lang="en-US" sz="1800" b="1" dirty="0">
                <a:solidFill>
                  <a:srgbClr val="C66019"/>
                </a:solidFill>
                <a:latin typeface="Inter" pitchFamily="34" charset="0"/>
                <a:ea typeface="Inter" pitchFamily="34" charset="-122"/>
                <a:cs typeface="Inter" pitchFamily="34" charset="-120"/>
              </a:rPr>
              <a:t>AUTOMATIZACIÓN</a:t>
            </a:r>
            <a:endParaRPr lang="en-US" sz="1800" dirty="0"/>
          </a:p>
        </p:txBody>
      </p:sp>
      <p:sp>
        <p:nvSpPr>
          <p:cNvPr id="5" name="Text 3"/>
          <p:cNvSpPr/>
          <p:nvPr/>
        </p:nvSpPr>
        <p:spPr>
          <a:xfrm>
            <a:off x="457200" y="1828800"/>
            <a:ext cx="5074920" cy="2651760"/>
          </a:xfrm>
          <a:prstGeom prst="rect">
            <a:avLst/>
          </a:prstGeom>
          <a:noFill/>
          <a:ln/>
        </p:spPr>
        <p:txBody>
          <a:bodyPr wrap="square" lIns="0" tIns="0" rIns="0" bIns="0" rtlCol="0" anchor="t">
            <a:normAutofit/>
          </a:bodyPr>
          <a:lstStyle/>
          <a:p>
            <a:pPr marL="0" indent="0">
              <a:buNone/>
            </a:pPr>
            <a:r>
              <a:rPr lang="en-US" sz="1800" dirty="0">
                <a:solidFill>
                  <a:srgbClr val="0B2F3A"/>
                </a:solidFill>
                <a:latin typeface="Inter" pitchFamily="34" charset="0"/>
                <a:ea typeface="Inter" pitchFamily="34" charset="-122"/>
                <a:cs typeface="Inter" pitchFamily="34" charset="-120"/>
              </a:rPr>
              <a:t>Ejecuta instrucciones o reglas previamente definidas.</a:t>
            </a:r>
            <a:endParaRPr lang="en-US" sz="1800" dirty="0"/>
          </a:p>
          <a:p>
            <a:pPr marL="0" indent="0">
              <a:buNone/>
            </a:pPr>
            <a:endParaRPr lang="en-US" sz="1800" dirty="0"/>
          </a:p>
          <a:p>
            <a:pPr marL="0" indent="0">
              <a:buNone/>
            </a:pPr>
            <a:r>
              <a:rPr lang="en-US" sz="1800" dirty="0">
                <a:solidFill>
                  <a:srgbClr val="0B2F3A"/>
                </a:solidFill>
                <a:latin typeface="Inter" pitchFamily="34" charset="0"/>
                <a:ea typeface="Inter" pitchFamily="34" charset="-122"/>
                <a:cs typeface="Inter" pitchFamily="34" charset="-120"/>
              </a:rPr>
              <a:t>Ejemplo: enviar una factura el primer día de cada mes.</a:t>
            </a:r>
            <a:endParaRPr lang="en-US" sz="1800" dirty="0"/>
          </a:p>
        </p:txBody>
      </p:sp>
      <p:sp>
        <p:nvSpPr>
          <p:cNvPr id="6" name="Shape 4"/>
          <p:cNvSpPr/>
          <p:nvPr/>
        </p:nvSpPr>
        <p:spPr>
          <a:xfrm>
            <a:off x="6144768" y="1371600"/>
            <a:ext cx="5596128" cy="3246120"/>
          </a:xfrm>
          <a:prstGeom prst="roundRect">
            <a:avLst>
              <a:gd name="adj" fmla="val 2254"/>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6309360" y="1527048"/>
            <a:ext cx="5276088" cy="256032"/>
          </a:xfrm>
          <a:prstGeom prst="rect">
            <a:avLst/>
          </a:prstGeom>
          <a:noFill/>
          <a:ln/>
        </p:spPr>
        <p:txBody>
          <a:bodyPr wrap="square" lIns="0" tIns="0" rIns="0" bIns="0" rtlCol="0" anchor="ctr">
            <a:normAutofit/>
          </a:bodyPr>
          <a:lstStyle/>
          <a:p>
            <a:pPr marL="0" indent="0">
              <a:buNone/>
            </a:pPr>
            <a:r>
              <a:rPr lang="en-US" sz="1800" b="1" dirty="0">
                <a:solidFill>
                  <a:srgbClr val="0B2F3A"/>
                </a:solidFill>
                <a:latin typeface="Inter" pitchFamily="34" charset="0"/>
                <a:ea typeface="Inter" pitchFamily="34" charset="-122"/>
                <a:cs typeface="Inter" pitchFamily="34" charset="-120"/>
              </a:rPr>
              <a:t>SISTEMA DE IA</a:t>
            </a:r>
            <a:endParaRPr lang="en-US" sz="1800" dirty="0"/>
          </a:p>
        </p:txBody>
      </p:sp>
      <p:sp>
        <p:nvSpPr>
          <p:cNvPr id="8" name="Text 6"/>
          <p:cNvSpPr/>
          <p:nvPr/>
        </p:nvSpPr>
        <p:spPr>
          <a:xfrm>
            <a:off x="6309360" y="1828800"/>
            <a:ext cx="5276088" cy="2651760"/>
          </a:xfrm>
          <a:prstGeom prst="rect">
            <a:avLst/>
          </a:prstGeom>
          <a:noFill/>
          <a:ln/>
        </p:spPr>
        <p:txBody>
          <a:bodyPr wrap="square" lIns="0" tIns="0" rIns="0" bIns="0" rtlCol="0" anchor="t">
            <a:normAutofit/>
          </a:bodyPr>
          <a:lstStyle/>
          <a:p>
            <a:pPr marL="0" indent="0">
              <a:buNone/>
            </a:pPr>
            <a:r>
              <a:rPr lang="en-US" sz="1800" dirty="0">
                <a:solidFill>
                  <a:srgbClr val="0B2F3A"/>
                </a:solidFill>
                <a:latin typeface="Inter" pitchFamily="34" charset="0"/>
                <a:ea typeface="Inter" pitchFamily="34" charset="-122"/>
                <a:cs typeface="Inter" pitchFamily="34" charset="-120"/>
              </a:rPr>
              <a:t>Analiza entradas e infiere patrones para generar un resultado.</a:t>
            </a:r>
            <a:endParaRPr lang="en-US" sz="1800" dirty="0"/>
          </a:p>
          <a:p>
            <a:pPr marL="0" indent="0">
              <a:buNone/>
            </a:pPr>
            <a:endParaRPr lang="en-US" sz="1800" dirty="0"/>
          </a:p>
          <a:p>
            <a:pPr marL="0" indent="0">
              <a:buNone/>
            </a:pPr>
            <a:r>
              <a:rPr lang="en-US" sz="1800" dirty="0">
                <a:solidFill>
                  <a:srgbClr val="0B2F3A"/>
                </a:solidFill>
                <a:latin typeface="Inter" pitchFamily="34" charset="0"/>
                <a:ea typeface="Inter" pitchFamily="34" charset="-122"/>
                <a:cs typeface="Inter" pitchFamily="34" charset="-120"/>
              </a:rPr>
              <a:t>Ejemplo: predecir qué facturas presentan mayor riesgo de retraso.</a:t>
            </a:r>
            <a:endParaRPr lang="en-US" sz="1800" dirty="0"/>
          </a:p>
        </p:txBody>
      </p:sp>
      <p:sp>
        <p:nvSpPr>
          <p:cNvPr id="9" name="Text 7"/>
          <p:cNvSpPr/>
          <p:nvPr/>
        </p:nvSpPr>
        <p:spPr>
          <a:xfrm>
            <a:off x="292608" y="5166360"/>
            <a:ext cx="8229600" cy="320040"/>
          </a:xfrm>
          <a:prstGeom prst="rect">
            <a:avLst/>
          </a:prstGeom>
          <a:noFill/>
          <a:ln/>
        </p:spPr>
        <p:txBody>
          <a:bodyPr wrap="square" lIns="0" tIns="0" rIns="0" bIns="0" rtlCol="0" anchor="ctr"/>
          <a:lstStyle/>
          <a:p>
            <a:pPr marL="0" indent="0">
              <a:buNone/>
            </a:pPr>
            <a:r>
              <a:rPr lang="en-US" sz="1700" b="1" dirty="0">
                <a:solidFill>
                  <a:srgbClr val="1D3461"/>
                </a:solidFill>
                <a:latin typeface="Inter" pitchFamily="34" charset="0"/>
                <a:ea typeface="Inter" pitchFamily="34" charset="-122"/>
                <a:cs typeface="Inter" pitchFamily="34" charset="-120"/>
              </a:rPr>
              <a:t>Una misma aplicación puede combinar IA y automatización.</a:t>
            </a:r>
            <a:endParaRPr lang="en-US" sz="1700" dirty="0"/>
          </a:p>
        </p:txBody>
      </p:sp>
      <p:sp>
        <p:nvSpPr>
          <p:cNvPr id="10" name="Shape 8"/>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1" name="Text 9"/>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9 · ACTIVIDAD</a:t>
            </a:r>
            <a:endParaRPr lang="en-US" sz="2000" dirty="0"/>
          </a:p>
        </p:txBody>
      </p:sp>
      <p:sp>
        <p:nvSpPr>
          <p:cNvPr id="3" name="Text 1"/>
          <p:cNvSpPr/>
          <p:nvPr/>
        </p:nvSpPr>
        <p:spPr>
          <a:xfrm>
            <a:off x="658368" y="658368"/>
            <a:ext cx="10607040" cy="530352"/>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¿Es IA o no es IA?</a:t>
            </a:r>
            <a:endParaRPr lang="en-US" sz="2400" dirty="0"/>
          </a:p>
        </p:txBody>
      </p:sp>
      <p:sp>
        <p:nvSpPr>
          <p:cNvPr id="4" name="Shape 2"/>
          <p:cNvSpPr/>
          <p:nvPr/>
        </p:nvSpPr>
        <p:spPr>
          <a:xfrm>
            <a:off x="292608" y="1325880"/>
            <a:ext cx="9098280" cy="621792"/>
          </a:xfrm>
          <a:prstGeom prst="roundRect">
            <a:avLst>
              <a:gd name="adj" fmla="val 11765"/>
            </a:avLst>
          </a:prstGeom>
          <a:solidFill>
            <a:srgbClr val="FFFFFF"/>
          </a:solidFill>
          <a:ln w="12700">
            <a:solidFill>
              <a:srgbClr val="D8E4E8"/>
            </a:solidFill>
            <a:prstDash val="solid"/>
          </a:ln>
        </p:spPr>
        <p:txBody>
          <a:bodyPr/>
          <a:lstStyle/>
          <a:p>
            <a:endParaRPr lang="es-ES"/>
          </a:p>
        </p:txBody>
      </p:sp>
      <p:sp>
        <p:nvSpPr>
          <p:cNvPr id="5" name="Text 3"/>
          <p:cNvSpPr/>
          <p:nvPr/>
        </p:nvSpPr>
        <p:spPr>
          <a:xfrm>
            <a:off x="502920" y="1408176"/>
            <a:ext cx="850392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1 · Informe programado cada viernes</a:t>
            </a:r>
            <a:endParaRPr lang="en-US" sz="1450" dirty="0"/>
          </a:p>
        </p:txBody>
      </p:sp>
      <p:sp>
        <p:nvSpPr>
          <p:cNvPr id="6" name="Shape 4"/>
          <p:cNvSpPr/>
          <p:nvPr/>
        </p:nvSpPr>
        <p:spPr>
          <a:xfrm>
            <a:off x="292608" y="2130552"/>
            <a:ext cx="9098280" cy="621792"/>
          </a:xfrm>
          <a:prstGeom prst="roundRect">
            <a:avLst>
              <a:gd name="adj" fmla="val 11765"/>
            </a:avLst>
          </a:prstGeom>
          <a:solidFill>
            <a:srgbClr val="FFFFFF"/>
          </a:solidFill>
          <a:ln w="12700">
            <a:solidFill>
              <a:srgbClr val="D8E4E8"/>
            </a:solidFill>
            <a:prstDash val="solid"/>
          </a:ln>
        </p:spPr>
        <p:txBody>
          <a:bodyPr/>
          <a:lstStyle/>
          <a:p>
            <a:endParaRPr lang="es-ES"/>
          </a:p>
        </p:txBody>
      </p:sp>
      <p:sp>
        <p:nvSpPr>
          <p:cNvPr id="7" name="Text 5"/>
          <p:cNvSpPr/>
          <p:nvPr/>
        </p:nvSpPr>
        <p:spPr>
          <a:xfrm>
            <a:off x="502920" y="2212848"/>
            <a:ext cx="850392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2 · Agrupar reclamaciones sin categorías previas</a:t>
            </a:r>
            <a:endParaRPr lang="en-US" sz="1450" dirty="0"/>
          </a:p>
        </p:txBody>
      </p:sp>
      <p:sp>
        <p:nvSpPr>
          <p:cNvPr id="8" name="Shape 6"/>
          <p:cNvSpPr/>
          <p:nvPr/>
        </p:nvSpPr>
        <p:spPr>
          <a:xfrm>
            <a:off x="292608" y="2935224"/>
            <a:ext cx="9098280" cy="621792"/>
          </a:xfrm>
          <a:prstGeom prst="roundRect">
            <a:avLst>
              <a:gd name="adj" fmla="val 11765"/>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502920" y="3017520"/>
            <a:ext cx="850392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3 · Sumar automáticamente una columna</a:t>
            </a:r>
            <a:endParaRPr lang="en-US" sz="1450" dirty="0"/>
          </a:p>
        </p:txBody>
      </p:sp>
      <p:sp>
        <p:nvSpPr>
          <p:cNvPr id="10" name="Shape 8"/>
          <p:cNvSpPr/>
          <p:nvPr/>
        </p:nvSpPr>
        <p:spPr>
          <a:xfrm>
            <a:off x="292608" y="3739896"/>
            <a:ext cx="9098280" cy="621792"/>
          </a:xfrm>
          <a:prstGeom prst="roundRect">
            <a:avLst>
              <a:gd name="adj" fmla="val 11765"/>
            </a:avLst>
          </a:prstGeom>
          <a:solidFill>
            <a:srgbClr val="FFFFFF"/>
          </a:solidFill>
          <a:ln w="12700">
            <a:solidFill>
              <a:srgbClr val="D8E4E8"/>
            </a:solidFill>
            <a:prstDash val="solid"/>
          </a:ln>
        </p:spPr>
        <p:txBody>
          <a:bodyPr/>
          <a:lstStyle/>
          <a:p>
            <a:endParaRPr lang="es-ES"/>
          </a:p>
        </p:txBody>
      </p:sp>
      <p:sp>
        <p:nvSpPr>
          <p:cNvPr id="11" name="Text 9"/>
          <p:cNvSpPr/>
          <p:nvPr/>
        </p:nvSpPr>
        <p:spPr>
          <a:xfrm>
            <a:off x="502920" y="3822192"/>
            <a:ext cx="850392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4 · Generar un resumen de una reunión</a:t>
            </a:r>
            <a:endParaRPr lang="en-US" sz="1450" dirty="0"/>
          </a:p>
        </p:txBody>
      </p:sp>
      <p:sp>
        <p:nvSpPr>
          <p:cNvPr id="12" name="Shape 10"/>
          <p:cNvSpPr/>
          <p:nvPr/>
        </p:nvSpPr>
        <p:spPr>
          <a:xfrm>
            <a:off x="292608" y="4544568"/>
            <a:ext cx="9098280" cy="621792"/>
          </a:xfrm>
          <a:prstGeom prst="roundRect">
            <a:avLst>
              <a:gd name="adj" fmla="val 11765"/>
            </a:avLst>
          </a:prstGeom>
          <a:solidFill>
            <a:srgbClr val="FFFFFF"/>
          </a:solidFill>
          <a:ln w="12700">
            <a:solidFill>
              <a:srgbClr val="D8E4E8"/>
            </a:solidFill>
            <a:prstDash val="solid"/>
          </a:ln>
        </p:spPr>
        <p:txBody>
          <a:bodyPr/>
          <a:lstStyle/>
          <a:p>
            <a:endParaRPr lang="es-ES"/>
          </a:p>
        </p:txBody>
      </p:sp>
      <p:sp>
        <p:nvSpPr>
          <p:cNvPr id="13" name="Text 11"/>
          <p:cNvSpPr/>
          <p:nvPr/>
        </p:nvSpPr>
        <p:spPr>
          <a:xfrm>
            <a:off x="502920" y="4626864"/>
            <a:ext cx="8503920" cy="438912"/>
          </a:xfrm>
          <a:prstGeom prst="rect">
            <a:avLst/>
          </a:prstGeom>
          <a:noFill/>
          <a:ln/>
        </p:spPr>
        <p:txBody>
          <a:bodyPr wrap="square" lIns="0" tIns="0" rIns="0" bIns="0" rtlCol="0" anchor="ctr">
            <a:normAutofit/>
          </a:bodyPr>
          <a:lstStyle/>
          <a:p>
            <a:pPr marL="0" indent="0" algn="l">
              <a:buNone/>
            </a:pPr>
            <a:r>
              <a:rPr lang="en-US" sz="1450" b="1" dirty="0">
                <a:solidFill>
                  <a:srgbClr val="0B2F3A"/>
                </a:solidFill>
                <a:latin typeface="Inter" pitchFamily="34" charset="0"/>
                <a:ea typeface="Inter" pitchFamily="34" charset="-122"/>
                <a:cs typeface="Inter" pitchFamily="34" charset="-120"/>
              </a:rPr>
              <a:t>5 · Recomendar qué candidatura pasa de fase</a:t>
            </a:r>
            <a:endParaRPr lang="en-US" sz="1450" dirty="0"/>
          </a:p>
        </p:txBody>
      </p:sp>
      <p:sp>
        <p:nvSpPr>
          <p:cNvPr id="14" name="Shape 12"/>
          <p:cNvSpPr/>
          <p:nvPr/>
        </p:nvSpPr>
        <p:spPr>
          <a:xfrm>
            <a:off x="9692640" y="1325880"/>
            <a:ext cx="2057400" cy="3840480"/>
          </a:xfrm>
          <a:prstGeom prst="roundRect">
            <a:avLst>
              <a:gd name="adj" fmla="val 3556"/>
            </a:avLst>
          </a:prstGeom>
          <a:solidFill>
            <a:srgbClr val="EAF3F6"/>
          </a:solidFill>
          <a:ln w="12700">
            <a:solidFill>
              <a:srgbClr val="EAF3F6"/>
            </a:solidFill>
            <a:prstDash val="solid"/>
          </a:ln>
        </p:spPr>
        <p:txBody>
          <a:bodyPr/>
          <a:lstStyle/>
          <a:p>
            <a:endParaRPr lang="es-ES"/>
          </a:p>
        </p:txBody>
      </p:sp>
      <p:sp>
        <p:nvSpPr>
          <p:cNvPr id="15" name="Text 13"/>
          <p:cNvSpPr/>
          <p:nvPr/>
        </p:nvSpPr>
        <p:spPr>
          <a:xfrm>
            <a:off x="9921240" y="1572768"/>
            <a:ext cx="1097280" cy="228600"/>
          </a:xfrm>
          <a:prstGeom prst="rect">
            <a:avLst/>
          </a:prstGeom>
          <a:noFill/>
          <a:ln/>
        </p:spPr>
        <p:txBody>
          <a:bodyPr wrap="square" lIns="0" tIns="0" rIns="0" bIns="0" rtlCol="0" anchor="ctr"/>
          <a:lstStyle/>
          <a:p>
            <a:pPr marL="0" indent="0">
              <a:buNone/>
            </a:pPr>
            <a:r>
              <a:rPr lang="en-US" sz="1300" b="1" dirty="0">
                <a:solidFill>
                  <a:srgbClr val="C66019"/>
                </a:solidFill>
                <a:latin typeface="Inter" pitchFamily="34" charset="0"/>
                <a:ea typeface="Inter" pitchFamily="34" charset="-122"/>
                <a:cs typeface="Inter" pitchFamily="34" charset="-120"/>
              </a:rPr>
              <a:t>PISTA</a:t>
            </a:r>
            <a:endParaRPr lang="en-US" sz="1300" dirty="0"/>
          </a:p>
        </p:txBody>
      </p:sp>
      <p:sp>
        <p:nvSpPr>
          <p:cNvPr id="16" name="Text 14"/>
          <p:cNvSpPr/>
          <p:nvPr/>
        </p:nvSpPr>
        <p:spPr>
          <a:xfrm>
            <a:off x="9921240" y="2011680"/>
            <a:ext cx="1444752" cy="2606040"/>
          </a:xfrm>
          <a:prstGeom prst="rect">
            <a:avLst/>
          </a:prstGeom>
          <a:noFill/>
          <a:ln/>
        </p:spPr>
        <p:txBody>
          <a:bodyPr wrap="square" lIns="0" tIns="0" rIns="0" bIns="0" rtlCol="0" anchor="t">
            <a:normAutofit/>
          </a:bodyPr>
          <a:lstStyle/>
          <a:p>
            <a:pPr marL="0" indent="0" algn="l">
              <a:buNone/>
            </a:pPr>
            <a:r>
              <a:rPr lang="en-US" sz="1350" b="1" dirty="0">
                <a:solidFill>
                  <a:srgbClr val="0B2F3A"/>
                </a:solidFill>
                <a:latin typeface="Inter" pitchFamily="34" charset="0"/>
                <a:ea typeface="Inter" pitchFamily="34" charset="-122"/>
                <a:cs typeface="Inter" pitchFamily="34" charset="-120"/>
              </a:rPr>
              <a:t>La clave no es que el sistema sea rápido o automático. Pregunta si infiere patrones o genera predicciones, contenidos, recomendaciones o decisiones.</a:t>
            </a:r>
            <a:endParaRPr lang="en-US" sz="1350" dirty="0"/>
          </a:p>
        </p:txBody>
      </p:sp>
      <p:sp>
        <p:nvSpPr>
          <p:cNvPr id="17" name="Shape 15"/>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8" name="Text 16"/>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¿Es IA o no es IA?</a:t>
            </a:r>
            <a:endParaRPr lang="en-US" sz="2400" dirty="0"/>
          </a:p>
        </p:txBody>
      </p:sp>
      <p:sp>
        <p:nvSpPr>
          <p:cNvPr id="4" name="Text 2"/>
          <p:cNvSpPr/>
          <p:nvPr/>
        </p:nvSpPr>
        <p:spPr>
          <a:xfrm>
            <a:off x="658368" y="1078992"/>
            <a:ext cx="5943600" cy="310896"/>
          </a:xfrm>
          <a:prstGeom prst="rect">
            <a:avLst/>
          </a:prstGeom>
          <a:noFill/>
          <a:ln/>
        </p:spPr>
        <p:txBody>
          <a:bodyPr wrap="square" lIns="0" tIns="0" rIns="0" bIns="0" rtlCol="0" anchor="ctr"/>
          <a:lstStyle/>
          <a:p>
            <a:pPr marL="0" indent="0">
              <a:buNone/>
            </a:pPr>
            <a:r>
              <a:rPr lang="en-US" sz="1600" b="1" dirty="0">
                <a:solidFill>
                  <a:srgbClr val="1D3461"/>
                </a:solidFill>
                <a:latin typeface="Inter" pitchFamily="34" charset="0"/>
                <a:ea typeface="Inter" pitchFamily="34" charset="-122"/>
                <a:cs typeface="Inter" pitchFamily="34" charset="-120"/>
              </a:rPr>
              <a:t>Completa la clasificación de los cinco casos.</a:t>
            </a:r>
            <a:endParaRPr lang="en-US" sz="1600" dirty="0"/>
          </a:p>
        </p:txBody>
      </p:sp>
      <p:sp>
        <p:nvSpPr>
          <p:cNvPr id="5" name="Shape 3"/>
          <p:cNvSpPr/>
          <p:nvPr/>
        </p:nvSpPr>
        <p:spPr>
          <a:xfrm>
            <a:off x="658368" y="1554480"/>
            <a:ext cx="676656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6" name="Text 4"/>
          <p:cNvSpPr/>
          <p:nvPr/>
        </p:nvSpPr>
        <p:spPr>
          <a:xfrm>
            <a:off x="804672" y="1700784"/>
            <a:ext cx="256032" cy="32004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7" name="Text 5"/>
          <p:cNvSpPr/>
          <p:nvPr/>
        </p:nvSpPr>
        <p:spPr>
          <a:xfrm>
            <a:off x="1097280" y="1627632"/>
            <a:ext cx="6199632" cy="402336"/>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Informe programado cada viernes</a:t>
            </a:r>
            <a:endParaRPr lang="en-US" sz="1350" dirty="0"/>
          </a:p>
        </p:txBody>
      </p:sp>
      <p:sp>
        <p:nvSpPr>
          <p:cNvPr id="8" name="Shape 6"/>
          <p:cNvSpPr/>
          <p:nvPr/>
        </p:nvSpPr>
        <p:spPr>
          <a:xfrm>
            <a:off x="658368" y="2267712"/>
            <a:ext cx="676656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804672" y="2414016"/>
            <a:ext cx="256032" cy="32004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0" name="Text 8"/>
          <p:cNvSpPr/>
          <p:nvPr/>
        </p:nvSpPr>
        <p:spPr>
          <a:xfrm>
            <a:off x="1097280" y="2340864"/>
            <a:ext cx="6199632" cy="402336"/>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Agrupar reclamaciones sin categorías previas</a:t>
            </a:r>
            <a:endParaRPr lang="en-US" sz="1350" dirty="0"/>
          </a:p>
        </p:txBody>
      </p:sp>
      <p:sp>
        <p:nvSpPr>
          <p:cNvPr id="11" name="Shape 9"/>
          <p:cNvSpPr/>
          <p:nvPr/>
        </p:nvSpPr>
        <p:spPr>
          <a:xfrm>
            <a:off x="658368" y="2980944"/>
            <a:ext cx="676656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804672" y="3127248"/>
            <a:ext cx="256032" cy="32004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3" name="Text 11"/>
          <p:cNvSpPr/>
          <p:nvPr/>
        </p:nvSpPr>
        <p:spPr>
          <a:xfrm>
            <a:off x="1097280" y="3054096"/>
            <a:ext cx="6199632" cy="402336"/>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Sumar una columna de importes</a:t>
            </a:r>
            <a:endParaRPr lang="en-US" sz="1350" dirty="0"/>
          </a:p>
        </p:txBody>
      </p:sp>
      <p:sp>
        <p:nvSpPr>
          <p:cNvPr id="14" name="Shape 12"/>
          <p:cNvSpPr/>
          <p:nvPr/>
        </p:nvSpPr>
        <p:spPr>
          <a:xfrm>
            <a:off x="658368" y="3694176"/>
            <a:ext cx="676656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804672" y="3840480"/>
            <a:ext cx="256032" cy="32004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4.</a:t>
            </a:r>
            <a:endParaRPr lang="en-US" sz="1350" dirty="0"/>
          </a:p>
        </p:txBody>
      </p:sp>
      <p:sp>
        <p:nvSpPr>
          <p:cNvPr id="16" name="Text 14"/>
          <p:cNvSpPr/>
          <p:nvPr/>
        </p:nvSpPr>
        <p:spPr>
          <a:xfrm>
            <a:off x="1097280" y="3767328"/>
            <a:ext cx="6199632" cy="402336"/>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Generar un resumen de una reunión</a:t>
            </a:r>
            <a:endParaRPr lang="en-US" sz="1350" dirty="0"/>
          </a:p>
        </p:txBody>
      </p:sp>
      <p:sp>
        <p:nvSpPr>
          <p:cNvPr id="17" name="Shape 15"/>
          <p:cNvSpPr/>
          <p:nvPr/>
        </p:nvSpPr>
        <p:spPr>
          <a:xfrm>
            <a:off x="658368" y="4407408"/>
            <a:ext cx="676656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18" name="Text 16"/>
          <p:cNvSpPr/>
          <p:nvPr/>
        </p:nvSpPr>
        <p:spPr>
          <a:xfrm>
            <a:off x="804672" y="4553712"/>
            <a:ext cx="256032" cy="32004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5.</a:t>
            </a:r>
            <a:endParaRPr lang="en-US" sz="1350" dirty="0"/>
          </a:p>
        </p:txBody>
      </p:sp>
      <p:sp>
        <p:nvSpPr>
          <p:cNvPr id="19" name="Text 17"/>
          <p:cNvSpPr/>
          <p:nvPr/>
        </p:nvSpPr>
        <p:spPr>
          <a:xfrm>
            <a:off x="1097280" y="4480560"/>
            <a:ext cx="6199632" cy="402336"/>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Recomendar qué candidatura pasa de fase</a:t>
            </a:r>
            <a:endParaRPr lang="en-US" sz="1350" dirty="0"/>
          </a:p>
        </p:txBody>
      </p:sp>
      <p:sp>
        <p:nvSpPr>
          <p:cNvPr id="20" name="Text 18"/>
          <p:cNvSpPr/>
          <p:nvPr/>
        </p:nvSpPr>
        <p:spPr>
          <a:xfrm>
            <a:off x="7726680" y="1572768"/>
            <a:ext cx="2834640" cy="256032"/>
          </a:xfrm>
          <a:prstGeom prst="rect">
            <a:avLst/>
          </a:prstGeom>
          <a:noFill/>
          <a:ln/>
        </p:spPr>
        <p:txBody>
          <a:bodyPr wrap="square" lIns="0" tIns="0" rIns="0" bIns="0" rtlCol="0" anchor="ctr"/>
          <a:lstStyle/>
          <a:p>
            <a:pPr marL="0" indent="0">
              <a:buNone/>
            </a:pPr>
            <a:r>
              <a:rPr lang="en-US" sz="1450" b="1" dirty="0">
                <a:solidFill>
                  <a:srgbClr val="C66019"/>
                </a:solidFill>
                <a:latin typeface="Inter" pitchFamily="34" charset="0"/>
                <a:ea typeface="Inter" pitchFamily="34" charset="-122"/>
                <a:cs typeface="Inter" pitchFamily="34" charset="-120"/>
              </a:rPr>
              <a:t>Opciones de clasificación</a:t>
            </a:r>
            <a:endParaRPr lang="en-US" sz="1450" dirty="0"/>
          </a:p>
        </p:txBody>
      </p:sp>
      <p:sp>
        <p:nvSpPr>
          <p:cNvPr id="21" name="Shape 19"/>
          <p:cNvSpPr/>
          <p:nvPr/>
        </p:nvSpPr>
        <p:spPr>
          <a:xfrm>
            <a:off x="7726680" y="1920240"/>
            <a:ext cx="3383280" cy="420624"/>
          </a:xfrm>
          <a:prstGeom prst="roundRect">
            <a:avLst>
              <a:gd name="adj" fmla="val 17391"/>
            </a:avLst>
          </a:prstGeom>
          <a:solidFill>
            <a:srgbClr val="EAF3F6"/>
          </a:solidFill>
          <a:ln w="12700">
            <a:solidFill>
              <a:srgbClr val="D8E4E8"/>
            </a:solidFill>
            <a:prstDash val="solid"/>
          </a:ln>
        </p:spPr>
        <p:txBody>
          <a:bodyPr/>
          <a:lstStyle/>
          <a:p>
            <a:endParaRPr lang="es-ES"/>
          </a:p>
        </p:txBody>
      </p:sp>
      <p:sp>
        <p:nvSpPr>
          <p:cNvPr id="22" name="Text 20"/>
          <p:cNvSpPr/>
          <p:nvPr/>
        </p:nvSpPr>
        <p:spPr>
          <a:xfrm>
            <a:off x="7909560" y="1984248"/>
            <a:ext cx="3017520" cy="256032"/>
          </a:xfrm>
          <a:prstGeom prst="rect">
            <a:avLst/>
          </a:prstGeom>
          <a:noFill/>
          <a:ln/>
        </p:spPr>
        <p:txBody>
          <a:bodyPr wrap="square" lIns="0" tIns="0" rIns="0" bIns="0" rtlCol="0" anchor="ctr">
            <a:normAutofit/>
          </a:bodyPr>
          <a:lstStyle/>
          <a:p>
            <a:pPr marL="0" indent="0" algn="l">
              <a:buNone/>
            </a:pPr>
            <a:r>
              <a:rPr lang="en-US" sz="1250" b="1" dirty="0">
                <a:solidFill>
                  <a:srgbClr val="0B2F3A"/>
                </a:solidFill>
                <a:latin typeface="Inter" pitchFamily="34" charset="0"/>
                <a:ea typeface="Inter" pitchFamily="34" charset="-122"/>
                <a:cs typeface="Inter" pitchFamily="34" charset="-120"/>
              </a:rPr>
              <a:t>Automatización</a:t>
            </a:r>
            <a:endParaRPr lang="en-US" sz="1250" dirty="0"/>
          </a:p>
        </p:txBody>
      </p:sp>
      <p:sp>
        <p:nvSpPr>
          <p:cNvPr id="23" name="Shape 21"/>
          <p:cNvSpPr/>
          <p:nvPr/>
        </p:nvSpPr>
        <p:spPr>
          <a:xfrm>
            <a:off x="7726680" y="2505456"/>
            <a:ext cx="3383280" cy="420624"/>
          </a:xfrm>
          <a:prstGeom prst="roundRect">
            <a:avLst>
              <a:gd name="adj" fmla="val 17391"/>
            </a:avLst>
          </a:prstGeom>
          <a:solidFill>
            <a:srgbClr val="FFF6EF"/>
          </a:solidFill>
          <a:ln w="12700">
            <a:solidFill>
              <a:srgbClr val="D8E4E8"/>
            </a:solidFill>
            <a:prstDash val="solid"/>
          </a:ln>
        </p:spPr>
        <p:txBody>
          <a:bodyPr/>
          <a:lstStyle/>
          <a:p>
            <a:endParaRPr lang="es-ES"/>
          </a:p>
        </p:txBody>
      </p:sp>
      <p:sp>
        <p:nvSpPr>
          <p:cNvPr id="24" name="Text 22"/>
          <p:cNvSpPr/>
          <p:nvPr/>
        </p:nvSpPr>
        <p:spPr>
          <a:xfrm>
            <a:off x="7909560" y="2569464"/>
            <a:ext cx="3017520" cy="256032"/>
          </a:xfrm>
          <a:prstGeom prst="rect">
            <a:avLst/>
          </a:prstGeom>
          <a:noFill/>
          <a:ln/>
        </p:spPr>
        <p:txBody>
          <a:bodyPr wrap="square" lIns="0" tIns="0" rIns="0" bIns="0" rtlCol="0" anchor="ctr">
            <a:normAutofit/>
          </a:bodyPr>
          <a:lstStyle/>
          <a:p>
            <a:pPr marL="0" indent="0" algn="l">
              <a:buNone/>
            </a:pPr>
            <a:r>
              <a:rPr lang="en-US" sz="1250" b="1" dirty="0">
                <a:solidFill>
                  <a:srgbClr val="0B2F3A"/>
                </a:solidFill>
                <a:latin typeface="Inter" pitchFamily="34" charset="0"/>
                <a:ea typeface="Inter" pitchFamily="34" charset="-122"/>
                <a:cs typeface="Inter" pitchFamily="34" charset="-120"/>
              </a:rPr>
              <a:t>IA no supervisada</a:t>
            </a:r>
            <a:endParaRPr lang="en-US" sz="1250" dirty="0"/>
          </a:p>
        </p:txBody>
      </p:sp>
      <p:sp>
        <p:nvSpPr>
          <p:cNvPr id="25" name="Shape 23"/>
          <p:cNvSpPr/>
          <p:nvPr/>
        </p:nvSpPr>
        <p:spPr>
          <a:xfrm>
            <a:off x="7726680" y="3090672"/>
            <a:ext cx="3383280" cy="420624"/>
          </a:xfrm>
          <a:prstGeom prst="roundRect">
            <a:avLst>
              <a:gd name="adj" fmla="val 17391"/>
            </a:avLst>
          </a:prstGeom>
          <a:solidFill>
            <a:srgbClr val="EAF3F6"/>
          </a:solidFill>
          <a:ln w="12700">
            <a:solidFill>
              <a:srgbClr val="D8E4E8"/>
            </a:solidFill>
            <a:prstDash val="solid"/>
          </a:ln>
        </p:spPr>
        <p:txBody>
          <a:bodyPr/>
          <a:lstStyle/>
          <a:p>
            <a:endParaRPr lang="es-ES"/>
          </a:p>
        </p:txBody>
      </p:sp>
      <p:sp>
        <p:nvSpPr>
          <p:cNvPr id="26" name="Text 24"/>
          <p:cNvSpPr/>
          <p:nvPr/>
        </p:nvSpPr>
        <p:spPr>
          <a:xfrm>
            <a:off x="7909560" y="3154680"/>
            <a:ext cx="3017520" cy="256032"/>
          </a:xfrm>
          <a:prstGeom prst="rect">
            <a:avLst/>
          </a:prstGeom>
          <a:noFill/>
          <a:ln/>
        </p:spPr>
        <p:txBody>
          <a:bodyPr wrap="square" lIns="0" tIns="0" rIns="0" bIns="0" rtlCol="0" anchor="ctr">
            <a:normAutofit/>
          </a:bodyPr>
          <a:lstStyle/>
          <a:p>
            <a:pPr marL="0" indent="0" algn="l">
              <a:buNone/>
            </a:pPr>
            <a:r>
              <a:rPr lang="en-US" sz="1250" b="1" dirty="0">
                <a:solidFill>
                  <a:srgbClr val="0B2F3A"/>
                </a:solidFill>
                <a:latin typeface="Inter" pitchFamily="34" charset="0"/>
                <a:ea typeface="Inter" pitchFamily="34" charset="-122"/>
                <a:cs typeface="Inter" pitchFamily="34" charset="-120"/>
              </a:rPr>
              <a:t>Operación automática</a:t>
            </a:r>
            <a:endParaRPr lang="en-US" sz="1250" dirty="0"/>
          </a:p>
        </p:txBody>
      </p:sp>
      <p:sp>
        <p:nvSpPr>
          <p:cNvPr id="27" name="Shape 25"/>
          <p:cNvSpPr/>
          <p:nvPr/>
        </p:nvSpPr>
        <p:spPr>
          <a:xfrm>
            <a:off x="7726680" y="3675888"/>
            <a:ext cx="3383280" cy="420624"/>
          </a:xfrm>
          <a:prstGeom prst="roundRect">
            <a:avLst>
              <a:gd name="adj" fmla="val 17391"/>
            </a:avLst>
          </a:prstGeom>
          <a:solidFill>
            <a:srgbClr val="FFF6EF"/>
          </a:solidFill>
          <a:ln w="12700">
            <a:solidFill>
              <a:srgbClr val="D8E4E8"/>
            </a:solidFill>
            <a:prstDash val="solid"/>
          </a:ln>
        </p:spPr>
        <p:txBody>
          <a:bodyPr/>
          <a:lstStyle/>
          <a:p>
            <a:endParaRPr lang="es-ES"/>
          </a:p>
        </p:txBody>
      </p:sp>
      <p:sp>
        <p:nvSpPr>
          <p:cNvPr id="28" name="Text 26"/>
          <p:cNvSpPr/>
          <p:nvPr/>
        </p:nvSpPr>
        <p:spPr>
          <a:xfrm>
            <a:off x="7909560" y="3739896"/>
            <a:ext cx="3017520" cy="256032"/>
          </a:xfrm>
          <a:prstGeom prst="rect">
            <a:avLst/>
          </a:prstGeom>
          <a:noFill/>
          <a:ln/>
        </p:spPr>
        <p:txBody>
          <a:bodyPr wrap="square" lIns="0" tIns="0" rIns="0" bIns="0" rtlCol="0" anchor="ctr">
            <a:normAutofit/>
          </a:bodyPr>
          <a:lstStyle/>
          <a:p>
            <a:pPr marL="0" indent="0" algn="l">
              <a:buNone/>
            </a:pPr>
            <a:r>
              <a:rPr lang="en-US" sz="1250" b="1" dirty="0">
                <a:solidFill>
                  <a:srgbClr val="0B2F3A"/>
                </a:solidFill>
                <a:latin typeface="Inter" pitchFamily="34" charset="0"/>
                <a:ea typeface="Inter" pitchFamily="34" charset="-122"/>
                <a:cs typeface="Inter" pitchFamily="34" charset="-120"/>
              </a:rPr>
              <a:t>IA generativa</a:t>
            </a:r>
            <a:endParaRPr lang="en-US" sz="1250" dirty="0"/>
          </a:p>
        </p:txBody>
      </p:sp>
      <p:sp>
        <p:nvSpPr>
          <p:cNvPr id="29" name="Shape 27"/>
          <p:cNvSpPr/>
          <p:nvPr/>
        </p:nvSpPr>
        <p:spPr>
          <a:xfrm>
            <a:off x="7726680" y="4261104"/>
            <a:ext cx="3383280" cy="420624"/>
          </a:xfrm>
          <a:prstGeom prst="roundRect">
            <a:avLst>
              <a:gd name="adj" fmla="val 17391"/>
            </a:avLst>
          </a:prstGeom>
          <a:solidFill>
            <a:srgbClr val="EAF3F6"/>
          </a:solidFill>
          <a:ln w="12700">
            <a:solidFill>
              <a:srgbClr val="D8E4E8"/>
            </a:solidFill>
            <a:prstDash val="solid"/>
          </a:ln>
        </p:spPr>
        <p:txBody>
          <a:bodyPr/>
          <a:lstStyle/>
          <a:p>
            <a:endParaRPr lang="es-ES"/>
          </a:p>
        </p:txBody>
      </p:sp>
      <p:sp>
        <p:nvSpPr>
          <p:cNvPr id="30" name="Text 28"/>
          <p:cNvSpPr/>
          <p:nvPr/>
        </p:nvSpPr>
        <p:spPr>
          <a:xfrm>
            <a:off x="7909560" y="4325112"/>
            <a:ext cx="3017520" cy="256032"/>
          </a:xfrm>
          <a:prstGeom prst="rect">
            <a:avLst/>
          </a:prstGeom>
          <a:noFill/>
          <a:ln/>
        </p:spPr>
        <p:txBody>
          <a:bodyPr wrap="square" lIns="0" tIns="0" rIns="0" bIns="0" rtlCol="0" anchor="ctr">
            <a:normAutofit/>
          </a:bodyPr>
          <a:lstStyle/>
          <a:p>
            <a:pPr marL="0" indent="0" algn="l">
              <a:buNone/>
            </a:pPr>
            <a:r>
              <a:rPr lang="en-US" sz="1250" b="1" dirty="0">
                <a:solidFill>
                  <a:srgbClr val="0B2F3A"/>
                </a:solidFill>
                <a:latin typeface="Inter" pitchFamily="34" charset="0"/>
                <a:ea typeface="Inter" pitchFamily="34" charset="-122"/>
                <a:cs typeface="Inter" pitchFamily="34" charset="-120"/>
              </a:rPr>
              <a:t>Sistema de IA</a:t>
            </a:r>
            <a:endParaRPr lang="en-US" sz="1250" dirty="0"/>
          </a:p>
        </p:txBody>
      </p:sp>
      <p:sp>
        <p:nvSpPr>
          <p:cNvPr id="31" name="Shape 29"/>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32" name="Text 30"/>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10 · LOS CUATRO ELEMENTOS BÁSICOS</a:t>
            </a:r>
            <a:endParaRPr lang="en-US" sz="2000" dirty="0"/>
          </a:p>
        </p:txBody>
      </p:sp>
      <p:sp>
        <p:nvSpPr>
          <p:cNvPr id="3" name="Shape 1"/>
          <p:cNvSpPr/>
          <p:nvPr/>
        </p:nvSpPr>
        <p:spPr>
          <a:xfrm>
            <a:off x="292608" y="1417320"/>
            <a:ext cx="2596896" cy="2331720"/>
          </a:xfrm>
          <a:prstGeom prst="roundRect">
            <a:avLst>
              <a:gd name="adj" fmla="val 3137"/>
            </a:avLst>
          </a:prstGeom>
          <a:solidFill>
            <a:srgbClr val="FFFFFF"/>
          </a:solidFill>
          <a:ln w="12700">
            <a:solidFill>
              <a:srgbClr val="D8E4E8"/>
            </a:solidFill>
            <a:prstDash val="solid"/>
          </a:ln>
        </p:spPr>
        <p:txBody>
          <a:bodyPr/>
          <a:lstStyle/>
          <a:p>
            <a:endParaRPr lang="es-ES"/>
          </a:p>
        </p:txBody>
      </p:sp>
      <p:sp>
        <p:nvSpPr>
          <p:cNvPr id="4" name="Shape 2"/>
          <p:cNvSpPr/>
          <p:nvPr/>
        </p:nvSpPr>
        <p:spPr>
          <a:xfrm>
            <a:off x="475488" y="1627632"/>
            <a:ext cx="457200" cy="457200"/>
          </a:xfrm>
          <a:prstGeom prst="roundRect">
            <a:avLst>
              <a:gd name="adj" fmla="val 16000"/>
            </a:avLst>
          </a:prstGeom>
          <a:solidFill>
            <a:srgbClr val="C66019"/>
          </a:solidFill>
          <a:ln w="12700">
            <a:solidFill>
              <a:srgbClr val="C66019"/>
            </a:solidFill>
            <a:prstDash val="solid"/>
          </a:ln>
        </p:spPr>
        <p:txBody>
          <a:bodyPr/>
          <a:lstStyle/>
          <a:p>
            <a:endParaRPr lang="es-ES"/>
          </a:p>
        </p:txBody>
      </p:sp>
      <p:sp>
        <p:nvSpPr>
          <p:cNvPr id="5" name="Text 3"/>
          <p:cNvSpPr/>
          <p:nvPr/>
        </p:nvSpPr>
        <p:spPr>
          <a:xfrm>
            <a:off x="475488" y="1682496"/>
            <a:ext cx="457200" cy="30175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Inter" pitchFamily="34" charset="0"/>
                <a:ea typeface="Inter" pitchFamily="34" charset="-122"/>
                <a:cs typeface="Inter" pitchFamily="34" charset="-120"/>
              </a:rPr>
              <a:t>1</a:t>
            </a:r>
            <a:endParaRPr lang="en-US" sz="1300" dirty="0"/>
          </a:p>
        </p:txBody>
      </p:sp>
      <p:sp>
        <p:nvSpPr>
          <p:cNvPr id="6" name="Text 4"/>
          <p:cNvSpPr/>
          <p:nvPr/>
        </p:nvSpPr>
        <p:spPr>
          <a:xfrm>
            <a:off x="475488" y="2304288"/>
            <a:ext cx="1691640" cy="256032"/>
          </a:xfrm>
          <a:prstGeom prst="rect">
            <a:avLst/>
          </a:prstGeom>
          <a:noFill/>
          <a:ln/>
        </p:spPr>
        <p:txBody>
          <a:bodyPr wrap="square" lIns="0" tIns="0" rIns="0" bIns="0" rtlCol="0" anchor="ctr"/>
          <a:lstStyle/>
          <a:p>
            <a:pPr marL="0" indent="0">
              <a:buNone/>
            </a:pPr>
            <a:r>
              <a:rPr lang="en-US" sz="1400" b="1" dirty="0">
                <a:solidFill>
                  <a:srgbClr val="0B2F3A"/>
                </a:solidFill>
                <a:latin typeface="Inter" pitchFamily="34" charset="0"/>
                <a:ea typeface="Inter" pitchFamily="34" charset="-122"/>
                <a:cs typeface="Inter" pitchFamily="34" charset="-120"/>
              </a:rPr>
              <a:t>DATOS</a:t>
            </a:r>
            <a:endParaRPr lang="en-US" sz="1400" dirty="0"/>
          </a:p>
        </p:txBody>
      </p:sp>
      <p:sp>
        <p:nvSpPr>
          <p:cNvPr id="7" name="Text 5"/>
          <p:cNvSpPr/>
          <p:nvPr/>
        </p:nvSpPr>
        <p:spPr>
          <a:xfrm>
            <a:off x="475488" y="2697480"/>
            <a:ext cx="1993392" cy="658368"/>
          </a:xfrm>
          <a:prstGeom prst="rect">
            <a:avLst/>
          </a:prstGeom>
          <a:noFill/>
          <a:ln/>
        </p:spPr>
        <p:txBody>
          <a:bodyPr wrap="square" lIns="0" tIns="0" rIns="0" bIns="0" rtlCol="0" anchor="ctr">
            <a:normAutofit/>
          </a:bodyPr>
          <a:lstStyle/>
          <a:p>
            <a:pPr marL="0" indent="0" algn="l">
              <a:buNone/>
            </a:pPr>
            <a:r>
              <a:rPr lang="en-US" sz="1320" dirty="0">
                <a:solidFill>
                  <a:srgbClr val="0B2F3A"/>
                </a:solidFill>
                <a:latin typeface="Inter" pitchFamily="34" charset="0"/>
                <a:ea typeface="Inter" pitchFamily="34" charset="-122"/>
                <a:cs typeface="Inter" pitchFamily="34" charset="-120"/>
              </a:rPr>
              <a:t>información que recibe el sistema</a:t>
            </a:r>
            <a:endParaRPr lang="en-US" sz="1320" dirty="0"/>
          </a:p>
        </p:txBody>
      </p:sp>
      <p:sp>
        <p:nvSpPr>
          <p:cNvPr id="8" name="Shape 6"/>
          <p:cNvSpPr/>
          <p:nvPr/>
        </p:nvSpPr>
        <p:spPr>
          <a:xfrm>
            <a:off x="3200400" y="1417320"/>
            <a:ext cx="2596896" cy="2331720"/>
          </a:xfrm>
          <a:prstGeom prst="roundRect">
            <a:avLst>
              <a:gd name="adj" fmla="val 3137"/>
            </a:avLst>
          </a:prstGeom>
          <a:solidFill>
            <a:srgbClr val="FFFFFF"/>
          </a:solidFill>
          <a:ln w="12700">
            <a:solidFill>
              <a:srgbClr val="D8E4E8"/>
            </a:solidFill>
            <a:prstDash val="solid"/>
          </a:ln>
        </p:spPr>
        <p:txBody>
          <a:bodyPr/>
          <a:lstStyle/>
          <a:p>
            <a:endParaRPr lang="es-ES"/>
          </a:p>
        </p:txBody>
      </p:sp>
      <p:sp>
        <p:nvSpPr>
          <p:cNvPr id="9" name="Shape 7"/>
          <p:cNvSpPr/>
          <p:nvPr/>
        </p:nvSpPr>
        <p:spPr>
          <a:xfrm>
            <a:off x="3383280" y="1627632"/>
            <a:ext cx="457200" cy="457200"/>
          </a:xfrm>
          <a:prstGeom prst="roundRect">
            <a:avLst>
              <a:gd name="adj" fmla="val 16000"/>
            </a:avLst>
          </a:prstGeom>
          <a:solidFill>
            <a:srgbClr val="C66019"/>
          </a:solidFill>
          <a:ln w="12700">
            <a:solidFill>
              <a:srgbClr val="C66019"/>
            </a:solidFill>
            <a:prstDash val="solid"/>
          </a:ln>
        </p:spPr>
        <p:txBody>
          <a:bodyPr/>
          <a:lstStyle/>
          <a:p>
            <a:endParaRPr lang="es-ES"/>
          </a:p>
        </p:txBody>
      </p:sp>
      <p:sp>
        <p:nvSpPr>
          <p:cNvPr id="10" name="Text 8"/>
          <p:cNvSpPr/>
          <p:nvPr/>
        </p:nvSpPr>
        <p:spPr>
          <a:xfrm>
            <a:off x="3383280" y="1682496"/>
            <a:ext cx="457200" cy="30175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Inter" pitchFamily="34" charset="0"/>
                <a:ea typeface="Inter" pitchFamily="34" charset="-122"/>
                <a:cs typeface="Inter" pitchFamily="34" charset="-120"/>
              </a:rPr>
              <a:t>2</a:t>
            </a:r>
            <a:endParaRPr lang="en-US" sz="1300" dirty="0"/>
          </a:p>
        </p:txBody>
      </p:sp>
      <p:sp>
        <p:nvSpPr>
          <p:cNvPr id="11" name="Text 9"/>
          <p:cNvSpPr/>
          <p:nvPr/>
        </p:nvSpPr>
        <p:spPr>
          <a:xfrm>
            <a:off x="3383280" y="2304288"/>
            <a:ext cx="1691640" cy="256032"/>
          </a:xfrm>
          <a:prstGeom prst="rect">
            <a:avLst/>
          </a:prstGeom>
          <a:noFill/>
          <a:ln/>
        </p:spPr>
        <p:txBody>
          <a:bodyPr wrap="square" lIns="0" tIns="0" rIns="0" bIns="0" rtlCol="0" anchor="ctr"/>
          <a:lstStyle/>
          <a:p>
            <a:pPr marL="0" indent="0">
              <a:buNone/>
            </a:pPr>
            <a:r>
              <a:rPr lang="en-US" sz="1400" b="1" dirty="0">
                <a:solidFill>
                  <a:srgbClr val="0B2F3A"/>
                </a:solidFill>
                <a:latin typeface="Inter" pitchFamily="34" charset="0"/>
                <a:ea typeface="Inter" pitchFamily="34" charset="-122"/>
                <a:cs typeface="Inter" pitchFamily="34" charset="-120"/>
              </a:rPr>
              <a:t>ALGORITMOS</a:t>
            </a:r>
            <a:endParaRPr lang="en-US" sz="1400" dirty="0"/>
          </a:p>
        </p:txBody>
      </p:sp>
      <p:sp>
        <p:nvSpPr>
          <p:cNvPr id="12" name="Text 10"/>
          <p:cNvSpPr/>
          <p:nvPr/>
        </p:nvSpPr>
        <p:spPr>
          <a:xfrm>
            <a:off x="3383280" y="2697480"/>
            <a:ext cx="1993392" cy="658368"/>
          </a:xfrm>
          <a:prstGeom prst="rect">
            <a:avLst/>
          </a:prstGeom>
          <a:noFill/>
          <a:ln/>
        </p:spPr>
        <p:txBody>
          <a:bodyPr wrap="square" lIns="0" tIns="0" rIns="0" bIns="0" rtlCol="0" anchor="ctr">
            <a:normAutofit/>
          </a:bodyPr>
          <a:lstStyle/>
          <a:p>
            <a:pPr marL="0" indent="0" algn="l">
              <a:buNone/>
            </a:pPr>
            <a:r>
              <a:rPr lang="en-US" sz="1320" dirty="0">
                <a:solidFill>
                  <a:srgbClr val="0B2F3A"/>
                </a:solidFill>
                <a:latin typeface="Inter" pitchFamily="34" charset="0"/>
                <a:ea typeface="Inter" pitchFamily="34" charset="-122"/>
                <a:cs typeface="Inter" pitchFamily="34" charset="-120"/>
              </a:rPr>
              <a:t>procedimientos para analizar la información</a:t>
            </a:r>
            <a:endParaRPr lang="en-US" sz="1320" dirty="0"/>
          </a:p>
        </p:txBody>
      </p:sp>
      <p:sp>
        <p:nvSpPr>
          <p:cNvPr id="13" name="Shape 11"/>
          <p:cNvSpPr/>
          <p:nvPr/>
        </p:nvSpPr>
        <p:spPr>
          <a:xfrm>
            <a:off x="6108192" y="1417320"/>
            <a:ext cx="2596896" cy="2331720"/>
          </a:xfrm>
          <a:prstGeom prst="roundRect">
            <a:avLst>
              <a:gd name="adj" fmla="val 3137"/>
            </a:avLst>
          </a:prstGeom>
          <a:solidFill>
            <a:srgbClr val="FFFFFF"/>
          </a:solidFill>
          <a:ln w="12700">
            <a:solidFill>
              <a:srgbClr val="D8E4E8"/>
            </a:solidFill>
            <a:prstDash val="solid"/>
          </a:ln>
        </p:spPr>
        <p:txBody>
          <a:bodyPr/>
          <a:lstStyle/>
          <a:p>
            <a:endParaRPr lang="es-ES"/>
          </a:p>
        </p:txBody>
      </p:sp>
      <p:sp>
        <p:nvSpPr>
          <p:cNvPr id="14" name="Shape 12"/>
          <p:cNvSpPr/>
          <p:nvPr/>
        </p:nvSpPr>
        <p:spPr>
          <a:xfrm>
            <a:off x="6291072" y="1627632"/>
            <a:ext cx="457200" cy="457200"/>
          </a:xfrm>
          <a:prstGeom prst="roundRect">
            <a:avLst>
              <a:gd name="adj" fmla="val 16000"/>
            </a:avLst>
          </a:prstGeom>
          <a:solidFill>
            <a:srgbClr val="C66019"/>
          </a:solidFill>
          <a:ln w="12700">
            <a:solidFill>
              <a:srgbClr val="C66019"/>
            </a:solidFill>
            <a:prstDash val="solid"/>
          </a:ln>
        </p:spPr>
        <p:txBody>
          <a:bodyPr/>
          <a:lstStyle/>
          <a:p>
            <a:endParaRPr lang="es-ES"/>
          </a:p>
        </p:txBody>
      </p:sp>
      <p:sp>
        <p:nvSpPr>
          <p:cNvPr id="15" name="Text 13"/>
          <p:cNvSpPr/>
          <p:nvPr/>
        </p:nvSpPr>
        <p:spPr>
          <a:xfrm>
            <a:off x="6291072" y="1682496"/>
            <a:ext cx="457200" cy="30175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Inter" pitchFamily="34" charset="0"/>
                <a:ea typeface="Inter" pitchFamily="34" charset="-122"/>
                <a:cs typeface="Inter" pitchFamily="34" charset="-120"/>
              </a:rPr>
              <a:t>3</a:t>
            </a:r>
            <a:endParaRPr lang="en-US" sz="1300" dirty="0"/>
          </a:p>
        </p:txBody>
      </p:sp>
      <p:sp>
        <p:nvSpPr>
          <p:cNvPr id="16" name="Text 14"/>
          <p:cNvSpPr/>
          <p:nvPr/>
        </p:nvSpPr>
        <p:spPr>
          <a:xfrm>
            <a:off x="6291072" y="2304288"/>
            <a:ext cx="1691640" cy="256032"/>
          </a:xfrm>
          <a:prstGeom prst="rect">
            <a:avLst/>
          </a:prstGeom>
          <a:noFill/>
          <a:ln/>
        </p:spPr>
        <p:txBody>
          <a:bodyPr wrap="square" lIns="0" tIns="0" rIns="0" bIns="0" rtlCol="0" anchor="ctr"/>
          <a:lstStyle/>
          <a:p>
            <a:pPr marL="0" indent="0">
              <a:buNone/>
            </a:pPr>
            <a:r>
              <a:rPr lang="en-US" sz="1400" b="1" dirty="0">
                <a:solidFill>
                  <a:srgbClr val="0B2F3A"/>
                </a:solidFill>
                <a:latin typeface="Inter" pitchFamily="34" charset="0"/>
                <a:ea typeface="Inter" pitchFamily="34" charset="-122"/>
                <a:cs typeface="Inter" pitchFamily="34" charset="-120"/>
              </a:rPr>
              <a:t>MODELO</a:t>
            </a:r>
            <a:endParaRPr lang="en-US" sz="1400" dirty="0"/>
          </a:p>
        </p:txBody>
      </p:sp>
      <p:sp>
        <p:nvSpPr>
          <p:cNvPr id="17" name="Text 15"/>
          <p:cNvSpPr/>
          <p:nvPr/>
        </p:nvSpPr>
        <p:spPr>
          <a:xfrm>
            <a:off x="6291072" y="2697480"/>
            <a:ext cx="1993392" cy="658368"/>
          </a:xfrm>
          <a:prstGeom prst="rect">
            <a:avLst/>
          </a:prstGeom>
          <a:noFill/>
          <a:ln/>
        </p:spPr>
        <p:txBody>
          <a:bodyPr wrap="square" lIns="0" tIns="0" rIns="0" bIns="0" rtlCol="0" anchor="ctr">
            <a:normAutofit/>
          </a:bodyPr>
          <a:lstStyle/>
          <a:p>
            <a:pPr marL="0" indent="0" algn="l">
              <a:buNone/>
            </a:pPr>
            <a:r>
              <a:rPr lang="en-US" sz="1320" dirty="0">
                <a:solidFill>
                  <a:srgbClr val="0B2F3A"/>
                </a:solidFill>
                <a:latin typeface="Inter" pitchFamily="34" charset="0"/>
                <a:ea typeface="Inter" pitchFamily="34" charset="-122"/>
                <a:cs typeface="Inter" pitchFamily="34" charset="-120"/>
              </a:rPr>
              <a:t>representación o parámetros usados para generar resultados</a:t>
            </a:r>
            <a:endParaRPr lang="en-US" sz="1320" dirty="0"/>
          </a:p>
        </p:txBody>
      </p:sp>
      <p:sp>
        <p:nvSpPr>
          <p:cNvPr id="18" name="Shape 16"/>
          <p:cNvSpPr/>
          <p:nvPr/>
        </p:nvSpPr>
        <p:spPr>
          <a:xfrm>
            <a:off x="9015984" y="1417320"/>
            <a:ext cx="2596896" cy="2331720"/>
          </a:xfrm>
          <a:prstGeom prst="roundRect">
            <a:avLst>
              <a:gd name="adj" fmla="val 3137"/>
            </a:avLst>
          </a:prstGeom>
          <a:solidFill>
            <a:srgbClr val="FFFFFF"/>
          </a:solidFill>
          <a:ln w="12700">
            <a:solidFill>
              <a:srgbClr val="D8E4E8"/>
            </a:solidFill>
            <a:prstDash val="solid"/>
          </a:ln>
        </p:spPr>
        <p:txBody>
          <a:bodyPr/>
          <a:lstStyle/>
          <a:p>
            <a:endParaRPr lang="es-ES"/>
          </a:p>
        </p:txBody>
      </p:sp>
      <p:sp>
        <p:nvSpPr>
          <p:cNvPr id="19" name="Shape 17"/>
          <p:cNvSpPr/>
          <p:nvPr/>
        </p:nvSpPr>
        <p:spPr>
          <a:xfrm>
            <a:off x="9198864" y="1627632"/>
            <a:ext cx="457200" cy="457200"/>
          </a:xfrm>
          <a:prstGeom prst="roundRect">
            <a:avLst>
              <a:gd name="adj" fmla="val 16000"/>
            </a:avLst>
          </a:prstGeom>
          <a:solidFill>
            <a:srgbClr val="C66019"/>
          </a:solidFill>
          <a:ln w="12700">
            <a:solidFill>
              <a:srgbClr val="C66019"/>
            </a:solidFill>
            <a:prstDash val="solid"/>
          </a:ln>
        </p:spPr>
        <p:txBody>
          <a:bodyPr/>
          <a:lstStyle/>
          <a:p>
            <a:endParaRPr lang="es-ES"/>
          </a:p>
        </p:txBody>
      </p:sp>
      <p:sp>
        <p:nvSpPr>
          <p:cNvPr id="20" name="Text 18"/>
          <p:cNvSpPr/>
          <p:nvPr/>
        </p:nvSpPr>
        <p:spPr>
          <a:xfrm>
            <a:off x="9198864" y="1682496"/>
            <a:ext cx="457200" cy="30175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Inter" pitchFamily="34" charset="0"/>
                <a:ea typeface="Inter" pitchFamily="34" charset="-122"/>
                <a:cs typeface="Inter" pitchFamily="34" charset="-120"/>
              </a:rPr>
              <a:t>4</a:t>
            </a:r>
            <a:endParaRPr lang="en-US" sz="1300" dirty="0"/>
          </a:p>
        </p:txBody>
      </p:sp>
      <p:sp>
        <p:nvSpPr>
          <p:cNvPr id="21" name="Text 19"/>
          <p:cNvSpPr/>
          <p:nvPr/>
        </p:nvSpPr>
        <p:spPr>
          <a:xfrm>
            <a:off x="9198864" y="2304288"/>
            <a:ext cx="1691640" cy="256032"/>
          </a:xfrm>
          <a:prstGeom prst="rect">
            <a:avLst/>
          </a:prstGeom>
          <a:noFill/>
          <a:ln/>
        </p:spPr>
        <p:txBody>
          <a:bodyPr wrap="square" lIns="0" tIns="0" rIns="0" bIns="0" rtlCol="0" anchor="ctr"/>
          <a:lstStyle/>
          <a:p>
            <a:pPr marL="0" indent="0">
              <a:buNone/>
            </a:pPr>
            <a:r>
              <a:rPr lang="en-US" sz="1400" b="1" dirty="0">
                <a:solidFill>
                  <a:srgbClr val="0B2F3A"/>
                </a:solidFill>
                <a:latin typeface="Inter" pitchFamily="34" charset="0"/>
                <a:ea typeface="Inter" pitchFamily="34" charset="-122"/>
                <a:cs typeface="Inter" pitchFamily="34" charset="-120"/>
              </a:rPr>
              <a:t>RESULTADO</a:t>
            </a:r>
            <a:endParaRPr lang="en-US" sz="1400" dirty="0"/>
          </a:p>
        </p:txBody>
      </p:sp>
      <p:sp>
        <p:nvSpPr>
          <p:cNvPr id="22" name="Text 20"/>
          <p:cNvSpPr/>
          <p:nvPr/>
        </p:nvSpPr>
        <p:spPr>
          <a:xfrm>
            <a:off x="9198864" y="2697480"/>
            <a:ext cx="1993392" cy="658368"/>
          </a:xfrm>
          <a:prstGeom prst="rect">
            <a:avLst/>
          </a:prstGeom>
          <a:noFill/>
          <a:ln/>
        </p:spPr>
        <p:txBody>
          <a:bodyPr wrap="square" lIns="0" tIns="0" rIns="0" bIns="0" rtlCol="0" anchor="ctr">
            <a:normAutofit/>
          </a:bodyPr>
          <a:lstStyle/>
          <a:p>
            <a:pPr marL="0" indent="0" algn="l">
              <a:buNone/>
            </a:pPr>
            <a:r>
              <a:rPr lang="en-US" sz="1320" dirty="0">
                <a:solidFill>
                  <a:srgbClr val="0B2F3A"/>
                </a:solidFill>
                <a:latin typeface="Inter" pitchFamily="34" charset="0"/>
                <a:ea typeface="Inter" pitchFamily="34" charset="-122"/>
                <a:cs typeface="Inter" pitchFamily="34" charset="-120"/>
              </a:rPr>
              <a:t>predicción, contenido, recomendación, clasificación o decisión</a:t>
            </a:r>
            <a:endParaRPr lang="en-US" sz="1320" dirty="0"/>
          </a:p>
        </p:txBody>
      </p:sp>
      <p:sp>
        <p:nvSpPr>
          <p:cNvPr id="23" name="Shape 21"/>
          <p:cNvSpPr/>
          <p:nvPr/>
        </p:nvSpPr>
        <p:spPr>
          <a:xfrm>
            <a:off x="384048" y="4151376"/>
            <a:ext cx="11201400" cy="0"/>
          </a:xfrm>
          <a:prstGeom prst="line">
            <a:avLst/>
          </a:prstGeom>
          <a:noFill/>
          <a:ln w="17780">
            <a:solidFill>
              <a:srgbClr val="D8E4E8"/>
            </a:solidFill>
            <a:prstDash val="solid"/>
          </a:ln>
        </p:spPr>
        <p:txBody>
          <a:bodyPr/>
          <a:lstStyle/>
          <a:p>
            <a:endParaRPr lang="es-ES"/>
          </a:p>
        </p:txBody>
      </p:sp>
      <p:sp>
        <p:nvSpPr>
          <p:cNvPr id="24" name="Text 22"/>
          <p:cNvSpPr/>
          <p:nvPr/>
        </p:nvSpPr>
        <p:spPr>
          <a:xfrm>
            <a:off x="292608" y="4462272"/>
            <a:ext cx="11155680" cy="777240"/>
          </a:xfrm>
          <a:prstGeom prst="rect">
            <a:avLst/>
          </a:prstGeom>
          <a:noFill/>
          <a:ln/>
        </p:spPr>
        <p:txBody>
          <a:bodyPr wrap="square" lIns="0" tIns="0" rIns="0" bIns="0" rtlCol="0" anchor="ctr">
            <a:normAutofit/>
          </a:bodyPr>
          <a:lstStyle/>
          <a:p>
            <a:pPr marL="0" indent="0" algn="l">
              <a:buNone/>
            </a:pPr>
            <a:r>
              <a:rPr lang="en-US" sz="1420" dirty="0">
                <a:solidFill>
                  <a:srgbClr val="0B2F3A"/>
                </a:solidFill>
                <a:latin typeface="Inter" pitchFamily="34" charset="0"/>
                <a:ea typeface="Inter" pitchFamily="34" charset="-122"/>
                <a:cs typeface="Inter" pitchFamily="34" charset="-120"/>
              </a:rPr>
              <a:t>Ejemplo: un sistema que detecta mensajes fraudulentos puede entrenarse con miles de ejemplos clasificados y construir un modelo capaz de estimar si un mensaje nuevo presenta características similares.</a:t>
            </a:r>
            <a:endParaRPr lang="en-US" sz="1420" dirty="0"/>
          </a:p>
        </p:txBody>
      </p:sp>
      <p:sp>
        <p:nvSpPr>
          <p:cNvPr id="25" name="Shape 23"/>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6" name="Text 24"/>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11 · ENTRENAMIENTO, VALIDACIÓN, PRUEBA Y USO</a:t>
            </a:r>
            <a:endParaRPr lang="en-US" sz="2000" dirty="0"/>
          </a:p>
        </p:txBody>
      </p:sp>
      <p:sp>
        <p:nvSpPr>
          <p:cNvPr id="3" name="Shape 1"/>
          <p:cNvSpPr/>
          <p:nvPr/>
        </p:nvSpPr>
        <p:spPr>
          <a:xfrm>
            <a:off x="292608" y="1188720"/>
            <a:ext cx="11475720" cy="640080"/>
          </a:xfrm>
          <a:prstGeom prst="roundRect">
            <a:avLst>
              <a:gd name="adj" fmla="val 11429"/>
            </a:avLst>
          </a:prstGeom>
          <a:solidFill>
            <a:srgbClr val="EAF3F6"/>
          </a:solidFill>
          <a:ln w="12700">
            <a:solidFill>
              <a:srgbClr val="D8E4E8"/>
            </a:solidFill>
            <a:prstDash val="solid"/>
          </a:ln>
        </p:spPr>
        <p:txBody>
          <a:bodyPr/>
          <a:lstStyle/>
          <a:p>
            <a:endParaRPr lang="es-ES"/>
          </a:p>
        </p:txBody>
      </p:sp>
      <p:sp>
        <p:nvSpPr>
          <p:cNvPr id="4" name="Shape 2"/>
          <p:cNvSpPr/>
          <p:nvPr/>
        </p:nvSpPr>
        <p:spPr>
          <a:xfrm>
            <a:off x="475488" y="1307592"/>
            <a:ext cx="1517904" cy="402336"/>
          </a:xfrm>
          <a:prstGeom prst="roundRect">
            <a:avLst>
              <a:gd name="adj" fmla="val 18182"/>
            </a:avLst>
          </a:prstGeom>
          <a:solidFill>
            <a:srgbClr val="1B4D5C"/>
          </a:solidFill>
          <a:ln w="12700">
            <a:solidFill>
              <a:srgbClr val="1B4D5C"/>
            </a:solidFill>
            <a:prstDash val="solid"/>
          </a:ln>
        </p:spPr>
        <p:txBody>
          <a:bodyPr/>
          <a:lstStyle/>
          <a:p>
            <a:endParaRPr lang="es-ES"/>
          </a:p>
        </p:txBody>
      </p:sp>
      <p:sp>
        <p:nvSpPr>
          <p:cNvPr id="5" name="Text 3"/>
          <p:cNvSpPr/>
          <p:nvPr/>
        </p:nvSpPr>
        <p:spPr>
          <a:xfrm>
            <a:off x="566928" y="1362456"/>
            <a:ext cx="1325880" cy="256032"/>
          </a:xfrm>
          <a:prstGeom prst="rect">
            <a:avLst/>
          </a:prstGeom>
          <a:noFill/>
          <a:ln/>
        </p:spPr>
        <p:txBody>
          <a:bodyPr wrap="square" lIns="0" tIns="0" rIns="0" bIns="0" rtlCol="0" anchor="ctr">
            <a:normAutofit/>
          </a:bodyPr>
          <a:lstStyle/>
          <a:p>
            <a:pPr marL="0" indent="0" algn="ctr">
              <a:buNone/>
            </a:pPr>
            <a:r>
              <a:rPr lang="en-US" sz="1180" b="1" dirty="0">
                <a:solidFill>
                  <a:srgbClr val="FFFFFF"/>
                </a:solidFill>
                <a:latin typeface="Inter" pitchFamily="34" charset="0"/>
                <a:ea typeface="Inter" pitchFamily="34" charset="-122"/>
                <a:cs typeface="Inter" pitchFamily="34" charset="-120"/>
              </a:rPr>
              <a:t>ENTRENAMIENTO</a:t>
            </a:r>
            <a:endParaRPr lang="en-US" sz="1180" dirty="0"/>
          </a:p>
        </p:txBody>
      </p:sp>
      <p:sp>
        <p:nvSpPr>
          <p:cNvPr id="6" name="Text 4"/>
          <p:cNvSpPr/>
          <p:nvPr/>
        </p:nvSpPr>
        <p:spPr>
          <a:xfrm>
            <a:off x="2286000" y="1298448"/>
            <a:ext cx="8869680" cy="384048"/>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analiza ejemplos y ajusta parámetros</a:t>
            </a:r>
            <a:endParaRPr lang="en-US" sz="1550" dirty="0"/>
          </a:p>
        </p:txBody>
      </p:sp>
      <p:sp>
        <p:nvSpPr>
          <p:cNvPr id="7" name="Shape 5"/>
          <p:cNvSpPr/>
          <p:nvPr/>
        </p:nvSpPr>
        <p:spPr>
          <a:xfrm>
            <a:off x="292608" y="2057400"/>
            <a:ext cx="1147572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8" name="Shape 6"/>
          <p:cNvSpPr/>
          <p:nvPr/>
        </p:nvSpPr>
        <p:spPr>
          <a:xfrm>
            <a:off x="475488" y="2176272"/>
            <a:ext cx="1517904" cy="402336"/>
          </a:xfrm>
          <a:prstGeom prst="roundRect">
            <a:avLst>
              <a:gd name="adj" fmla="val 18182"/>
            </a:avLst>
          </a:prstGeom>
          <a:solidFill>
            <a:srgbClr val="1B4D5C"/>
          </a:solidFill>
          <a:ln w="12700">
            <a:solidFill>
              <a:srgbClr val="1B4D5C"/>
            </a:solidFill>
            <a:prstDash val="solid"/>
          </a:ln>
        </p:spPr>
        <p:txBody>
          <a:bodyPr/>
          <a:lstStyle/>
          <a:p>
            <a:endParaRPr lang="es-ES"/>
          </a:p>
        </p:txBody>
      </p:sp>
      <p:sp>
        <p:nvSpPr>
          <p:cNvPr id="9" name="Text 7"/>
          <p:cNvSpPr/>
          <p:nvPr/>
        </p:nvSpPr>
        <p:spPr>
          <a:xfrm>
            <a:off x="566928" y="2231136"/>
            <a:ext cx="1325880" cy="256032"/>
          </a:xfrm>
          <a:prstGeom prst="rect">
            <a:avLst/>
          </a:prstGeom>
          <a:noFill/>
          <a:ln/>
        </p:spPr>
        <p:txBody>
          <a:bodyPr wrap="square" lIns="0" tIns="0" rIns="0" bIns="0" rtlCol="0" anchor="ctr">
            <a:normAutofit/>
          </a:bodyPr>
          <a:lstStyle/>
          <a:p>
            <a:pPr marL="0" indent="0" algn="ctr">
              <a:buNone/>
            </a:pPr>
            <a:r>
              <a:rPr lang="en-US" sz="1180" b="1" dirty="0">
                <a:solidFill>
                  <a:srgbClr val="FFFFFF"/>
                </a:solidFill>
                <a:latin typeface="Inter" pitchFamily="34" charset="0"/>
                <a:ea typeface="Inter" pitchFamily="34" charset="-122"/>
                <a:cs typeface="Inter" pitchFamily="34" charset="-120"/>
              </a:rPr>
              <a:t>VALIDACIÓN</a:t>
            </a:r>
            <a:endParaRPr lang="en-US" sz="1180" dirty="0"/>
          </a:p>
        </p:txBody>
      </p:sp>
      <p:sp>
        <p:nvSpPr>
          <p:cNvPr id="10" name="Text 8"/>
          <p:cNvSpPr/>
          <p:nvPr/>
        </p:nvSpPr>
        <p:spPr>
          <a:xfrm>
            <a:off x="2286000" y="2167128"/>
            <a:ext cx="8869680" cy="384048"/>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comprueba comportamiento durante el desarrollo</a:t>
            </a:r>
            <a:endParaRPr lang="en-US" sz="1550" dirty="0"/>
          </a:p>
        </p:txBody>
      </p:sp>
      <p:sp>
        <p:nvSpPr>
          <p:cNvPr id="11" name="Shape 9"/>
          <p:cNvSpPr/>
          <p:nvPr/>
        </p:nvSpPr>
        <p:spPr>
          <a:xfrm>
            <a:off x="292608" y="2926080"/>
            <a:ext cx="11475720" cy="640080"/>
          </a:xfrm>
          <a:prstGeom prst="roundRect">
            <a:avLst>
              <a:gd name="adj" fmla="val 11429"/>
            </a:avLst>
          </a:prstGeom>
          <a:solidFill>
            <a:srgbClr val="EAF3F6"/>
          </a:solidFill>
          <a:ln w="12700">
            <a:solidFill>
              <a:srgbClr val="D8E4E8"/>
            </a:solidFill>
            <a:prstDash val="solid"/>
          </a:ln>
        </p:spPr>
        <p:txBody>
          <a:bodyPr/>
          <a:lstStyle/>
          <a:p>
            <a:endParaRPr lang="es-ES"/>
          </a:p>
        </p:txBody>
      </p:sp>
      <p:sp>
        <p:nvSpPr>
          <p:cNvPr id="12" name="Shape 10"/>
          <p:cNvSpPr/>
          <p:nvPr/>
        </p:nvSpPr>
        <p:spPr>
          <a:xfrm>
            <a:off x="475488" y="3044952"/>
            <a:ext cx="1517904" cy="402336"/>
          </a:xfrm>
          <a:prstGeom prst="roundRect">
            <a:avLst>
              <a:gd name="adj" fmla="val 18182"/>
            </a:avLst>
          </a:prstGeom>
          <a:solidFill>
            <a:srgbClr val="1B4D5C"/>
          </a:solidFill>
          <a:ln w="12700">
            <a:solidFill>
              <a:srgbClr val="1B4D5C"/>
            </a:solidFill>
            <a:prstDash val="solid"/>
          </a:ln>
        </p:spPr>
        <p:txBody>
          <a:bodyPr/>
          <a:lstStyle/>
          <a:p>
            <a:endParaRPr lang="es-ES"/>
          </a:p>
        </p:txBody>
      </p:sp>
      <p:sp>
        <p:nvSpPr>
          <p:cNvPr id="13" name="Text 11"/>
          <p:cNvSpPr/>
          <p:nvPr/>
        </p:nvSpPr>
        <p:spPr>
          <a:xfrm>
            <a:off x="566928" y="3099816"/>
            <a:ext cx="1325880" cy="256032"/>
          </a:xfrm>
          <a:prstGeom prst="rect">
            <a:avLst/>
          </a:prstGeom>
          <a:noFill/>
          <a:ln/>
        </p:spPr>
        <p:txBody>
          <a:bodyPr wrap="square" lIns="0" tIns="0" rIns="0" bIns="0" rtlCol="0" anchor="ctr">
            <a:normAutofit/>
          </a:bodyPr>
          <a:lstStyle/>
          <a:p>
            <a:pPr marL="0" indent="0" algn="ctr">
              <a:buNone/>
            </a:pPr>
            <a:r>
              <a:rPr lang="en-US" sz="1180" b="1" dirty="0">
                <a:solidFill>
                  <a:srgbClr val="FFFFFF"/>
                </a:solidFill>
                <a:latin typeface="Inter" pitchFamily="34" charset="0"/>
                <a:ea typeface="Inter" pitchFamily="34" charset="-122"/>
                <a:cs typeface="Inter" pitchFamily="34" charset="-120"/>
              </a:rPr>
              <a:t>PRUEBA</a:t>
            </a:r>
            <a:endParaRPr lang="en-US" sz="1180" dirty="0"/>
          </a:p>
        </p:txBody>
      </p:sp>
      <p:sp>
        <p:nvSpPr>
          <p:cNvPr id="14" name="Text 12"/>
          <p:cNvSpPr/>
          <p:nvPr/>
        </p:nvSpPr>
        <p:spPr>
          <a:xfrm>
            <a:off x="2286000" y="3035808"/>
            <a:ext cx="8869680" cy="384048"/>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evalúa con datos distintos a los de entrenamiento</a:t>
            </a:r>
            <a:endParaRPr lang="en-US" sz="1550" dirty="0"/>
          </a:p>
        </p:txBody>
      </p:sp>
      <p:sp>
        <p:nvSpPr>
          <p:cNvPr id="15" name="Shape 13"/>
          <p:cNvSpPr/>
          <p:nvPr/>
        </p:nvSpPr>
        <p:spPr>
          <a:xfrm>
            <a:off x="292608" y="3794760"/>
            <a:ext cx="1147572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6" name="Shape 14"/>
          <p:cNvSpPr/>
          <p:nvPr/>
        </p:nvSpPr>
        <p:spPr>
          <a:xfrm>
            <a:off x="475488" y="3913632"/>
            <a:ext cx="1517904" cy="402336"/>
          </a:xfrm>
          <a:prstGeom prst="roundRect">
            <a:avLst>
              <a:gd name="adj" fmla="val 18182"/>
            </a:avLst>
          </a:prstGeom>
          <a:solidFill>
            <a:srgbClr val="1B4D5C"/>
          </a:solidFill>
          <a:ln w="12700">
            <a:solidFill>
              <a:srgbClr val="1B4D5C"/>
            </a:solidFill>
            <a:prstDash val="solid"/>
          </a:ln>
        </p:spPr>
        <p:txBody>
          <a:bodyPr/>
          <a:lstStyle/>
          <a:p>
            <a:endParaRPr lang="es-ES"/>
          </a:p>
        </p:txBody>
      </p:sp>
      <p:sp>
        <p:nvSpPr>
          <p:cNvPr id="17" name="Text 15"/>
          <p:cNvSpPr/>
          <p:nvPr/>
        </p:nvSpPr>
        <p:spPr>
          <a:xfrm>
            <a:off x="566928" y="3968496"/>
            <a:ext cx="1325880" cy="256032"/>
          </a:xfrm>
          <a:prstGeom prst="rect">
            <a:avLst/>
          </a:prstGeom>
          <a:noFill/>
          <a:ln/>
        </p:spPr>
        <p:txBody>
          <a:bodyPr wrap="square" lIns="0" tIns="0" rIns="0" bIns="0" rtlCol="0" anchor="ctr">
            <a:normAutofit/>
          </a:bodyPr>
          <a:lstStyle/>
          <a:p>
            <a:pPr marL="0" indent="0" algn="ctr">
              <a:buNone/>
            </a:pPr>
            <a:r>
              <a:rPr lang="en-US" sz="1180" b="1" dirty="0">
                <a:solidFill>
                  <a:srgbClr val="FFFFFF"/>
                </a:solidFill>
                <a:latin typeface="Inter" pitchFamily="34" charset="0"/>
                <a:ea typeface="Inter" pitchFamily="34" charset="-122"/>
                <a:cs typeface="Inter" pitchFamily="34" charset="-120"/>
              </a:rPr>
              <a:t>USO / INFERENCIA</a:t>
            </a:r>
            <a:endParaRPr lang="en-US" sz="1180" dirty="0"/>
          </a:p>
        </p:txBody>
      </p:sp>
      <p:sp>
        <p:nvSpPr>
          <p:cNvPr id="18" name="Text 16"/>
          <p:cNvSpPr/>
          <p:nvPr/>
        </p:nvSpPr>
        <p:spPr>
          <a:xfrm>
            <a:off x="2286000" y="3904488"/>
            <a:ext cx="8869680" cy="384048"/>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recibe una entrada y genera un resultado</a:t>
            </a:r>
            <a:endParaRPr lang="en-US" sz="1550" dirty="0"/>
          </a:p>
        </p:txBody>
      </p:sp>
      <p:sp>
        <p:nvSpPr>
          <p:cNvPr id="19" name="Shape 17"/>
          <p:cNvSpPr/>
          <p:nvPr/>
        </p:nvSpPr>
        <p:spPr>
          <a:xfrm>
            <a:off x="292608" y="4663440"/>
            <a:ext cx="11475720" cy="640080"/>
          </a:xfrm>
          <a:prstGeom prst="roundRect">
            <a:avLst>
              <a:gd name="adj" fmla="val 11429"/>
            </a:avLst>
          </a:prstGeom>
          <a:solidFill>
            <a:srgbClr val="EAF3F6"/>
          </a:solidFill>
          <a:ln w="12700">
            <a:solidFill>
              <a:srgbClr val="D8E4E8"/>
            </a:solidFill>
            <a:prstDash val="solid"/>
          </a:ln>
        </p:spPr>
        <p:txBody>
          <a:bodyPr/>
          <a:lstStyle/>
          <a:p>
            <a:endParaRPr lang="es-ES"/>
          </a:p>
        </p:txBody>
      </p:sp>
      <p:sp>
        <p:nvSpPr>
          <p:cNvPr id="20" name="Shape 18"/>
          <p:cNvSpPr/>
          <p:nvPr/>
        </p:nvSpPr>
        <p:spPr>
          <a:xfrm>
            <a:off x="475488" y="4782312"/>
            <a:ext cx="1517904" cy="402336"/>
          </a:xfrm>
          <a:prstGeom prst="roundRect">
            <a:avLst>
              <a:gd name="adj" fmla="val 18182"/>
            </a:avLst>
          </a:prstGeom>
          <a:solidFill>
            <a:srgbClr val="C66019"/>
          </a:solidFill>
          <a:ln w="12700">
            <a:solidFill>
              <a:srgbClr val="C66019"/>
            </a:solidFill>
            <a:prstDash val="solid"/>
          </a:ln>
        </p:spPr>
        <p:txBody>
          <a:bodyPr/>
          <a:lstStyle/>
          <a:p>
            <a:endParaRPr lang="es-ES"/>
          </a:p>
        </p:txBody>
      </p:sp>
      <p:sp>
        <p:nvSpPr>
          <p:cNvPr id="21" name="Text 19"/>
          <p:cNvSpPr/>
          <p:nvPr/>
        </p:nvSpPr>
        <p:spPr>
          <a:xfrm>
            <a:off x="566928" y="4837176"/>
            <a:ext cx="1325880" cy="256032"/>
          </a:xfrm>
          <a:prstGeom prst="rect">
            <a:avLst/>
          </a:prstGeom>
          <a:noFill/>
          <a:ln/>
        </p:spPr>
        <p:txBody>
          <a:bodyPr wrap="square" lIns="0" tIns="0" rIns="0" bIns="0" rtlCol="0" anchor="ctr">
            <a:normAutofit/>
          </a:bodyPr>
          <a:lstStyle/>
          <a:p>
            <a:pPr marL="0" indent="0" algn="ctr">
              <a:buNone/>
            </a:pPr>
            <a:r>
              <a:rPr lang="en-US" sz="1180" b="1" dirty="0">
                <a:solidFill>
                  <a:srgbClr val="FFFFFF"/>
                </a:solidFill>
                <a:latin typeface="Inter" pitchFamily="34" charset="0"/>
                <a:ea typeface="Inter" pitchFamily="34" charset="-122"/>
                <a:cs typeface="Inter" pitchFamily="34" charset="-120"/>
              </a:rPr>
              <a:t>REVISIÓN HUMANA</a:t>
            </a:r>
            <a:endParaRPr lang="en-US" sz="1180" dirty="0"/>
          </a:p>
        </p:txBody>
      </p:sp>
      <p:sp>
        <p:nvSpPr>
          <p:cNvPr id="22" name="Text 20"/>
          <p:cNvSpPr/>
          <p:nvPr/>
        </p:nvSpPr>
        <p:spPr>
          <a:xfrm>
            <a:off x="2286000" y="4773168"/>
            <a:ext cx="8869680" cy="384048"/>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comprueba adecuación para la finalidad profesional</a:t>
            </a:r>
            <a:endParaRPr lang="en-US" sz="1550" dirty="0"/>
          </a:p>
        </p:txBody>
      </p:sp>
      <p:sp>
        <p:nvSpPr>
          <p:cNvPr id="23" name="Shape 21"/>
          <p:cNvSpPr/>
          <p:nvPr/>
        </p:nvSpPr>
        <p:spPr>
          <a:xfrm>
            <a:off x="292608" y="5623560"/>
            <a:ext cx="11475720" cy="475488"/>
          </a:xfrm>
          <a:prstGeom prst="roundRect">
            <a:avLst>
              <a:gd name="adj" fmla="val 15385"/>
            </a:avLst>
          </a:prstGeom>
          <a:solidFill>
            <a:srgbClr val="FFF6EF"/>
          </a:solidFill>
          <a:ln w="12700">
            <a:solidFill>
              <a:srgbClr val="D8E4E8"/>
            </a:solidFill>
            <a:prstDash val="solid"/>
          </a:ln>
        </p:spPr>
        <p:txBody>
          <a:bodyPr/>
          <a:lstStyle/>
          <a:p>
            <a:endParaRPr lang="es-ES"/>
          </a:p>
        </p:txBody>
      </p:sp>
      <p:sp>
        <p:nvSpPr>
          <p:cNvPr id="24" name="Text 22"/>
          <p:cNvSpPr/>
          <p:nvPr/>
        </p:nvSpPr>
        <p:spPr>
          <a:xfrm>
            <a:off x="475488" y="5742432"/>
            <a:ext cx="10881360" cy="228600"/>
          </a:xfrm>
          <a:prstGeom prst="rect">
            <a:avLst/>
          </a:prstGeom>
          <a:noFill/>
          <a:ln/>
        </p:spPr>
        <p:txBody>
          <a:bodyPr wrap="square" lIns="0" tIns="0" rIns="0" bIns="0" rtlCol="0" anchor="ctr">
            <a:normAutofit/>
          </a:bodyPr>
          <a:lstStyle/>
          <a:p>
            <a:pPr marL="0" indent="0" algn="l">
              <a:buNone/>
            </a:pPr>
            <a:r>
              <a:rPr lang="en-US" sz="1300" b="1" dirty="0">
                <a:solidFill>
                  <a:srgbClr val="0B2F3A"/>
                </a:solidFill>
                <a:latin typeface="Inter" pitchFamily="34" charset="0"/>
                <a:ea typeface="Inter" pitchFamily="34" charset="-122"/>
                <a:cs typeface="Inter" pitchFamily="34" charset="-120"/>
              </a:rPr>
              <a:t>Riesgo: puede funcionar bien en pruebas y fallar con datos, personas o situaciones diferentes a las previstas.</a:t>
            </a:r>
            <a:endParaRPr lang="en-US" sz="1300" dirty="0"/>
          </a:p>
        </p:txBody>
      </p:sp>
      <p:sp>
        <p:nvSpPr>
          <p:cNvPr id="25" name="Shape 23"/>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6" name="Text 24"/>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877824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12 · LOS DATOS INFLUYEN EN EL RESULTADO</a:t>
            </a:r>
            <a:endParaRPr lang="en-US" sz="20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292608" y="1060704"/>
            <a:ext cx="10927080" cy="658368"/>
          </a:xfrm>
          <a:prstGeom prst="rect">
            <a:avLst/>
          </a:prstGeom>
          <a:noFill/>
          <a:ln/>
        </p:spPr>
        <p:txBody>
          <a:bodyPr wrap="square" lIns="0" tIns="0" rIns="0" bIns="0" rtlCol="0" anchor="ctr">
            <a:normAutofit/>
          </a:bodyPr>
          <a:lstStyle/>
          <a:p>
            <a:pPr marL="0" indent="0" algn="l">
              <a:buNone/>
            </a:pPr>
            <a:r>
              <a:rPr lang="en-US" sz="1550" dirty="0">
                <a:solidFill>
                  <a:srgbClr val="1B4D5C"/>
                </a:solidFill>
                <a:latin typeface="Inter" pitchFamily="34" charset="0"/>
                <a:ea typeface="Inter" pitchFamily="34" charset="-122"/>
                <a:cs typeface="Inter" pitchFamily="34" charset="-120"/>
              </a:rPr>
              <a:t>La IA aprende, analiza o genera resultados a partir de información. Si esa información es incompleta, antigua, poco representativa o contiene errores, el resultado puede heredar esos problemas.</a:t>
            </a:r>
            <a:endParaRPr lang="en-US" sz="1550" dirty="0"/>
          </a:p>
        </p:txBody>
      </p:sp>
      <p:sp>
        <p:nvSpPr>
          <p:cNvPr id="9" name="Shape 6"/>
          <p:cNvSpPr/>
          <p:nvPr/>
        </p:nvSpPr>
        <p:spPr>
          <a:xfrm>
            <a:off x="292608" y="2212848"/>
            <a:ext cx="3566160" cy="1554480"/>
          </a:xfrm>
          <a:prstGeom prst="roundRect">
            <a:avLst>
              <a:gd name="adj" fmla="val 4706"/>
            </a:avLst>
          </a:prstGeom>
          <a:solidFill>
            <a:srgbClr val="EAF3F6"/>
          </a:solidFill>
          <a:ln w="12700">
            <a:solidFill>
              <a:srgbClr val="D8E4E8"/>
            </a:solidFill>
            <a:prstDash val="solid"/>
          </a:ln>
        </p:spPr>
        <p:txBody>
          <a:bodyPr/>
          <a:lstStyle/>
          <a:p>
            <a:endParaRPr lang="es-ES"/>
          </a:p>
        </p:txBody>
      </p:sp>
      <p:sp>
        <p:nvSpPr>
          <p:cNvPr id="10" name="Shape 7"/>
          <p:cNvSpPr/>
          <p:nvPr/>
        </p:nvSpPr>
        <p:spPr>
          <a:xfrm>
            <a:off x="292608" y="2212848"/>
            <a:ext cx="64008" cy="1554480"/>
          </a:xfrm>
          <a:prstGeom prst="rect">
            <a:avLst/>
          </a:prstGeom>
          <a:solidFill>
            <a:srgbClr val="1B4D5C"/>
          </a:solidFill>
          <a:ln w="12700">
            <a:solidFill>
              <a:srgbClr val="1B4D5C"/>
            </a:solidFill>
            <a:prstDash val="solid"/>
          </a:ln>
        </p:spPr>
        <p:txBody>
          <a:bodyPr/>
          <a:lstStyle/>
          <a:p>
            <a:endParaRPr lang="es-ES"/>
          </a:p>
        </p:txBody>
      </p:sp>
      <p:sp>
        <p:nvSpPr>
          <p:cNvPr id="11" name="Text 8"/>
          <p:cNvSpPr/>
          <p:nvPr/>
        </p:nvSpPr>
        <p:spPr>
          <a:xfrm>
            <a:off x="457200" y="2368296"/>
            <a:ext cx="3246120" cy="256032"/>
          </a:xfrm>
          <a:prstGeom prst="rect">
            <a:avLst/>
          </a:prstGeom>
          <a:noFill/>
          <a:ln/>
        </p:spPr>
        <p:txBody>
          <a:bodyPr wrap="square" lIns="0" tIns="0" rIns="0" bIns="0" rtlCol="0" anchor="ctr">
            <a:normAutofit/>
          </a:bodyPr>
          <a:lstStyle/>
          <a:p>
            <a:pPr marL="0" indent="0">
              <a:buNone/>
            </a:pPr>
            <a:r>
              <a:rPr lang="en-US" sz="1420" b="1" dirty="0">
                <a:solidFill>
                  <a:srgbClr val="0B2F3A"/>
                </a:solidFill>
                <a:latin typeface="Inter" pitchFamily="34" charset="0"/>
                <a:ea typeface="Inter" pitchFamily="34" charset="-122"/>
                <a:cs typeface="Inter" pitchFamily="34" charset="-120"/>
              </a:rPr>
              <a:t>DATOS CORRECTOS</a:t>
            </a:r>
            <a:endParaRPr lang="en-US" sz="1420" dirty="0"/>
          </a:p>
        </p:txBody>
      </p:sp>
      <p:sp>
        <p:nvSpPr>
          <p:cNvPr id="12" name="Text 9"/>
          <p:cNvSpPr/>
          <p:nvPr/>
        </p:nvSpPr>
        <p:spPr>
          <a:xfrm>
            <a:off x="457200" y="2670048"/>
            <a:ext cx="3246120" cy="960120"/>
          </a:xfrm>
          <a:prstGeom prst="rect">
            <a:avLst/>
          </a:prstGeom>
          <a:noFill/>
          <a:ln/>
        </p:spPr>
        <p:txBody>
          <a:bodyPr wrap="square" lIns="0" tIns="0" rIns="0" bIns="0" rtlCol="0" anchor="t">
            <a:normAutofit/>
          </a:bodyPr>
          <a:lstStyle/>
          <a:p>
            <a:pPr marL="0" indent="0">
              <a:buNone/>
            </a:pPr>
            <a:r>
              <a:rPr lang="en-US" sz="1340" dirty="0">
                <a:solidFill>
                  <a:srgbClr val="0B2F3A"/>
                </a:solidFill>
                <a:latin typeface="Inter" pitchFamily="34" charset="0"/>
                <a:ea typeface="Inter" pitchFamily="34" charset="-122"/>
                <a:cs typeface="Inter" pitchFamily="34" charset="-120"/>
              </a:rPr>
              <a:t>¿La información refleja correctamente lo que pretende representar?</a:t>
            </a:r>
            <a:endParaRPr lang="en-US" sz="1340" dirty="0"/>
          </a:p>
        </p:txBody>
      </p:sp>
      <p:sp>
        <p:nvSpPr>
          <p:cNvPr id="13" name="Shape 10"/>
          <p:cNvSpPr/>
          <p:nvPr/>
        </p:nvSpPr>
        <p:spPr>
          <a:xfrm>
            <a:off x="4151376" y="2212848"/>
            <a:ext cx="3529584" cy="1554480"/>
          </a:xfrm>
          <a:prstGeom prst="roundRect">
            <a:avLst>
              <a:gd name="adj" fmla="val 4706"/>
            </a:avLst>
          </a:prstGeom>
          <a:solidFill>
            <a:srgbClr val="FFFFFF"/>
          </a:solidFill>
          <a:ln w="12700">
            <a:solidFill>
              <a:srgbClr val="D8E4E8"/>
            </a:solidFill>
            <a:prstDash val="solid"/>
          </a:ln>
        </p:spPr>
        <p:txBody>
          <a:bodyPr/>
          <a:lstStyle/>
          <a:p>
            <a:endParaRPr lang="es-ES"/>
          </a:p>
        </p:txBody>
      </p:sp>
      <p:sp>
        <p:nvSpPr>
          <p:cNvPr id="14" name="Shape 11"/>
          <p:cNvSpPr/>
          <p:nvPr/>
        </p:nvSpPr>
        <p:spPr>
          <a:xfrm>
            <a:off x="4151376" y="2212848"/>
            <a:ext cx="64008" cy="1554480"/>
          </a:xfrm>
          <a:prstGeom prst="rect">
            <a:avLst/>
          </a:prstGeom>
          <a:solidFill>
            <a:srgbClr val="C66019"/>
          </a:solidFill>
          <a:ln w="12700">
            <a:solidFill>
              <a:srgbClr val="C66019"/>
            </a:solidFill>
            <a:prstDash val="solid"/>
          </a:ln>
        </p:spPr>
        <p:txBody>
          <a:bodyPr/>
          <a:lstStyle/>
          <a:p>
            <a:endParaRPr lang="es-ES"/>
          </a:p>
        </p:txBody>
      </p:sp>
      <p:sp>
        <p:nvSpPr>
          <p:cNvPr id="15" name="Text 12"/>
          <p:cNvSpPr/>
          <p:nvPr/>
        </p:nvSpPr>
        <p:spPr>
          <a:xfrm>
            <a:off x="4315968" y="2368296"/>
            <a:ext cx="3209544" cy="256032"/>
          </a:xfrm>
          <a:prstGeom prst="rect">
            <a:avLst/>
          </a:prstGeom>
          <a:noFill/>
          <a:ln/>
        </p:spPr>
        <p:txBody>
          <a:bodyPr wrap="square" lIns="0" tIns="0" rIns="0" bIns="0" rtlCol="0" anchor="ctr">
            <a:normAutofit/>
          </a:bodyPr>
          <a:lstStyle/>
          <a:p>
            <a:pPr marL="0" indent="0">
              <a:buNone/>
            </a:pPr>
            <a:r>
              <a:rPr lang="en-US" sz="1420" b="1" dirty="0">
                <a:solidFill>
                  <a:srgbClr val="0B2F3A"/>
                </a:solidFill>
                <a:latin typeface="Inter" pitchFamily="34" charset="0"/>
                <a:ea typeface="Inter" pitchFamily="34" charset="-122"/>
                <a:cs typeface="Inter" pitchFamily="34" charset="-120"/>
              </a:rPr>
              <a:t>DATOS ADECUADOS</a:t>
            </a:r>
            <a:endParaRPr lang="en-US" sz="1420" dirty="0"/>
          </a:p>
        </p:txBody>
      </p:sp>
      <p:sp>
        <p:nvSpPr>
          <p:cNvPr id="16" name="Text 13"/>
          <p:cNvSpPr/>
          <p:nvPr/>
        </p:nvSpPr>
        <p:spPr>
          <a:xfrm>
            <a:off x="4315968" y="2670048"/>
            <a:ext cx="3209544" cy="960120"/>
          </a:xfrm>
          <a:prstGeom prst="rect">
            <a:avLst/>
          </a:prstGeom>
          <a:noFill/>
          <a:ln/>
        </p:spPr>
        <p:txBody>
          <a:bodyPr wrap="square" lIns="0" tIns="0" rIns="0" bIns="0" rtlCol="0" anchor="t">
            <a:normAutofit/>
          </a:bodyPr>
          <a:lstStyle/>
          <a:p>
            <a:pPr marL="0" indent="0">
              <a:buNone/>
            </a:pPr>
            <a:r>
              <a:rPr lang="en-US" sz="1340" dirty="0">
                <a:solidFill>
                  <a:srgbClr val="0B2F3A"/>
                </a:solidFill>
                <a:latin typeface="Inter" pitchFamily="34" charset="0"/>
                <a:ea typeface="Inter" pitchFamily="34" charset="-122"/>
                <a:cs typeface="Inter" pitchFamily="34" charset="-120"/>
              </a:rPr>
              <a:t>¿Sirve realmente para la finalidad de la tarea?</a:t>
            </a:r>
            <a:endParaRPr lang="en-US" sz="1340" dirty="0"/>
          </a:p>
        </p:txBody>
      </p:sp>
      <p:sp>
        <p:nvSpPr>
          <p:cNvPr id="17" name="Shape 14"/>
          <p:cNvSpPr/>
          <p:nvPr/>
        </p:nvSpPr>
        <p:spPr>
          <a:xfrm>
            <a:off x="7973568" y="2212848"/>
            <a:ext cx="3566160" cy="1554480"/>
          </a:xfrm>
          <a:prstGeom prst="roundRect">
            <a:avLst>
              <a:gd name="adj" fmla="val 4706"/>
            </a:avLst>
          </a:prstGeom>
          <a:solidFill>
            <a:srgbClr val="EAF3F6"/>
          </a:solidFill>
          <a:ln w="12700">
            <a:solidFill>
              <a:srgbClr val="D8E4E8"/>
            </a:solidFill>
            <a:prstDash val="solid"/>
          </a:ln>
        </p:spPr>
        <p:txBody>
          <a:bodyPr/>
          <a:lstStyle/>
          <a:p>
            <a:endParaRPr lang="es-ES"/>
          </a:p>
        </p:txBody>
      </p:sp>
      <p:sp>
        <p:nvSpPr>
          <p:cNvPr id="18" name="Shape 15"/>
          <p:cNvSpPr/>
          <p:nvPr/>
        </p:nvSpPr>
        <p:spPr>
          <a:xfrm>
            <a:off x="7973568" y="2212848"/>
            <a:ext cx="64008" cy="1554480"/>
          </a:xfrm>
          <a:prstGeom prst="rect">
            <a:avLst/>
          </a:prstGeom>
          <a:solidFill>
            <a:srgbClr val="1D3461"/>
          </a:solidFill>
          <a:ln w="12700">
            <a:solidFill>
              <a:srgbClr val="1D3461"/>
            </a:solidFill>
            <a:prstDash val="solid"/>
          </a:ln>
        </p:spPr>
        <p:txBody>
          <a:bodyPr/>
          <a:lstStyle/>
          <a:p>
            <a:endParaRPr lang="es-ES"/>
          </a:p>
        </p:txBody>
      </p:sp>
      <p:sp>
        <p:nvSpPr>
          <p:cNvPr id="19" name="Text 16"/>
          <p:cNvSpPr/>
          <p:nvPr/>
        </p:nvSpPr>
        <p:spPr>
          <a:xfrm>
            <a:off x="8138160" y="2368296"/>
            <a:ext cx="3246120" cy="256032"/>
          </a:xfrm>
          <a:prstGeom prst="rect">
            <a:avLst/>
          </a:prstGeom>
          <a:noFill/>
          <a:ln/>
        </p:spPr>
        <p:txBody>
          <a:bodyPr wrap="square" lIns="0" tIns="0" rIns="0" bIns="0" rtlCol="0" anchor="ctr">
            <a:normAutofit/>
          </a:bodyPr>
          <a:lstStyle/>
          <a:p>
            <a:pPr marL="0" indent="0">
              <a:buNone/>
            </a:pPr>
            <a:r>
              <a:rPr lang="en-US" sz="1420" b="1" dirty="0">
                <a:solidFill>
                  <a:srgbClr val="0B2F3A"/>
                </a:solidFill>
                <a:latin typeface="Inter" pitchFamily="34" charset="0"/>
                <a:ea typeface="Inter" pitchFamily="34" charset="-122"/>
                <a:cs typeface="Inter" pitchFamily="34" charset="-120"/>
              </a:rPr>
              <a:t>DATOS SUFICIENTES</a:t>
            </a:r>
            <a:endParaRPr lang="en-US" sz="1420" dirty="0"/>
          </a:p>
        </p:txBody>
      </p:sp>
      <p:sp>
        <p:nvSpPr>
          <p:cNvPr id="20" name="Text 17"/>
          <p:cNvSpPr/>
          <p:nvPr/>
        </p:nvSpPr>
        <p:spPr>
          <a:xfrm>
            <a:off x="8138160" y="2670048"/>
            <a:ext cx="3246120" cy="960120"/>
          </a:xfrm>
          <a:prstGeom prst="rect">
            <a:avLst/>
          </a:prstGeom>
          <a:noFill/>
          <a:ln/>
        </p:spPr>
        <p:txBody>
          <a:bodyPr wrap="square" lIns="0" tIns="0" rIns="0" bIns="0" rtlCol="0" anchor="t">
            <a:normAutofit/>
          </a:bodyPr>
          <a:lstStyle/>
          <a:p>
            <a:pPr marL="0" indent="0">
              <a:buNone/>
            </a:pPr>
            <a:r>
              <a:rPr lang="en-US" sz="1340" dirty="0">
                <a:solidFill>
                  <a:srgbClr val="0B2F3A"/>
                </a:solidFill>
                <a:latin typeface="Inter" pitchFamily="34" charset="0"/>
                <a:ea typeface="Inter" pitchFamily="34" charset="-122"/>
                <a:cs typeface="Inter" pitchFamily="34" charset="-120"/>
              </a:rPr>
              <a:t>¿Cubre suficientemente personas, situaciones o periodos relevantes?</a:t>
            </a:r>
            <a:endParaRPr lang="en-US" sz="1340" dirty="0"/>
          </a:p>
        </p:txBody>
      </p:sp>
      <p:sp>
        <p:nvSpPr>
          <p:cNvPr id="21" name="Shape 18"/>
          <p:cNvSpPr/>
          <p:nvPr/>
        </p:nvSpPr>
        <p:spPr>
          <a:xfrm>
            <a:off x="292608" y="4160520"/>
            <a:ext cx="11475720" cy="822960"/>
          </a:xfrm>
          <a:prstGeom prst="roundRect">
            <a:avLst>
              <a:gd name="adj" fmla="val 8889"/>
            </a:avLst>
          </a:prstGeom>
          <a:solidFill>
            <a:srgbClr val="FFF6EF"/>
          </a:solidFill>
          <a:ln w="12700">
            <a:solidFill>
              <a:srgbClr val="D8E4E8"/>
            </a:solidFill>
            <a:prstDash val="solid"/>
          </a:ln>
        </p:spPr>
        <p:txBody>
          <a:bodyPr/>
          <a:lstStyle/>
          <a:p>
            <a:endParaRPr lang="es-ES"/>
          </a:p>
        </p:txBody>
      </p:sp>
      <p:sp>
        <p:nvSpPr>
          <p:cNvPr id="22" name="Text 19"/>
          <p:cNvSpPr/>
          <p:nvPr/>
        </p:nvSpPr>
        <p:spPr>
          <a:xfrm>
            <a:off x="502920" y="4334256"/>
            <a:ext cx="10881360" cy="438912"/>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Ejemplo: un sistema de selección entrenado solo con datos históricos de perfiles contratados puede aprender y repetir desigualdades existentes.</a:t>
            </a:r>
            <a:endParaRPr lang="en-US" sz="1400" dirty="0"/>
          </a:p>
        </p:txBody>
      </p:sp>
      <p:sp>
        <p:nvSpPr>
          <p:cNvPr id="23" name="Text 20"/>
          <p:cNvSpPr/>
          <p:nvPr/>
        </p:nvSpPr>
        <p:spPr>
          <a:xfrm>
            <a:off x="292608" y="5413248"/>
            <a:ext cx="10789920" cy="274320"/>
          </a:xfrm>
          <a:prstGeom prst="rect">
            <a:avLst/>
          </a:prstGeom>
          <a:noFill/>
          <a:ln/>
        </p:spPr>
        <p:txBody>
          <a:bodyPr wrap="square" lIns="0" tIns="0" rIns="0" bIns="0" rtlCol="0" anchor="ctr"/>
          <a:lstStyle/>
          <a:p>
            <a:pPr marL="0" indent="0">
              <a:buNone/>
            </a:pPr>
            <a:r>
              <a:rPr lang="en-US" sz="1400" dirty="0">
                <a:solidFill>
                  <a:srgbClr val="1B4D5C"/>
                </a:solidFill>
                <a:latin typeface="Inter" pitchFamily="34" charset="0"/>
                <a:ea typeface="Inter" pitchFamily="34" charset="-122"/>
                <a:cs typeface="Inter" pitchFamily="34" charset="-120"/>
              </a:rPr>
              <a:t>En el Módulo 3 aprenderás a evaluar en profundidad la calidad, procedencia y ciclo de vida de los datos.</a:t>
            </a:r>
            <a:endParaRPr lang="en-US" sz="1400" dirty="0"/>
          </a:p>
        </p:txBody>
      </p:sp>
      <p:sp>
        <p:nvSpPr>
          <p:cNvPr id="24" name="Shape 21"/>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5" name="Text 22"/>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Problemas de datos</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¿Qué problemas del conjunto de datos pueden afectar al resultado? Selecciona todos los correctos.</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Desactualización de los datos</a:t>
            </a:r>
            <a:endParaRPr lang="en-US" sz="1350" dirty="0"/>
          </a:p>
        </p:txBody>
      </p:sp>
      <p:sp>
        <p:nvSpPr>
          <p:cNvPr id="11" name="Shape 9"/>
          <p:cNvSpPr/>
          <p:nvPr/>
        </p:nvSpPr>
        <p:spPr>
          <a:xfrm>
            <a:off x="1005840" y="3136392"/>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Falta de representación de personas o situaciones</a:t>
            </a:r>
            <a:endParaRPr lang="en-US" sz="1350" dirty="0"/>
          </a:p>
        </p:txBody>
      </p:sp>
      <p:sp>
        <p:nvSpPr>
          <p:cNvPr id="14" name="Shape 12"/>
          <p:cNvSpPr/>
          <p:nvPr/>
        </p:nvSpPr>
        <p:spPr>
          <a:xfrm>
            <a:off x="1005840" y="3941064"/>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Etiquetado incorrecto</a:t>
            </a:r>
            <a:endParaRPr lang="en-US" sz="1350" dirty="0"/>
          </a:p>
        </p:txBody>
      </p:sp>
      <p:sp>
        <p:nvSpPr>
          <p:cNvPr id="17" name="Shape 15"/>
          <p:cNvSpPr/>
          <p:nvPr/>
        </p:nvSpPr>
        <p:spPr>
          <a:xfrm>
            <a:off x="1005840" y="4745736"/>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8" name="Text 16"/>
          <p:cNvSpPr/>
          <p:nvPr/>
        </p:nvSpPr>
        <p:spPr>
          <a:xfrm>
            <a:off x="1152144" y="4892040"/>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4.</a:t>
            </a:r>
            <a:endParaRPr lang="en-US" sz="1350" dirty="0"/>
          </a:p>
        </p:txBody>
      </p:sp>
      <p:sp>
        <p:nvSpPr>
          <p:cNvPr id="19" name="Text 17"/>
          <p:cNvSpPr/>
          <p:nvPr/>
        </p:nvSpPr>
        <p:spPr>
          <a:xfrm>
            <a:off x="1444752" y="4818888"/>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Que la interfaz use un color corporativo</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57200"/>
            <a:ext cx="1417320" cy="73152"/>
          </a:xfrm>
          <a:prstGeom prst="roundRect">
            <a:avLst>
              <a:gd name="adj" fmla="val 37500"/>
            </a:avLst>
          </a:prstGeom>
          <a:solidFill>
            <a:srgbClr val="C66019"/>
          </a:solidFill>
          <a:ln w="12700">
            <a:solidFill>
              <a:srgbClr val="C66019"/>
            </a:solidFill>
            <a:prstDash val="solid"/>
          </a:ln>
        </p:spPr>
        <p:txBody>
          <a:bodyPr/>
          <a:lstStyle/>
          <a:p>
            <a:endParaRPr lang="es-ES"/>
          </a:p>
        </p:txBody>
      </p:sp>
      <p:sp>
        <p:nvSpPr>
          <p:cNvPr id="3" name="Text 1"/>
          <p:cNvSpPr/>
          <p:nvPr/>
        </p:nvSpPr>
        <p:spPr>
          <a:xfrm>
            <a:off x="658368" y="731520"/>
            <a:ext cx="10698480" cy="411480"/>
          </a:xfrm>
          <a:prstGeom prst="rect">
            <a:avLst/>
          </a:prstGeom>
          <a:noFill/>
          <a:ln/>
        </p:spPr>
        <p:txBody>
          <a:bodyPr wrap="square" lIns="0" tIns="0" rIns="0" bIns="0" rtlCol="0" anchor="ctr">
            <a:normAutofit/>
          </a:bodyPr>
          <a:lstStyle/>
          <a:p>
            <a:pPr marL="0" indent="0">
              <a:buNone/>
            </a:pPr>
            <a:r>
              <a:rPr lang="en-US" sz="2500" b="1" dirty="0">
                <a:solidFill>
                  <a:srgbClr val="C66019"/>
                </a:solidFill>
                <a:latin typeface="Inter" pitchFamily="34" charset="0"/>
                <a:ea typeface="Inter" pitchFamily="34" charset="-122"/>
                <a:cs typeface="Inter" pitchFamily="34" charset="-120"/>
              </a:rPr>
              <a:t>BLOQUE 3 · TECNOLOGÍAS DE IA</a:t>
            </a:r>
            <a:endParaRPr lang="en-US" sz="2500" dirty="0"/>
          </a:p>
        </p:txBody>
      </p:sp>
      <p:sp>
        <p:nvSpPr>
          <p:cNvPr id="4" name="Shape 2"/>
          <p:cNvSpPr/>
          <p:nvPr/>
        </p:nvSpPr>
        <p:spPr>
          <a:xfrm>
            <a:off x="676656" y="1325880"/>
            <a:ext cx="10771632" cy="3749040"/>
          </a:xfrm>
          <a:prstGeom prst="roundRect">
            <a:avLst>
              <a:gd name="adj" fmla="val 1951"/>
            </a:avLst>
          </a:prstGeom>
          <a:solidFill>
            <a:srgbClr val="EAF3F6"/>
          </a:solidFill>
          <a:ln w="12700">
            <a:solidFill>
              <a:srgbClr val="D8E4E8"/>
            </a:solidFill>
            <a:prstDash val="solid"/>
          </a:ln>
        </p:spPr>
        <p:txBody>
          <a:bodyPr/>
          <a:lstStyle/>
          <a:p>
            <a:endParaRPr lang="es-ES"/>
          </a:p>
        </p:txBody>
      </p:sp>
      <p:sp>
        <p:nvSpPr>
          <p:cNvPr id="5" name="Text 3"/>
          <p:cNvSpPr/>
          <p:nvPr/>
        </p:nvSpPr>
        <p:spPr>
          <a:xfrm>
            <a:off x="1078992" y="2423160"/>
            <a:ext cx="9829800" cy="1417320"/>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Ya sabes cómo funciona un sistema de IA en general. Ahora veremos las principales formas en que se construye: aprendizaje automático, aprendizaje profundo, procesamiento del lenguaje natural y sistemas expertos.</a:t>
            </a:r>
            <a:endParaRPr lang="en-US" sz="23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1033272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13 · APRENDIZAJE AUTOMÁTICO (MACHINE LEARNING)</a:t>
            </a:r>
            <a:endParaRPr lang="en-US" sz="2000" dirty="0"/>
          </a:p>
        </p:txBody>
      </p:sp>
      <p:sp>
        <p:nvSpPr>
          <p:cNvPr id="3" name="Shape 1"/>
          <p:cNvSpPr/>
          <p:nvPr/>
        </p:nvSpPr>
        <p:spPr>
          <a:xfrm>
            <a:off x="292608" y="987552"/>
            <a:ext cx="11475720" cy="2770632"/>
          </a:xfrm>
          <a:prstGeom prst="roundRect">
            <a:avLst>
              <a:gd name="adj" fmla="val 2640"/>
            </a:avLst>
          </a:prstGeom>
          <a:solidFill>
            <a:srgbClr val="EAF3F6"/>
          </a:solidFill>
          <a:ln w="12700">
            <a:solidFill>
              <a:srgbClr val="D8E4E8"/>
            </a:solidFill>
            <a:prstDash val="solid"/>
          </a:ln>
        </p:spPr>
        <p:txBody>
          <a:bodyPr/>
          <a:lstStyle/>
          <a:p>
            <a:endParaRPr lang="es-ES"/>
          </a:p>
        </p:txBody>
      </p:sp>
      <p:sp>
        <p:nvSpPr>
          <p:cNvPr id="4" name="Text 2"/>
          <p:cNvSpPr/>
          <p:nvPr/>
        </p:nvSpPr>
        <p:spPr>
          <a:xfrm>
            <a:off x="475488" y="1261872"/>
            <a:ext cx="10881360" cy="1051560"/>
          </a:xfrm>
          <a:prstGeom prst="rect">
            <a:avLst/>
          </a:prstGeom>
          <a:noFill/>
          <a:ln/>
        </p:spPr>
        <p:txBody>
          <a:bodyPr wrap="square" lIns="0" tIns="0" rIns="0" bIns="0" rtlCol="0" anchor="t">
            <a:normAutofit/>
          </a:bodyPr>
          <a:lstStyle/>
          <a:p>
            <a:pPr marL="0" indent="0" algn="l">
              <a:buNone/>
            </a:pPr>
            <a:r>
              <a:rPr lang="en-US" sz="1700" b="1" dirty="0">
                <a:solidFill>
                  <a:srgbClr val="1B4D5C"/>
                </a:solidFill>
                <a:latin typeface="Inter" pitchFamily="34" charset="0"/>
                <a:ea typeface="Inter" pitchFamily="34" charset="-122"/>
                <a:cs typeface="Inter" pitchFamily="34" charset="-120"/>
              </a:rPr>
              <a:t>En lugar de programarle una regla para cada caso posible, se le muestran al sistema muchos ejemplos ya resueltos por ejemplo, miles de correos ya marcados como spam o no spam y el sistema aprende por sí solo a reconocer qué los distingue. Cuantos más ejemplos ve, mejor detecta el patrón, sin que nadie le diga regla por regla qué buscar.</a:t>
            </a:r>
            <a:endParaRPr lang="en-US" sz="1700" dirty="0"/>
          </a:p>
        </p:txBody>
      </p:sp>
      <p:sp>
        <p:nvSpPr>
          <p:cNvPr id="5" name="Text 3"/>
          <p:cNvSpPr/>
          <p:nvPr/>
        </p:nvSpPr>
        <p:spPr>
          <a:xfrm>
            <a:off x="292608" y="3986784"/>
            <a:ext cx="2011680" cy="228600"/>
          </a:xfrm>
          <a:prstGeom prst="rect">
            <a:avLst/>
          </a:prstGeom>
          <a:noFill/>
          <a:ln/>
        </p:spPr>
        <p:txBody>
          <a:bodyPr wrap="square" lIns="0" tIns="0" rIns="0" bIns="0" rtlCol="0" anchor="ctr"/>
          <a:lstStyle/>
          <a:p>
            <a:pPr marL="0" indent="0">
              <a:buNone/>
            </a:pPr>
            <a:r>
              <a:rPr lang="en-US" sz="1400" b="1" dirty="0">
                <a:solidFill>
                  <a:srgbClr val="C66019"/>
                </a:solidFill>
                <a:latin typeface="Inter" pitchFamily="34" charset="0"/>
                <a:ea typeface="Inter" pitchFamily="34" charset="-122"/>
                <a:cs typeface="Inter" pitchFamily="34" charset="-120"/>
              </a:rPr>
              <a:t>EJEMPLOS DE USO</a:t>
            </a:r>
            <a:endParaRPr lang="en-US" sz="1400" dirty="0"/>
          </a:p>
        </p:txBody>
      </p:sp>
      <p:sp>
        <p:nvSpPr>
          <p:cNvPr id="6" name="Shape 4"/>
          <p:cNvSpPr/>
          <p:nvPr/>
        </p:nvSpPr>
        <p:spPr>
          <a:xfrm>
            <a:off x="292608" y="4297680"/>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7" name="Text 5"/>
          <p:cNvSpPr/>
          <p:nvPr/>
        </p:nvSpPr>
        <p:spPr>
          <a:xfrm>
            <a:off x="438912" y="4389120"/>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Detección de fraude</a:t>
            </a:r>
            <a:endParaRPr lang="en-US" sz="1400" dirty="0"/>
          </a:p>
        </p:txBody>
      </p:sp>
      <p:sp>
        <p:nvSpPr>
          <p:cNvPr id="8" name="Shape 6"/>
          <p:cNvSpPr/>
          <p:nvPr/>
        </p:nvSpPr>
        <p:spPr>
          <a:xfrm>
            <a:off x="4151376" y="4297680"/>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4297680" y="4389120"/>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Recomendaciones</a:t>
            </a:r>
            <a:endParaRPr lang="en-US" sz="1400" dirty="0"/>
          </a:p>
        </p:txBody>
      </p:sp>
      <p:sp>
        <p:nvSpPr>
          <p:cNvPr id="10" name="Shape 8"/>
          <p:cNvSpPr/>
          <p:nvPr/>
        </p:nvSpPr>
        <p:spPr>
          <a:xfrm>
            <a:off x="8010144" y="4297680"/>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1" name="Text 9"/>
          <p:cNvSpPr/>
          <p:nvPr/>
        </p:nvSpPr>
        <p:spPr>
          <a:xfrm>
            <a:off x="8156448" y="4389120"/>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Predicción de demanda</a:t>
            </a:r>
            <a:endParaRPr lang="en-US" sz="1400" dirty="0"/>
          </a:p>
        </p:txBody>
      </p:sp>
      <p:sp>
        <p:nvSpPr>
          <p:cNvPr id="12" name="Shape 10"/>
          <p:cNvSpPr/>
          <p:nvPr/>
        </p:nvSpPr>
        <p:spPr>
          <a:xfrm>
            <a:off x="292608" y="5138928"/>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3" name="Text 11"/>
          <p:cNvSpPr/>
          <p:nvPr/>
        </p:nvSpPr>
        <p:spPr>
          <a:xfrm>
            <a:off x="438912" y="5230368"/>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Clasificación de correos</a:t>
            </a:r>
            <a:endParaRPr lang="en-US" sz="1400" dirty="0"/>
          </a:p>
        </p:txBody>
      </p:sp>
      <p:sp>
        <p:nvSpPr>
          <p:cNvPr id="14" name="Shape 12"/>
          <p:cNvSpPr/>
          <p:nvPr/>
        </p:nvSpPr>
        <p:spPr>
          <a:xfrm>
            <a:off x="4151376" y="5138928"/>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4297680" y="5230368"/>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Análisis de comportamiento</a:t>
            </a:r>
            <a:endParaRPr lang="en-US" sz="1400" dirty="0"/>
          </a:p>
        </p:txBody>
      </p:sp>
      <p:sp>
        <p:nvSpPr>
          <p:cNvPr id="16" name="Shape 14"/>
          <p:cNvSpPr/>
          <p:nvPr/>
        </p:nvSpPr>
        <p:spPr>
          <a:xfrm>
            <a:off x="8010144" y="5138928"/>
            <a:ext cx="3566160" cy="640080"/>
          </a:xfrm>
          <a:prstGeom prst="roundRect">
            <a:avLst>
              <a:gd name="adj" fmla="val 11429"/>
            </a:avLst>
          </a:prstGeom>
          <a:solidFill>
            <a:srgbClr val="FFFFFF"/>
          </a:solidFill>
          <a:ln w="12700">
            <a:solidFill>
              <a:srgbClr val="D8E4E8"/>
            </a:solidFill>
            <a:prstDash val="solid"/>
          </a:ln>
        </p:spPr>
        <p:txBody>
          <a:bodyPr/>
          <a:lstStyle/>
          <a:p>
            <a:endParaRPr lang="es-ES"/>
          </a:p>
        </p:txBody>
      </p:sp>
      <p:sp>
        <p:nvSpPr>
          <p:cNvPr id="17" name="Text 15"/>
          <p:cNvSpPr/>
          <p:nvPr/>
        </p:nvSpPr>
        <p:spPr>
          <a:xfrm>
            <a:off x="8156448" y="5230368"/>
            <a:ext cx="3246120" cy="41148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Reconocimiento de patrones</a:t>
            </a:r>
            <a:endParaRPr lang="en-US" sz="1400" dirty="0"/>
          </a:p>
        </p:txBody>
      </p:sp>
      <p:sp>
        <p:nvSpPr>
          <p:cNvPr id="18" name="Shape 16"/>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9" name="Text 17"/>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17 · ACTIVIDAD</a:t>
            </a:r>
            <a:endParaRPr lang="en-US" sz="2000" dirty="0"/>
          </a:p>
        </p:txBody>
      </p:sp>
      <p:sp>
        <p:nvSpPr>
          <p:cNvPr id="3" name="Text 1"/>
          <p:cNvSpPr/>
          <p:nvPr/>
        </p:nvSpPr>
        <p:spPr>
          <a:xfrm>
            <a:off x="658368" y="658368"/>
            <a:ext cx="10607040" cy="530352"/>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Tipos de aprendizaje</a:t>
            </a:r>
            <a:endParaRPr lang="en-US" sz="2400" dirty="0"/>
          </a:p>
        </p:txBody>
      </p:sp>
      <p:sp>
        <p:nvSpPr>
          <p:cNvPr id="4" name="Shape 2"/>
          <p:cNvSpPr/>
          <p:nvPr/>
        </p:nvSpPr>
        <p:spPr>
          <a:xfrm>
            <a:off x="292608" y="1353312"/>
            <a:ext cx="5486400" cy="1325880"/>
          </a:xfrm>
          <a:prstGeom prst="roundRect">
            <a:avLst>
              <a:gd name="adj" fmla="val 5517"/>
            </a:avLst>
          </a:prstGeom>
          <a:solidFill>
            <a:srgbClr val="FFFFFF"/>
          </a:solidFill>
          <a:ln w="12700">
            <a:solidFill>
              <a:srgbClr val="D8E4E8"/>
            </a:solidFill>
            <a:prstDash val="solid"/>
          </a:ln>
        </p:spPr>
        <p:txBody>
          <a:bodyPr/>
          <a:lstStyle/>
          <a:p>
            <a:endParaRPr lang="es-ES"/>
          </a:p>
        </p:txBody>
      </p:sp>
      <p:sp>
        <p:nvSpPr>
          <p:cNvPr id="5" name="Text 3"/>
          <p:cNvSpPr/>
          <p:nvPr/>
        </p:nvSpPr>
        <p:spPr>
          <a:xfrm>
            <a:off x="530352" y="1600200"/>
            <a:ext cx="1097280" cy="201168"/>
          </a:xfrm>
          <a:prstGeom prst="rect">
            <a:avLst/>
          </a:prstGeom>
          <a:noFill/>
          <a:ln/>
        </p:spPr>
        <p:txBody>
          <a:bodyPr wrap="square" lIns="0" tIns="0" rIns="0" bIns="0" rtlCol="0" anchor="ctr"/>
          <a:lstStyle/>
          <a:p>
            <a:pPr marL="0" indent="0">
              <a:buNone/>
            </a:pPr>
            <a:r>
              <a:rPr lang="en-US" sz="1250" b="1" dirty="0">
                <a:solidFill>
                  <a:srgbClr val="C66019"/>
                </a:solidFill>
                <a:latin typeface="Inter" pitchFamily="34" charset="0"/>
                <a:ea typeface="Inter" pitchFamily="34" charset="-122"/>
                <a:cs typeface="Inter" pitchFamily="34" charset="-120"/>
              </a:rPr>
              <a:t>CASO 1</a:t>
            </a:r>
            <a:endParaRPr lang="en-US" sz="1250" dirty="0"/>
          </a:p>
        </p:txBody>
      </p:sp>
      <p:sp>
        <p:nvSpPr>
          <p:cNvPr id="6" name="Text 4"/>
          <p:cNvSpPr/>
          <p:nvPr/>
        </p:nvSpPr>
        <p:spPr>
          <a:xfrm>
            <a:off x="530352" y="1920240"/>
            <a:ext cx="4937760" cy="502920"/>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Clasificar fotografías ya etiquetadas</a:t>
            </a:r>
            <a:endParaRPr lang="en-US" sz="1550" dirty="0"/>
          </a:p>
        </p:txBody>
      </p:sp>
      <p:sp>
        <p:nvSpPr>
          <p:cNvPr id="7" name="Shape 5"/>
          <p:cNvSpPr/>
          <p:nvPr/>
        </p:nvSpPr>
        <p:spPr>
          <a:xfrm>
            <a:off x="6099048" y="1353312"/>
            <a:ext cx="5486400" cy="1325880"/>
          </a:xfrm>
          <a:prstGeom prst="roundRect">
            <a:avLst>
              <a:gd name="adj" fmla="val 5517"/>
            </a:avLst>
          </a:prstGeom>
          <a:solidFill>
            <a:srgbClr val="FFFFFF"/>
          </a:solidFill>
          <a:ln w="12700">
            <a:solidFill>
              <a:srgbClr val="D8E4E8"/>
            </a:solidFill>
            <a:prstDash val="solid"/>
          </a:ln>
        </p:spPr>
        <p:txBody>
          <a:bodyPr/>
          <a:lstStyle/>
          <a:p>
            <a:endParaRPr lang="es-ES"/>
          </a:p>
        </p:txBody>
      </p:sp>
      <p:sp>
        <p:nvSpPr>
          <p:cNvPr id="8" name="Text 6"/>
          <p:cNvSpPr/>
          <p:nvPr/>
        </p:nvSpPr>
        <p:spPr>
          <a:xfrm>
            <a:off x="6336792" y="1600200"/>
            <a:ext cx="1097280" cy="201168"/>
          </a:xfrm>
          <a:prstGeom prst="rect">
            <a:avLst/>
          </a:prstGeom>
          <a:noFill/>
          <a:ln/>
        </p:spPr>
        <p:txBody>
          <a:bodyPr wrap="square" lIns="0" tIns="0" rIns="0" bIns="0" rtlCol="0" anchor="ctr"/>
          <a:lstStyle/>
          <a:p>
            <a:pPr marL="0" indent="0">
              <a:buNone/>
            </a:pPr>
            <a:r>
              <a:rPr lang="en-US" sz="1250" b="1" dirty="0">
                <a:solidFill>
                  <a:srgbClr val="C66019"/>
                </a:solidFill>
                <a:latin typeface="Inter" pitchFamily="34" charset="0"/>
                <a:ea typeface="Inter" pitchFamily="34" charset="-122"/>
                <a:cs typeface="Inter" pitchFamily="34" charset="-120"/>
              </a:rPr>
              <a:t>CASO 2</a:t>
            </a:r>
            <a:endParaRPr lang="en-US" sz="1250" dirty="0"/>
          </a:p>
        </p:txBody>
      </p:sp>
      <p:sp>
        <p:nvSpPr>
          <p:cNvPr id="9" name="Text 7"/>
          <p:cNvSpPr/>
          <p:nvPr/>
        </p:nvSpPr>
        <p:spPr>
          <a:xfrm>
            <a:off x="6336792" y="1920240"/>
            <a:ext cx="4937760" cy="502920"/>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Agrupar reclamaciones por similitud sin categorías previas</a:t>
            </a:r>
            <a:endParaRPr lang="en-US" sz="1550" dirty="0"/>
          </a:p>
        </p:txBody>
      </p:sp>
      <p:sp>
        <p:nvSpPr>
          <p:cNvPr id="10" name="Shape 8"/>
          <p:cNvSpPr/>
          <p:nvPr/>
        </p:nvSpPr>
        <p:spPr>
          <a:xfrm>
            <a:off x="292608" y="3044952"/>
            <a:ext cx="5486400" cy="1325880"/>
          </a:xfrm>
          <a:prstGeom prst="roundRect">
            <a:avLst>
              <a:gd name="adj" fmla="val 5517"/>
            </a:avLst>
          </a:prstGeom>
          <a:solidFill>
            <a:srgbClr val="FFFFFF"/>
          </a:solidFill>
          <a:ln w="12700">
            <a:solidFill>
              <a:srgbClr val="D8E4E8"/>
            </a:solidFill>
            <a:prstDash val="solid"/>
          </a:ln>
        </p:spPr>
        <p:txBody>
          <a:bodyPr/>
          <a:lstStyle/>
          <a:p>
            <a:endParaRPr lang="es-ES"/>
          </a:p>
        </p:txBody>
      </p:sp>
      <p:sp>
        <p:nvSpPr>
          <p:cNvPr id="11" name="Text 9"/>
          <p:cNvSpPr/>
          <p:nvPr/>
        </p:nvSpPr>
        <p:spPr>
          <a:xfrm>
            <a:off x="530352" y="3291840"/>
            <a:ext cx="1097280" cy="201168"/>
          </a:xfrm>
          <a:prstGeom prst="rect">
            <a:avLst/>
          </a:prstGeom>
          <a:noFill/>
          <a:ln/>
        </p:spPr>
        <p:txBody>
          <a:bodyPr wrap="square" lIns="0" tIns="0" rIns="0" bIns="0" rtlCol="0" anchor="ctr"/>
          <a:lstStyle/>
          <a:p>
            <a:pPr marL="0" indent="0">
              <a:buNone/>
            </a:pPr>
            <a:r>
              <a:rPr lang="en-US" sz="1250" b="1" dirty="0">
                <a:solidFill>
                  <a:srgbClr val="C66019"/>
                </a:solidFill>
                <a:latin typeface="Inter" pitchFamily="34" charset="0"/>
                <a:ea typeface="Inter" pitchFamily="34" charset="-122"/>
                <a:cs typeface="Inter" pitchFamily="34" charset="-120"/>
              </a:rPr>
              <a:t>CASO 3</a:t>
            </a:r>
            <a:endParaRPr lang="en-US" sz="1250" dirty="0"/>
          </a:p>
        </p:txBody>
      </p:sp>
      <p:sp>
        <p:nvSpPr>
          <p:cNvPr id="12" name="Text 10"/>
          <p:cNvSpPr/>
          <p:nvPr/>
        </p:nvSpPr>
        <p:spPr>
          <a:xfrm>
            <a:off x="530352" y="3611880"/>
            <a:ext cx="4937760" cy="502920"/>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Aprender una estrategia mediante premios y penalizaciones</a:t>
            </a:r>
            <a:endParaRPr lang="en-US" sz="1550" dirty="0"/>
          </a:p>
        </p:txBody>
      </p:sp>
      <p:sp>
        <p:nvSpPr>
          <p:cNvPr id="13" name="Shape 11"/>
          <p:cNvSpPr/>
          <p:nvPr/>
        </p:nvSpPr>
        <p:spPr>
          <a:xfrm>
            <a:off x="6099048" y="3044952"/>
            <a:ext cx="5486400" cy="1325880"/>
          </a:xfrm>
          <a:prstGeom prst="roundRect">
            <a:avLst>
              <a:gd name="adj" fmla="val 5517"/>
            </a:avLst>
          </a:prstGeom>
          <a:solidFill>
            <a:srgbClr val="FFFFFF"/>
          </a:solidFill>
          <a:ln w="12700">
            <a:solidFill>
              <a:srgbClr val="D8E4E8"/>
            </a:solidFill>
            <a:prstDash val="solid"/>
          </a:ln>
        </p:spPr>
        <p:txBody>
          <a:bodyPr/>
          <a:lstStyle/>
          <a:p>
            <a:endParaRPr lang="es-ES"/>
          </a:p>
        </p:txBody>
      </p:sp>
      <p:sp>
        <p:nvSpPr>
          <p:cNvPr id="14" name="Text 12"/>
          <p:cNvSpPr/>
          <p:nvPr/>
        </p:nvSpPr>
        <p:spPr>
          <a:xfrm>
            <a:off x="6336792" y="3291840"/>
            <a:ext cx="1097280" cy="201168"/>
          </a:xfrm>
          <a:prstGeom prst="rect">
            <a:avLst/>
          </a:prstGeom>
          <a:noFill/>
          <a:ln/>
        </p:spPr>
        <p:txBody>
          <a:bodyPr wrap="square" lIns="0" tIns="0" rIns="0" bIns="0" rtlCol="0" anchor="ctr"/>
          <a:lstStyle/>
          <a:p>
            <a:pPr marL="0" indent="0">
              <a:buNone/>
            </a:pPr>
            <a:r>
              <a:rPr lang="en-US" sz="1250" b="1" dirty="0">
                <a:solidFill>
                  <a:srgbClr val="C66019"/>
                </a:solidFill>
                <a:latin typeface="Inter" pitchFamily="34" charset="0"/>
                <a:ea typeface="Inter" pitchFamily="34" charset="-122"/>
                <a:cs typeface="Inter" pitchFamily="34" charset="-120"/>
              </a:rPr>
              <a:t>CASO 4</a:t>
            </a:r>
            <a:endParaRPr lang="en-US" sz="1250" dirty="0"/>
          </a:p>
        </p:txBody>
      </p:sp>
      <p:sp>
        <p:nvSpPr>
          <p:cNvPr id="15" name="Text 13"/>
          <p:cNvSpPr/>
          <p:nvPr/>
        </p:nvSpPr>
        <p:spPr>
          <a:xfrm>
            <a:off x="6336792" y="3611880"/>
            <a:ext cx="4937760" cy="502920"/>
          </a:xfrm>
          <a:prstGeom prst="rect">
            <a:avLst/>
          </a:prstGeom>
          <a:noFill/>
          <a:ln/>
        </p:spPr>
        <p:txBody>
          <a:bodyPr wrap="square" lIns="0" tIns="0" rIns="0" bIns="0" rtlCol="0" anchor="ctr">
            <a:normAutofit/>
          </a:bodyPr>
          <a:lstStyle/>
          <a:p>
            <a:pPr marL="0" indent="0" algn="l">
              <a:buNone/>
            </a:pPr>
            <a:r>
              <a:rPr lang="en-US" sz="1550" b="1" dirty="0">
                <a:solidFill>
                  <a:srgbClr val="0B2F3A"/>
                </a:solidFill>
                <a:latin typeface="Inter" pitchFamily="34" charset="0"/>
                <a:ea typeface="Inter" pitchFamily="34" charset="-122"/>
                <a:cs typeface="Inter" pitchFamily="34" charset="-120"/>
              </a:rPr>
              <a:t>Predecir impagos a partir de casos históricos clasificados</a:t>
            </a:r>
            <a:endParaRPr lang="en-US" sz="1550" dirty="0"/>
          </a:p>
        </p:txBody>
      </p:sp>
      <p:sp>
        <p:nvSpPr>
          <p:cNvPr id="16" name="Shape 1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7" name="Text 1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Tipos de aprendizaje · caso 1</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Clasificar fotografías ya etiquetadas</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supervisado</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no supervisado</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por refuerzo</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Tipos de aprendizaje · caso 2</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Agrupar reclamaciones por similitud sin categorías previas</a:t>
            </a:r>
            <a:endParaRPr lang="en-US" sz="1700" dirty="0"/>
          </a:p>
        </p:txBody>
      </p:sp>
      <p:sp>
        <p:nvSpPr>
          <p:cNvPr id="8" name="Shape 6"/>
          <p:cNvSpPr/>
          <p:nvPr/>
        </p:nvSpPr>
        <p:spPr>
          <a:xfrm>
            <a:off x="1005840" y="2331720"/>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supervisado</a:t>
            </a:r>
            <a:endParaRPr lang="en-US" sz="1350" dirty="0"/>
          </a:p>
        </p:txBody>
      </p:sp>
      <p:sp>
        <p:nvSpPr>
          <p:cNvPr id="11" name="Shape 9"/>
          <p:cNvSpPr/>
          <p:nvPr/>
        </p:nvSpPr>
        <p:spPr>
          <a:xfrm>
            <a:off x="1005840" y="3136392"/>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no supervisado</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por refuerzo</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Tipos de aprendizaje · caso 3</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Aprender una estrategia mediante premios y penalizaciones</a:t>
            </a:r>
            <a:endParaRPr lang="en-US" sz="1700" dirty="0"/>
          </a:p>
        </p:txBody>
      </p:sp>
      <p:sp>
        <p:nvSpPr>
          <p:cNvPr id="8" name="Shape 6"/>
          <p:cNvSpPr/>
          <p:nvPr/>
        </p:nvSpPr>
        <p:spPr>
          <a:xfrm>
            <a:off x="1005840" y="2331720"/>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supervisado</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no supervisado</a:t>
            </a:r>
            <a:endParaRPr lang="en-US" sz="1350" dirty="0"/>
          </a:p>
        </p:txBody>
      </p:sp>
      <p:sp>
        <p:nvSpPr>
          <p:cNvPr id="14" name="Shape 12"/>
          <p:cNvSpPr/>
          <p:nvPr/>
        </p:nvSpPr>
        <p:spPr>
          <a:xfrm>
            <a:off x="1005840" y="3941064"/>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por refuerzo</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Tipos de aprendizaje · caso 4</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Predecir impagos a partir de casos históricos clasificados</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supervisado</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no supervisado</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Aprendizaje por refuerzo</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104241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14 · APRENDIZAJE PROFUNDO (DEEP LEARNING)</a:t>
            </a:r>
            <a:endParaRPr lang="en-US" sz="2000" dirty="0"/>
          </a:p>
        </p:txBody>
      </p:sp>
      <p:sp>
        <p:nvSpPr>
          <p:cNvPr id="3" name="Shape 1"/>
          <p:cNvSpPr/>
          <p:nvPr/>
        </p:nvSpPr>
        <p:spPr>
          <a:xfrm>
            <a:off x="292608" y="932688"/>
            <a:ext cx="11475720" cy="2212848"/>
          </a:xfrm>
          <a:prstGeom prst="roundRect">
            <a:avLst>
              <a:gd name="adj" fmla="val 3306"/>
            </a:avLst>
          </a:prstGeom>
          <a:solidFill>
            <a:srgbClr val="FFF6EF"/>
          </a:solidFill>
          <a:ln w="12700">
            <a:solidFill>
              <a:srgbClr val="D8E4E8"/>
            </a:solidFill>
            <a:prstDash val="solid"/>
          </a:ln>
        </p:spPr>
        <p:txBody>
          <a:bodyPr/>
          <a:lstStyle/>
          <a:p>
            <a:endParaRPr lang="es-ES"/>
          </a:p>
        </p:txBody>
      </p:sp>
      <p:sp>
        <p:nvSpPr>
          <p:cNvPr id="4" name="Text 2"/>
          <p:cNvSpPr/>
          <p:nvPr/>
        </p:nvSpPr>
        <p:spPr>
          <a:xfrm>
            <a:off x="475488" y="1170432"/>
            <a:ext cx="10881360" cy="1536192"/>
          </a:xfrm>
          <a:prstGeom prst="rect">
            <a:avLst/>
          </a:prstGeom>
          <a:noFill/>
          <a:ln/>
        </p:spPr>
        <p:txBody>
          <a:bodyPr wrap="square" lIns="0" tIns="0" rIns="0" bIns="0" rtlCol="0" anchor="t">
            <a:normAutofit/>
          </a:bodyPr>
          <a:lstStyle/>
          <a:p>
            <a:pPr marL="0" indent="0" algn="l">
              <a:buNone/>
            </a:pPr>
            <a:r>
              <a:rPr lang="en-US" sz="1520" dirty="0">
                <a:solidFill>
                  <a:srgbClr val="1D3461"/>
                </a:solidFill>
                <a:latin typeface="Inter" pitchFamily="34" charset="0"/>
                <a:ea typeface="Inter" pitchFamily="34" charset="-122"/>
                <a:cs typeface="Inter" pitchFamily="34" charset="-120"/>
              </a:rPr>
              <a:t>Es una forma concreta de hacer aprendizaje automático, con muchas capas de análisis conectadas entre sí: cada capa detecta patrones un poco más complejos que la anterior (por ejemplo, en una foto: una capa detecta bordes, la siguiente detecta formas, la siguiente reconoce que esas formas forman una cara). Estas capas se llaman "redes neuronales" porque se inspiran, de forma muy simplificada, en cómo funcionan las neuronas del cerebro — pero no son una simulación del cerebro humano, solo tomaron la idea prestada. Esto le permite abordar tareas más complejas que el aprendizaje automático tradicional, como reconocer voces o generar imágenes.</a:t>
            </a:r>
            <a:endParaRPr lang="en-US" sz="1520" dirty="0"/>
          </a:p>
        </p:txBody>
      </p:sp>
      <p:sp>
        <p:nvSpPr>
          <p:cNvPr id="5" name="Text 3"/>
          <p:cNvSpPr/>
          <p:nvPr/>
        </p:nvSpPr>
        <p:spPr>
          <a:xfrm>
            <a:off x="292608" y="3456432"/>
            <a:ext cx="2011680" cy="228600"/>
          </a:xfrm>
          <a:prstGeom prst="rect">
            <a:avLst/>
          </a:prstGeom>
          <a:noFill/>
          <a:ln/>
        </p:spPr>
        <p:txBody>
          <a:bodyPr wrap="square" lIns="0" tIns="0" rIns="0" bIns="0" rtlCol="0" anchor="ctr"/>
          <a:lstStyle/>
          <a:p>
            <a:pPr marL="0" indent="0">
              <a:buNone/>
            </a:pPr>
            <a:r>
              <a:rPr lang="en-US" sz="1400" b="1" dirty="0">
                <a:solidFill>
                  <a:srgbClr val="C66019"/>
                </a:solidFill>
                <a:latin typeface="Inter" pitchFamily="34" charset="0"/>
                <a:ea typeface="Inter" pitchFamily="34" charset="-122"/>
                <a:cs typeface="Inter" pitchFamily="34" charset="-120"/>
              </a:rPr>
              <a:t>EJEMPLOS DE USO</a:t>
            </a:r>
            <a:endParaRPr lang="en-US" sz="1400" dirty="0"/>
          </a:p>
        </p:txBody>
      </p:sp>
      <p:sp>
        <p:nvSpPr>
          <p:cNvPr id="6" name="Shape 4"/>
          <p:cNvSpPr/>
          <p:nvPr/>
        </p:nvSpPr>
        <p:spPr>
          <a:xfrm>
            <a:off x="292608" y="3822192"/>
            <a:ext cx="3566160" cy="786384"/>
          </a:xfrm>
          <a:prstGeom prst="roundRect">
            <a:avLst>
              <a:gd name="adj" fmla="val 9302"/>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420624" y="3959352"/>
            <a:ext cx="3246120" cy="45720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Reconocimiento de voz</a:t>
            </a:r>
            <a:endParaRPr lang="en-US" sz="1400" dirty="0"/>
          </a:p>
        </p:txBody>
      </p:sp>
      <p:sp>
        <p:nvSpPr>
          <p:cNvPr id="8" name="Shape 6"/>
          <p:cNvSpPr/>
          <p:nvPr/>
        </p:nvSpPr>
        <p:spPr>
          <a:xfrm>
            <a:off x="4151376" y="3822192"/>
            <a:ext cx="3566160" cy="786384"/>
          </a:xfrm>
          <a:prstGeom prst="roundRect">
            <a:avLst>
              <a:gd name="adj" fmla="val 9302"/>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4279392" y="3959352"/>
            <a:ext cx="3246120" cy="45720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Análisis de imágenes</a:t>
            </a:r>
            <a:endParaRPr lang="en-US" sz="1400" dirty="0"/>
          </a:p>
        </p:txBody>
      </p:sp>
      <p:sp>
        <p:nvSpPr>
          <p:cNvPr id="10" name="Shape 8"/>
          <p:cNvSpPr/>
          <p:nvPr/>
        </p:nvSpPr>
        <p:spPr>
          <a:xfrm>
            <a:off x="8010144" y="3822192"/>
            <a:ext cx="3566160" cy="786384"/>
          </a:xfrm>
          <a:prstGeom prst="roundRect">
            <a:avLst>
              <a:gd name="adj" fmla="val 9302"/>
            </a:avLst>
          </a:prstGeom>
          <a:solidFill>
            <a:srgbClr val="EAF3F6"/>
          </a:solidFill>
          <a:ln w="12700">
            <a:solidFill>
              <a:srgbClr val="D8E4E8"/>
            </a:solidFill>
            <a:prstDash val="solid"/>
          </a:ln>
        </p:spPr>
        <p:txBody>
          <a:bodyPr/>
          <a:lstStyle/>
          <a:p>
            <a:endParaRPr lang="es-ES"/>
          </a:p>
        </p:txBody>
      </p:sp>
      <p:sp>
        <p:nvSpPr>
          <p:cNvPr id="11" name="Text 9"/>
          <p:cNvSpPr/>
          <p:nvPr/>
        </p:nvSpPr>
        <p:spPr>
          <a:xfrm>
            <a:off x="8138160" y="3959352"/>
            <a:ext cx="3246120" cy="45720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Traducción automática</a:t>
            </a:r>
            <a:endParaRPr lang="en-US" sz="1400" dirty="0"/>
          </a:p>
        </p:txBody>
      </p:sp>
      <p:sp>
        <p:nvSpPr>
          <p:cNvPr id="12" name="Shape 10"/>
          <p:cNvSpPr/>
          <p:nvPr/>
        </p:nvSpPr>
        <p:spPr>
          <a:xfrm>
            <a:off x="2221992" y="4882896"/>
            <a:ext cx="3566160" cy="786384"/>
          </a:xfrm>
          <a:prstGeom prst="roundRect">
            <a:avLst>
              <a:gd name="adj" fmla="val 9302"/>
            </a:avLst>
          </a:prstGeom>
          <a:solidFill>
            <a:srgbClr val="FFFFFF"/>
          </a:solidFill>
          <a:ln w="12700">
            <a:solidFill>
              <a:srgbClr val="D8E4E8"/>
            </a:solidFill>
            <a:prstDash val="solid"/>
          </a:ln>
        </p:spPr>
        <p:txBody>
          <a:bodyPr/>
          <a:lstStyle/>
          <a:p>
            <a:endParaRPr lang="es-ES"/>
          </a:p>
        </p:txBody>
      </p:sp>
      <p:sp>
        <p:nvSpPr>
          <p:cNvPr id="13" name="Text 11"/>
          <p:cNvSpPr/>
          <p:nvPr/>
        </p:nvSpPr>
        <p:spPr>
          <a:xfrm>
            <a:off x="2350008" y="5020056"/>
            <a:ext cx="3246120" cy="45720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Visión artificial</a:t>
            </a:r>
            <a:endParaRPr lang="en-US" sz="1400" dirty="0"/>
          </a:p>
        </p:txBody>
      </p:sp>
      <p:sp>
        <p:nvSpPr>
          <p:cNvPr id="14" name="Shape 12"/>
          <p:cNvSpPr/>
          <p:nvPr/>
        </p:nvSpPr>
        <p:spPr>
          <a:xfrm>
            <a:off x="6089904" y="4882896"/>
            <a:ext cx="3566160" cy="786384"/>
          </a:xfrm>
          <a:prstGeom prst="roundRect">
            <a:avLst>
              <a:gd name="adj" fmla="val 9302"/>
            </a:avLst>
          </a:prstGeom>
          <a:solidFill>
            <a:srgbClr val="EAF3F6"/>
          </a:solidFill>
          <a:ln w="12700">
            <a:solidFill>
              <a:srgbClr val="D8E4E8"/>
            </a:solidFill>
            <a:prstDash val="solid"/>
          </a:ln>
        </p:spPr>
        <p:txBody>
          <a:bodyPr/>
          <a:lstStyle/>
          <a:p>
            <a:endParaRPr lang="es-ES"/>
          </a:p>
        </p:txBody>
      </p:sp>
      <p:sp>
        <p:nvSpPr>
          <p:cNvPr id="15" name="Text 13"/>
          <p:cNvSpPr/>
          <p:nvPr/>
        </p:nvSpPr>
        <p:spPr>
          <a:xfrm>
            <a:off x="6217920" y="5020056"/>
            <a:ext cx="3246120" cy="457200"/>
          </a:xfrm>
          <a:prstGeom prst="rect">
            <a:avLst/>
          </a:prstGeom>
          <a:noFill/>
          <a:ln/>
        </p:spPr>
        <p:txBody>
          <a:bodyPr wrap="square" lIns="0" tIns="0" rIns="0" bIns="0" rtlCol="0" anchor="ctr">
            <a:normAutofit/>
          </a:bodyPr>
          <a:lstStyle/>
          <a:p>
            <a:pPr marL="0" indent="0" algn="l">
              <a:buNone/>
            </a:pPr>
            <a:r>
              <a:rPr lang="en-US" sz="1400" b="1" dirty="0">
                <a:solidFill>
                  <a:srgbClr val="0B2F3A"/>
                </a:solidFill>
                <a:latin typeface="Inter" pitchFamily="34" charset="0"/>
                <a:ea typeface="Inter" pitchFamily="34" charset="-122"/>
                <a:cs typeface="Inter" pitchFamily="34" charset="-120"/>
              </a:rPr>
              <a:t>Generación de contenidos</a:t>
            </a:r>
            <a:endParaRPr lang="en-US" sz="1400" dirty="0"/>
          </a:p>
        </p:txBody>
      </p:sp>
      <p:sp>
        <p:nvSpPr>
          <p:cNvPr id="16" name="Shape 1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7" name="Text 1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1078992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15 · PROCESAMIENTO DEL LENGUAJE NATURAL (NLP)</a:t>
            </a:r>
            <a:endParaRPr lang="en-US" sz="2000" dirty="0"/>
          </a:p>
        </p:txBody>
      </p:sp>
      <p:sp>
        <p:nvSpPr>
          <p:cNvPr id="3" name="Shape 1"/>
          <p:cNvSpPr/>
          <p:nvPr/>
        </p:nvSpPr>
        <p:spPr>
          <a:xfrm>
            <a:off x="292608" y="932688"/>
            <a:ext cx="11475720" cy="1965960"/>
          </a:xfrm>
          <a:prstGeom prst="roundRect">
            <a:avLst>
              <a:gd name="adj" fmla="val 3721"/>
            </a:avLst>
          </a:prstGeom>
          <a:solidFill>
            <a:srgbClr val="EAF3F6"/>
          </a:solidFill>
          <a:ln w="12700">
            <a:solidFill>
              <a:srgbClr val="D8E4E8"/>
            </a:solidFill>
            <a:prstDash val="solid"/>
          </a:ln>
        </p:spPr>
        <p:txBody>
          <a:bodyPr/>
          <a:lstStyle/>
          <a:p>
            <a:endParaRPr lang="es-ES"/>
          </a:p>
        </p:txBody>
      </p:sp>
      <p:sp>
        <p:nvSpPr>
          <p:cNvPr id="4" name="Text 2"/>
          <p:cNvSpPr/>
          <p:nvPr/>
        </p:nvSpPr>
        <p:spPr>
          <a:xfrm>
            <a:off x="475488" y="1170432"/>
            <a:ext cx="10881360" cy="1325880"/>
          </a:xfrm>
          <a:prstGeom prst="rect">
            <a:avLst/>
          </a:prstGeom>
          <a:noFill/>
          <a:ln/>
        </p:spPr>
        <p:txBody>
          <a:bodyPr wrap="square" lIns="0" tIns="0" rIns="0" bIns="0" rtlCol="0" anchor="t">
            <a:normAutofit/>
          </a:bodyPr>
          <a:lstStyle/>
          <a:p>
            <a:pPr marL="0" indent="0" algn="l">
              <a:buNone/>
            </a:pPr>
            <a:r>
              <a:rPr lang="en-US" sz="1520" dirty="0">
                <a:solidFill>
                  <a:srgbClr val="1B4D5C"/>
                </a:solidFill>
                <a:latin typeface="Inter" pitchFamily="34" charset="0"/>
                <a:ea typeface="Inter" pitchFamily="34" charset="-122"/>
                <a:cs typeface="Inter" pitchFamily="34" charset="-120"/>
              </a:rPr>
              <a:t>El lenguaje humano es ambiguo y lleno de matices, una misma palabra puede significar cosas distintas según el contexto. El procesamiento del lenguaje natural son las técnicas que permiten a un sistema trabajar con texto o voz: entender de qué habla un documento, traducirlo, resumirlo o generar una respuesta que suene natural. Hoy en día se apoya sobre todo en aprendizaje profundo, pero es un campo de aplicación propio, con retos particulares como la gramática, el doble sentido o el contexto de una conversación.</a:t>
            </a:r>
            <a:endParaRPr lang="en-US" sz="1520" dirty="0"/>
          </a:p>
        </p:txBody>
      </p:sp>
      <p:sp>
        <p:nvSpPr>
          <p:cNvPr id="5" name="Text 3"/>
          <p:cNvSpPr/>
          <p:nvPr/>
        </p:nvSpPr>
        <p:spPr>
          <a:xfrm>
            <a:off x="292608" y="3182112"/>
            <a:ext cx="2011680" cy="228600"/>
          </a:xfrm>
          <a:prstGeom prst="rect">
            <a:avLst/>
          </a:prstGeom>
          <a:noFill/>
          <a:ln/>
        </p:spPr>
        <p:txBody>
          <a:bodyPr wrap="square" lIns="0" tIns="0" rIns="0" bIns="0" rtlCol="0" anchor="ctr"/>
          <a:lstStyle/>
          <a:p>
            <a:pPr marL="0" indent="0">
              <a:buNone/>
            </a:pPr>
            <a:r>
              <a:rPr lang="en-US" sz="1400" b="1" dirty="0">
                <a:solidFill>
                  <a:srgbClr val="C66019"/>
                </a:solidFill>
                <a:latin typeface="Inter" pitchFamily="34" charset="0"/>
                <a:ea typeface="Inter" pitchFamily="34" charset="-122"/>
                <a:cs typeface="Inter" pitchFamily="34" charset="-120"/>
              </a:rPr>
              <a:t>EJEMPLOS DE USO</a:t>
            </a:r>
            <a:endParaRPr lang="en-US" sz="1400" dirty="0"/>
          </a:p>
        </p:txBody>
      </p:sp>
      <p:sp>
        <p:nvSpPr>
          <p:cNvPr id="6" name="Shape 4"/>
          <p:cNvSpPr/>
          <p:nvPr/>
        </p:nvSpPr>
        <p:spPr>
          <a:xfrm>
            <a:off x="292608" y="3493008"/>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7" name="Text 5"/>
          <p:cNvSpPr/>
          <p:nvPr/>
        </p:nvSpPr>
        <p:spPr>
          <a:xfrm>
            <a:off x="411480" y="3611880"/>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Traducción y corrección</a:t>
            </a:r>
            <a:endParaRPr lang="en-US" sz="1270" dirty="0"/>
          </a:p>
        </p:txBody>
      </p:sp>
      <p:sp>
        <p:nvSpPr>
          <p:cNvPr id="8" name="Shape 6"/>
          <p:cNvSpPr/>
          <p:nvPr/>
        </p:nvSpPr>
        <p:spPr>
          <a:xfrm>
            <a:off x="3209544" y="3493008"/>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9" name="Text 7"/>
          <p:cNvSpPr/>
          <p:nvPr/>
        </p:nvSpPr>
        <p:spPr>
          <a:xfrm>
            <a:off x="3328416" y="3611880"/>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Resumen de documentos</a:t>
            </a:r>
            <a:endParaRPr lang="en-US" sz="1270" dirty="0"/>
          </a:p>
        </p:txBody>
      </p:sp>
      <p:sp>
        <p:nvSpPr>
          <p:cNvPr id="10" name="Shape 8"/>
          <p:cNvSpPr/>
          <p:nvPr/>
        </p:nvSpPr>
        <p:spPr>
          <a:xfrm>
            <a:off x="6126480" y="3493008"/>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11" name="Text 9"/>
          <p:cNvSpPr/>
          <p:nvPr/>
        </p:nvSpPr>
        <p:spPr>
          <a:xfrm>
            <a:off x="6245352" y="3611880"/>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Clasificación y extracción</a:t>
            </a:r>
            <a:endParaRPr lang="en-US" sz="1270" dirty="0"/>
          </a:p>
        </p:txBody>
      </p:sp>
      <p:sp>
        <p:nvSpPr>
          <p:cNvPr id="12" name="Shape 10"/>
          <p:cNvSpPr/>
          <p:nvPr/>
        </p:nvSpPr>
        <p:spPr>
          <a:xfrm>
            <a:off x="9043416" y="3493008"/>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13" name="Text 11"/>
          <p:cNvSpPr/>
          <p:nvPr/>
        </p:nvSpPr>
        <p:spPr>
          <a:xfrm>
            <a:off x="9162288" y="3611880"/>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Chatbots y asistentes</a:t>
            </a:r>
            <a:endParaRPr lang="en-US" sz="1270" dirty="0"/>
          </a:p>
        </p:txBody>
      </p:sp>
      <p:sp>
        <p:nvSpPr>
          <p:cNvPr id="14" name="Shape 12"/>
          <p:cNvSpPr/>
          <p:nvPr/>
        </p:nvSpPr>
        <p:spPr>
          <a:xfrm>
            <a:off x="1261872" y="4617720"/>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380744" y="4736592"/>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Reconocimiento de voz</a:t>
            </a:r>
            <a:endParaRPr lang="en-US" sz="1270" dirty="0"/>
          </a:p>
        </p:txBody>
      </p:sp>
      <p:sp>
        <p:nvSpPr>
          <p:cNvPr id="16" name="Shape 14"/>
          <p:cNvSpPr/>
          <p:nvPr/>
        </p:nvSpPr>
        <p:spPr>
          <a:xfrm>
            <a:off x="4288536" y="4617720"/>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17" name="Text 15"/>
          <p:cNvSpPr/>
          <p:nvPr/>
        </p:nvSpPr>
        <p:spPr>
          <a:xfrm>
            <a:off x="4407408" y="4736592"/>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Generación de respuestas</a:t>
            </a:r>
            <a:endParaRPr lang="en-US" sz="1270" dirty="0"/>
          </a:p>
        </p:txBody>
      </p:sp>
      <p:sp>
        <p:nvSpPr>
          <p:cNvPr id="18" name="Shape 16"/>
          <p:cNvSpPr/>
          <p:nvPr/>
        </p:nvSpPr>
        <p:spPr>
          <a:xfrm>
            <a:off x="7315200" y="4617720"/>
            <a:ext cx="2651760" cy="749808"/>
          </a:xfrm>
          <a:prstGeom prst="roundRect">
            <a:avLst>
              <a:gd name="adj" fmla="val 9756"/>
            </a:avLst>
          </a:prstGeom>
          <a:solidFill>
            <a:srgbClr val="FFFFFF"/>
          </a:solidFill>
          <a:ln w="12700">
            <a:solidFill>
              <a:srgbClr val="D8E4E8"/>
            </a:solidFill>
            <a:prstDash val="solid"/>
          </a:ln>
        </p:spPr>
        <p:txBody>
          <a:bodyPr/>
          <a:lstStyle/>
          <a:p>
            <a:endParaRPr lang="es-ES"/>
          </a:p>
        </p:txBody>
      </p:sp>
      <p:sp>
        <p:nvSpPr>
          <p:cNvPr id="19" name="Text 17"/>
          <p:cNvSpPr/>
          <p:nvPr/>
        </p:nvSpPr>
        <p:spPr>
          <a:xfrm>
            <a:off x="7434072" y="4736592"/>
            <a:ext cx="2395728" cy="475488"/>
          </a:xfrm>
          <a:prstGeom prst="rect">
            <a:avLst/>
          </a:prstGeom>
          <a:noFill/>
          <a:ln/>
        </p:spPr>
        <p:txBody>
          <a:bodyPr wrap="square" lIns="0" tIns="0" rIns="0" bIns="0" rtlCol="0" anchor="ctr">
            <a:normAutofit/>
          </a:bodyPr>
          <a:lstStyle/>
          <a:p>
            <a:pPr marL="0" indent="0" algn="l">
              <a:buNone/>
            </a:pPr>
            <a:r>
              <a:rPr lang="en-US" sz="1270" b="1" dirty="0">
                <a:solidFill>
                  <a:srgbClr val="0B2F3A"/>
                </a:solidFill>
                <a:latin typeface="Inter" pitchFamily="34" charset="0"/>
                <a:ea typeface="Inter" pitchFamily="34" charset="-122"/>
                <a:cs typeface="Inter" pitchFamily="34" charset="-120"/>
              </a:rPr>
              <a:t>Análisis de opiniones</a:t>
            </a:r>
            <a:endParaRPr lang="en-US" sz="1270" dirty="0"/>
          </a:p>
        </p:txBody>
      </p:sp>
      <p:sp>
        <p:nvSpPr>
          <p:cNvPr id="20" name="Shape 18"/>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1" name="Text 19"/>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1033272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16 · SISTEMAS EXPERTOS Y VISIÓN ARTIFICIAL</a:t>
            </a:r>
            <a:endParaRPr lang="en-US" sz="2000" dirty="0"/>
          </a:p>
        </p:txBody>
      </p:sp>
      <p:sp>
        <p:nvSpPr>
          <p:cNvPr id="3" name="Shape 1"/>
          <p:cNvSpPr/>
          <p:nvPr/>
        </p:nvSpPr>
        <p:spPr>
          <a:xfrm>
            <a:off x="292608" y="914400"/>
            <a:ext cx="5577840" cy="1984248"/>
          </a:xfrm>
          <a:prstGeom prst="roundRect">
            <a:avLst>
              <a:gd name="adj" fmla="val 3687"/>
            </a:avLst>
          </a:prstGeom>
          <a:solidFill>
            <a:srgbClr val="FFF6EF"/>
          </a:solidFill>
          <a:ln w="12700">
            <a:solidFill>
              <a:srgbClr val="D8E4E8"/>
            </a:solidFill>
            <a:prstDash val="solid"/>
          </a:ln>
        </p:spPr>
        <p:txBody>
          <a:bodyPr/>
          <a:lstStyle/>
          <a:p>
            <a:endParaRPr lang="es-ES"/>
          </a:p>
        </p:txBody>
      </p:sp>
      <p:sp>
        <p:nvSpPr>
          <p:cNvPr id="4" name="Text 2"/>
          <p:cNvSpPr/>
          <p:nvPr/>
        </p:nvSpPr>
        <p:spPr>
          <a:xfrm>
            <a:off x="475488" y="1115568"/>
            <a:ext cx="5166360" cy="1097280"/>
          </a:xfrm>
          <a:prstGeom prst="rect">
            <a:avLst/>
          </a:prstGeom>
          <a:noFill/>
          <a:ln/>
        </p:spPr>
        <p:txBody>
          <a:bodyPr wrap="square" lIns="0" tIns="0" rIns="0" bIns="0" rtlCol="0" anchor="t">
            <a:normAutofit/>
          </a:bodyPr>
          <a:lstStyle/>
          <a:p>
            <a:pPr marL="0" indent="0" algn="l">
              <a:buNone/>
            </a:pPr>
            <a:r>
              <a:rPr lang="en-US" sz="1470" dirty="0">
                <a:solidFill>
                  <a:srgbClr val="0B2F3A"/>
                </a:solidFill>
                <a:latin typeface="Inter" pitchFamily="34" charset="0"/>
                <a:ea typeface="Inter" pitchFamily="34" charset="-122"/>
                <a:cs typeface="Inter" pitchFamily="34" charset="-120"/>
              </a:rPr>
              <a:t>Sistemas Expertos: Programas de IA simbólica que emulan el razonamiento y la toma de decisiones de un experto humano mediante bases de conocimiento y reglas lógicas deterministas (si-entonces).</a:t>
            </a:r>
            <a:endParaRPr lang="en-US" sz="1470" dirty="0"/>
          </a:p>
        </p:txBody>
      </p:sp>
      <p:sp>
        <p:nvSpPr>
          <p:cNvPr id="5" name="Shape 3"/>
          <p:cNvSpPr/>
          <p:nvPr/>
        </p:nvSpPr>
        <p:spPr>
          <a:xfrm>
            <a:off x="6263640" y="914400"/>
            <a:ext cx="5468112" cy="1984248"/>
          </a:xfrm>
          <a:prstGeom prst="roundRect">
            <a:avLst>
              <a:gd name="adj" fmla="val 3687"/>
            </a:avLst>
          </a:prstGeom>
          <a:solidFill>
            <a:srgbClr val="EAF3F6"/>
          </a:solidFill>
          <a:ln w="12700">
            <a:solidFill>
              <a:srgbClr val="D8E4E8"/>
            </a:solidFill>
            <a:prstDash val="solid"/>
          </a:ln>
        </p:spPr>
        <p:txBody>
          <a:bodyPr/>
          <a:lstStyle/>
          <a:p>
            <a:endParaRPr lang="es-ES"/>
          </a:p>
        </p:txBody>
      </p:sp>
      <p:sp>
        <p:nvSpPr>
          <p:cNvPr id="6" name="Text 4"/>
          <p:cNvSpPr/>
          <p:nvPr/>
        </p:nvSpPr>
        <p:spPr>
          <a:xfrm>
            <a:off x="6446520" y="1115568"/>
            <a:ext cx="5074920" cy="1097280"/>
          </a:xfrm>
          <a:prstGeom prst="rect">
            <a:avLst/>
          </a:prstGeom>
          <a:noFill/>
          <a:ln/>
        </p:spPr>
        <p:txBody>
          <a:bodyPr wrap="square" lIns="0" tIns="0" rIns="0" bIns="0" rtlCol="0" anchor="t">
            <a:normAutofit/>
          </a:bodyPr>
          <a:lstStyle/>
          <a:p>
            <a:pPr marL="0" indent="0" algn="l">
              <a:buNone/>
            </a:pPr>
            <a:r>
              <a:rPr lang="en-US" sz="1470" dirty="0">
                <a:solidFill>
                  <a:srgbClr val="0B2F3A"/>
                </a:solidFill>
                <a:latin typeface="Inter" pitchFamily="34" charset="0"/>
                <a:ea typeface="Inter" pitchFamily="34" charset="-122"/>
                <a:cs typeface="Inter" pitchFamily="34" charset="-120"/>
              </a:rPr>
              <a:t>Visión Artificial: Disciplina de IA conexionista que dota a las máquinas de la capacidad de percibir, procesar, segmentar e interpretar imágenes o secuencias de vídeo de forma probabilística.</a:t>
            </a:r>
            <a:endParaRPr lang="en-US" sz="1470" dirty="0"/>
          </a:p>
        </p:txBody>
      </p:sp>
      <p:sp>
        <p:nvSpPr>
          <p:cNvPr id="7" name="Text 5"/>
          <p:cNvSpPr/>
          <p:nvPr/>
        </p:nvSpPr>
        <p:spPr>
          <a:xfrm>
            <a:off x="292608" y="3218688"/>
            <a:ext cx="3657600" cy="228600"/>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EJEMPLOS DE USO · SISTEMAS EXPERTOS</a:t>
            </a:r>
            <a:endParaRPr lang="en-US" sz="1350" dirty="0"/>
          </a:p>
        </p:txBody>
      </p:sp>
      <p:sp>
        <p:nvSpPr>
          <p:cNvPr id="8" name="Text 6"/>
          <p:cNvSpPr/>
          <p:nvPr/>
        </p:nvSpPr>
        <p:spPr>
          <a:xfrm>
            <a:off x="6263640" y="3218688"/>
            <a:ext cx="3840480" cy="228600"/>
          </a:xfrm>
          <a:prstGeom prst="rect">
            <a:avLst/>
          </a:prstGeom>
          <a:noFill/>
          <a:ln/>
        </p:spPr>
        <p:txBody>
          <a:bodyPr wrap="square" lIns="0" tIns="0" rIns="0" bIns="0" rtlCol="0" anchor="ctr"/>
          <a:lstStyle/>
          <a:p>
            <a:pPr marL="0" indent="0">
              <a:buNone/>
            </a:pPr>
            <a:r>
              <a:rPr lang="en-US" sz="1350" b="1" dirty="0">
                <a:solidFill>
                  <a:srgbClr val="1B4D5C"/>
                </a:solidFill>
                <a:latin typeface="Inter" pitchFamily="34" charset="0"/>
                <a:ea typeface="Inter" pitchFamily="34" charset="-122"/>
                <a:cs typeface="Inter" pitchFamily="34" charset="-120"/>
              </a:rPr>
              <a:t>EJEMPLOS DE USO · VISIÓN ARTIFICIAL</a:t>
            </a:r>
            <a:endParaRPr lang="en-US" sz="1350" dirty="0"/>
          </a:p>
        </p:txBody>
      </p:sp>
      <p:sp>
        <p:nvSpPr>
          <p:cNvPr id="9" name="Shape 7"/>
          <p:cNvSpPr/>
          <p:nvPr/>
        </p:nvSpPr>
        <p:spPr>
          <a:xfrm>
            <a:off x="292608" y="3529584"/>
            <a:ext cx="5577840"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10" name="Text 8"/>
          <p:cNvSpPr/>
          <p:nvPr/>
        </p:nvSpPr>
        <p:spPr>
          <a:xfrm>
            <a:off x="411480" y="3611880"/>
            <a:ext cx="5321808"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Calcular plazos procesales según el tipo de procedimiento</a:t>
            </a:r>
            <a:endParaRPr lang="en-US" sz="1170" dirty="0"/>
          </a:p>
        </p:txBody>
      </p:sp>
      <p:sp>
        <p:nvSpPr>
          <p:cNvPr id="11" name="Shape 9"/>
          <p:cNvSpPr/>
          <p:nvPr/>
        </p:nvSpPr>
        <p:spPr>
          <a:xfrm>
            <a:off x="6263640" y="3529584"/>
            <a:ext cx="5468112"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6382512" y="3611880"/>
            <a:ext cx="5212080"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Digitalizar y leer documentos escaneados (OCR)</a:t>
            </a:r>
            <a:endParaRPr lang="en-US" sz="1170" dirty="0"/>
          </a:p>
        </p:txBody>
      </p:sp>
      <p:sp>
        <p:nvSpPr>
          <p:cNvPr id="13" name="Shape 11"/>
          <p:cNvSpPr/>
          <p:nvPr/>
        </p:nvSpPr>
        <p:spPr>
          <a:xfrm>
            <a:off x="292608" y="4187952"/>
            <a:ext cx="5577840"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14" name="Text 12"/>
          <p:cNvSpPr/>
          <p:nvPr/>
        </p:nvSpPr>
        <p:spPr>
          <a:xfrm>
            <a:off x="411480" y="4270248"/>
            <a:ext cx="5321808"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Determinar qué normativa aplica según las condiciones de un caso</a:t>
            </a:r>
            <a:endParaRPr lang="en-US" sz="1170" dirty="0"/>
          </a:p>
        </p:txBody>
      </p:sp>
      <p:sp>
        <p:nvSpPr>
          <p:cNvPr id="15" name="Shape 13"/>
          <p:cNvSpPr/>
          <p:nvPr/>
        </p:nvSpPr>
        <p:spPr>
          <a:xfrm>
            <a:off x="6263640" y="4187952"/>
            <a:ext cx="5468112"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16" name="Text 14"/>
          <p:cNvSpPr/>
          <p:nvPr/>
        </p:nvSpPr>
        <p:spPr>
          <a:xfrm>
            <a:off x="6382512" y="4270248"/>
            <a:ext cx="5212080"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Verificación de identidad por reconocimiento facial</a:t>
            </a:r>
            <a:endParaRPr lang="en-US" sz="1170" dirty="0"/>
          </a:p>
        </p:txBody>
      </p:sp>
      <p:sp>
        <p:nvSpPr>
          <p:cNvPr id="17" name="Shape 15"/>
          <p:cNvSpPr/>
          <p:nvPr/>
        </p:nvSpPr>
        <p:spPr>
          <a:xfrm>
            <a:off x="292608" y="4846320"/>
            <a:ext cx="5577840"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18" name="Text 16"/>
          <p:cNvSpPr/>
          <p:nvPr/>
        </p:nvSpPr>
        <p:spPr>
          <a:xfrm>
            <a:off x="411480" y="4928616"/>
            <a:ext cx="5321808"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Motores de baremos (por ejemplo, cálculo orientativo de indemnizaciones)</a:t>
            </a:r>
            <a:endParaRPr lang="en-US" sz="1170" dirty="0"/>
          </a:p>
        </p:txBody>
      </p:sp>
      <p:sp>
        <p:nvSpPr>
          <p:cNvPr id="19" name="Shape 17"/>
          <p:cNvSpPr/>
          <p:nvPr/>
        </p:nvSpPr>
        <p:spPr>
          <a:xfrm>
            <a:off x="6263640" y="4846320"/>
            <a:ext cx="5468112"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20" name="Text 18"/>
          <p:cNvSpPr/>
          <p:nvPr/>
        </p:nvSpPr>
        <p:spPr>
          <a:xfrm>
            <a:off x="6382512" y="4928616"/>
            <a:ext cx="5212080"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Detectar firmas, sellos o alteraciones en un documento</a:t>
            </a:r>
            <a:endParaRPr lang="en-US" sz="1170" dirty="0"/>
          </a:p>
        </p:txBody>
      </p:sp>
      <p:sp>
        <p:nvSpPr>
          <p:cNvPr id="21" name="Shape 19"/>
          <p:cNvSpPr/>
          <p:nvPr/>
        </p:nvSpPr>
        <p:spPr>
          <a:xfrm>
            <a:off x="292608" y="5504688"/>
            <a:ext cx="5577840"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22" name="Text 20"/>
          <p:cNvSpPr/>
          <p:nvPr/>
        </p:nvSpPr>
        <p:spPr>
          <a:xfrm>
            <a:off x="411480" y="5586984"/>
            <a:ext cx="5321808"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Triaje inicial de consultas según palabras clave</a:t>
            </a:r>
            <a:endParaRPr lang="en-US" sz="1170" dirty="0"/>
          </a:p>
        </p:txBody>
      </p:sp>
      <p:sp>
        <p:nvSpPr>
          <p:cNvPr id="23" name="Shape 21"/>
          <p:cNvSpPr/>
          <p:nvPr/>
        </p:nvSpPr>
        <p:spPr>
          <a:xfrm>
            <a:off x="6263640" y="5504688"/>
            <a:ext cx="5468112" cy="512064"/>
          </a:xfrm>
          <a:prstGeom prst="roundRect">
            <a:avLst>
              <a:gd name="adj" fmla="val 14286"/>
            </a:avLst>
          </a:prstGeom>
          <a:solidFill>
            <a:srgbClr val="FFFFFF"/>
          </a:solidFill>
          <a:ln w="12700">
            <a:solidFill>
              <a:srgbClr val="D8E4E8"/>
            </a:solidFill>
            <a:prstDash val="solid"/>
          </a:ln>
        </p:spPr>
        <p:txBody>
          <a:bodyPr/>
          <a:lstStyle/>
          <a:p>
            <a:endParaRPr lang="es-ES"/>
          </a:p>
        </p:txBody>
      </p:sp>
      <p:sp>
        <p:nvSpPr>
          <p:cNvPr id="24" name="Text 22"/>
          <p:cNvSpPr/>
          <p:nvPr/>
        </p:nvSpPr>
        <p:spPr>
          <a:xfrm>
            <a:off x="6382512" y="5586984"/>
            <a:ext cx="5212080" cy="329184"/>
          </a:xfrm>
          <a:prstGeom prst="rect">
            <a:avLst/>
          </a:prstGeom>
          <a:noFill/>
          <a:ln/>
        </p:spPr>
        <p:txBody>
          <a:bodyPr wrap="square" lIns="0" tIns="0" rIns="0" bIns="0" rtlCol="0" anchor="ctr">
            <a:normAutofit/>
          </a:bodyPr>
          <a:lstStyle/>
          <a:p>
            <a:pPr marL="0" indent="0" algn="l">
              <a:buNone/>
            </a:pPr>
            <a:r>
              <a:rPr lang="en-US" sz="1170" dirty="0">
                <a:solidFill>
                  <a:srgbClr val="0B2F3A"/>
                </a:solidFill>
                <a:latin typeface="Inter" pitchFamily="34" charset="0"/>
                <a:ea typeface="Inter" pitchFamily="34" charset="-122"/>
                <a:cs typeface="Inter" pitchFamily="34" charset="-120"/>
              </a:rPr>
              <a:t>Analizar fotografías o vídeos como prueba (por ejemplo, daños en un peritaje)</a:t>
            </a:r>
            <a:endParaRPr lang="en-US" sz="1170" dirty="0"/>
          </a:p>
        </p:txBody>
      </p:sp>
      <p:sp>
        <p:nvSpPr>
          <p:cNvPr id="25" name="Shape 23"/>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6" name="Text 24"/>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57200"/>
            <a:ext cx="1417320" cy="73152"/>
          </a:xfrm>
          <a:prstGeom prst="roundRect">
            <a:avLst>
              <a:gd name="adj" fmla="val 37500"/>
            </a:avLst>
          </a:prstGeom>
          <a:solidFill>
            <a:srgbClr val="C66019"/>
          </a:solidFill>
          <a:ln w="12700">
            <a:solidFill>
              <a:srgbClr val="C66019"/>
            </a:solidFill>
            <a:prstDash val="solid"/>
          </a:ln>
        </p:spPr>
        <p:txBody>
          <a:bodyPr/>
          <a:lstStyle/>
          <a:p>
            <a:endParaRPr lang="es-ES"/>
          </a:p>
        </p:txBody>
      </p:sp>
      <p:sp>
        <p:nvSpPr>
          <p:cNvPr id="3" name="Text 1"/>
          <p:cNvSpPr/>
          <p:nvPr/>
        </p:nvSpPr>
        <p:spPr>
          <a:xfrm>
            <a:off x="658368" y="731520"/>
            <a:ext cx="10698480" cy="411480"/>
          </a:xfrm>
          <a:prstGeom prst="rect">
            <a:avLst/>
          </a:prstGeom>
          <a:noFill/>
          <a:ln/>
        </p:spPr>
        <p:txBody>
          <a:bodyPr wrap="square" lIns="0" tIns="0" rIns="0" bIns="0" rtlCol="0" anchor="ctr">
            <a:normAutofit/>
          </a:bodyPr>
          <a:lstStyle/>
          <a:p>
            <a:pPr marL="0" indent="0">
              <a:buNone/>
            </a:pPr>
            <a:r>
              <a:rPr lang="en-US" sz="2500" b="1" dirty="0">
                <a:solidFill>
                  <a:srgbClr val="C66019"/>
                </a:solidFill>
                <a:latin typeface="Inter" pitchFamily="34" charset="0"/>
                <a:ea typeface="Inter" pitchFamily="34" charset="-122"/>
                <a:cs typeface="Inter" pitchFamily="34" charset="-120"/>
              </a:rPr>
              <a:t>BLOQUE 4 · IA GENERATIVA</a:t>
            </a:r>
            <a:endParaRPr lang="en-US" sz="2500" dirty="0"/>
          </a:p>
        </p:txBody>
      </p:sp>
      <p:sp>
        <p:nvSpPr>
          <p:cNvPr id="4" name="Shape 2"/>
          <p:cNvSpPr/>
          <p:nvPr/>
        </p:nvSpPr>
        <p:spPr>
          <a:xfrm>
            <a:off x="676656" y="1325880"/>
            <a:ext cx="10771632" cy="3749040"/>
          </a:xfrm>
          <a:prstGeom prst="roundRect">
            <a:avLst>
              <a:gd name="adj" fmla="val 1951"/>
            </a:avLst>
          </a:prstGeom>
          <a:solidFill>
            <a:srgbClr val="EAF3F6"/>
          </a:solidFill>
          <a:ln w="12700">
            <a:solidFill>
              <a:srgbClr val="D8E4E8"/>
            </a:solidFill>
            <a:prstDash val="solid"/>
          </a:ln>
        </p:spPr>
        <p:txBody>
          <a:bodyPr/>
          <a:lstStyle/>
          <a:p>
            <a:endParaRPr lang="es-ES"/>
          </a:p>
        </p:txBody>
      </p:sp>
      <p:sp>
        <p:nvSpPr>
          <p:cNvPr id="5" name="Text 3"/>
          <p:cNvSpPr/>
          <p:nvPr/>
        </p:nvSpPr>
        <p:spPr>
          <a:xfrm>
            <a:off x="1078992" y="2423160"/>
            <a:ext cx="9829800" cy="1417320"/>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Ya viste las principales familias de tecnología de IA. La IA generativa no es una familia más: es el tipo de uso que se ha hecho posible sobre todo gracias al aprendizaje profundo aplicado a grandes cantidades de texto, imagen o audio y es, con diferencia, la que más probablemente ya uses en tu día a día.</a:t>
            </a:r>
            <a:endParaRPr lang="en-US" sz="2300" dirty="0"/>
          </a:p>
          <a:p>
            <a:pPr marL="0" indent="0">
              <a:buNone/>
            </a:pPr>
            <a:r>
              <a:rPr lang="en-US" sz="2300" b="1" dirty="0">
                <a:solidFill>
                  <a:srgbClr val="1B4D5C"/>
                </a:solidFill>
                <a:latin typeface="Inter" pitchFamily="34" charset="0"/>
                <a:ea typeface="Inter" pitchFamily="34" charset="-122"/>
                <a:cs typeface="Inter" pitchFamily="34" charset="-120"/>
              </a:rPr>
              <a:t>Veamos qué la hace distinta y por qué puede sonar convincente sin ser correcta.</a:t>
            </a:r>
            <a:endParaRPr lang="en-US" sz="23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1069848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18 · IA TRADICIONAL E IA GENERATIVA: DIFERENCIAS</a:t>
            </a:r>
            <a:endParaRPr lang="en-US" sz="2000" dirty="0"/>
          </a:p>
        </p:txBody>
      </p:sp>
      <p:sp>
        <p:nvSpPr>
          <p:cNvPr id="3" name="Shape 1"/>
          <p:cNvSpPr/>
          <p:nvPr/>
        </p:nvSpPr>
        <p:spPr>
          <a:xfrm>
            <a:off x="292608" y="1325880"/>
            <a:ext cx="5394960" cy="3200400"/>
          </a:xfrm>
          <a:prstGeom prst="roundRect">
            <a:avLst>
              <a:gd name="adj" fmla="val 2286"/>
            </a:avLst>
          </a:prstGeom>
          <a:solidFill>
            <a:srgbClr val="EAF3F6"/>
          </a:solidFill>
          <a:ln w="12700">
            <a:solidFill>
              <a:srgbClr val="D8E4E8"/>
            </a:solidFill>
            <a:prstDash val="solid"/>
          </a:ln>
        </p:spPr>
        <p:txBody>
          <a:bodyPr/>
          <a:lstStyle/>
          <a:p>
            <a:endParaRPr lang="es-ES"/>
          </a:p>
        </p:txBody>
      </p:sp>
      <p:sp>
        <p:nvSpPr>
          <p:cNvPr id="4" name="Text 2"/>
          <p:cNvSpPr/>
          <p:nvPr/>
        </p:nvSpPr>
        <p:spPr>
          <a:xfrm>
            <a:off x="457200" y="1481328"/>
            <a:ext cx="5074920" cy="256032"/>
          </a:xfrm>
          <a:prstGeom prst="rect">
            <a:avLst/>
          </a:prstGeom>
          <a:noFill/>
          <a:ln/>
        </p:spPr>
        <p:txBody>
          <a:bodyPr wrap="square" lIns="0" tIns="0" rIns="0" bIns="0" rtlCol="0" anchor="ctr">
            <a:normAutofit/>
          </a:bodyPr>
          <a:lstStyle/>
          <a:p>
            <a:pPr marL="0" indent="0">
              <a:buNone/>
            </a:pPr>
            <a:r>
              <a:rPr lang="en-US" sz="1700" b="1" dirty="0">
                <a:solidFill>
                  <a:srgbClr val="0B2F3A"/>
                </a:solidFill>
                <a:latin typeface="Inter" pitchFamily="34" charset="0"/>
                <a:ea typeface="Inter" pitchFamily="34" charset="-122"/>
                <a:cs typeface="Inter" pitchFamily="34" charset="-120"/>
              </a:rPr>
              <a:t>IA ANALÍTICA / PREDICTIVA</a:t>
            </a:r>
            <a:endParaRPr lang="en-US" sz="1700" dirty="0"/>
          </a:p>
        </p:txBody>
      </p:sp>
      <p:sp>
        <p:nvSpPr>
          <p:cNvPr id="5" name="Text 3"/>
          <p:cNvSpPr/>
          <p:nvPr/>
        </p:nvSpPr>
        <p:spPr>
          <a:xfrm>
            <a:off x="457200" y="1783080"/>
            <a:ext cx="5074920" cy="26060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 Clasifica información</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Detecta patrones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Realiza predicciones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Recomienda acciones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Puede apoyar decisiones</a:t>
            </a:r>
            <a:endParaRPr lang="en-US" sz="1700" dirty="0"/>
          </a:p>
        </p:txBody>
      </p:sp>
      <p:sp>
        <p:nvSpPr>
          <p:cNvPr id="6" name="Shape 4"/>
          <p:cNvSpPr/>
          <p:nvPr/>
        </p:nvSpPr>
        <p:spPr>
          <a:xfrm>
            <a:off x="6144768" y="1325880"/>
            <a:ext cx="5577840" cy="3200400"/>
          </a:xfrm>
          <a:prstGeom prst="roundRect">
            <a:avLst>
              <a:gd name="adj" fmla="val 2286"/>
            </a:avLst>
          </a:prstGeom>
          <a:solidFill>
            <a:srgbClr val="FFF6EF"/>
          </a:solidFill>
          <a:ln w="12700">
            <a:solidFill>
              <a:srgbClr val="D8E4E8"/>
            </a:solidFill>
            <a:prstDash val="solid"/>
          </a:ln>
        </p:spPr>
        <p:txBody>
          <a:bodyPr/>
          <a:lstStyle/>
          <a:p>
            <a:endParaRPr lang="es-ES"/>
          </a:p>
        </p:txBody>
      </p:sp>
      <p:sp>
        <p:nvSpPr>
          <p:cNvPr id="7" name="Text 5"/>
          <p:cNvSpPr/>
          <p:nvPr/>
        </p:nvSpPr>
        <p:spPr>
          <a:xfrm>
            <a:off x="6309360" y="1481328"/>
            <a:ext cx="5257800" cy="256032"/>
          </a:xfrm>
          <a:prstGeom prst="rect">
            <a:avLst/>
          </a:prstGeom>
          <a:noFill/>
          <a:ln/>
        </p:spPr>
        <p:txBody>
          <a:bodyPr wrap="square" lIns="0" tIns="0" rIns="0" bIns="0" rtlCol="0" anchor="ctr">
            <a:normAutofit/>
          </a:bodyPr>
          <a:lstStyle/>
          <a:p>
            <a:pPr marL="0" indent="0">
              <a:buNone/>
            </a:pPr>
            <a:r>
              <a:rPr lang="en-US" sz="1700" b="1" dirty="0">
                <a:solidFill>
                  <a:srgbClr val="C66019"/>
                </a:solidFill>
                <a:latin typeface="Inter" pitchFamily="34" charset="0"/>
                <a:ea typeface="Inter" pitchFamily="34" charset="-122"/>
                <a:cs typeface="Inter" pitchFamily="34" charset="-120"/>
              </a:rPr>
              <a:t>IA GENERATIVA</a:t>
            </a:r>
            <a:endParaRPr lang="en-US" sz="1700" dirty="0"/>
          </a:p>
        </p:txBody>
      </p:sp>
      <p:sp>
        <p:nvSpPr>
          <p:cNvPr id="8" name="Text 6"/>
          <p:cNvSpPr/>
          <p:nvPr/>
        </p:nvSpPr>
        <p:spPr>
          <a:xfrm>
            <a:off x="6309360" y="1783080"/>
            <a:ext cx="5257800" cy="26060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 Genera texto, imagen, audio, vídeo o código</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Responde en lenguaje natural</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Crea borradores y propuestas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Puede imitar formatos o estilos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Puede combinar varias modalidades</a:t>
            </a:r>
            <a:endParaRPr lang="en-US" sz="1700" dirty="0"/>
          </a:p>
        </p:txBody>
      </p:sp>
      <p:sp>
        <p:nvSpPr>
          <p:cNvPr id="9" name="Shape 7"/>
          <p:cNvSpPr/>
          <p:nvPr/>
        </p:nvSpPr>
        <p:spPr>
          <a:xfrm>
            <a:off x="292608" y="4892040"/>
            <a:ext cx="11430000" cy="822960"/>
          </a:xfrm>
          <a:prstGeom prst="roundRect">
            <a:avLst>
              <a:gd name="adj" fmla="val 8889"/>
            </a:avLst>
          </a:prstGeom>
          <a:solidFill>
            <a:srgbClr val="FFFFFF"/>
          </a:solidFill>
          <a:ln w="12700">
            <a:solidFill>
              <a:srgbClr val="D8E4E8"/>
            </a:solidFill>
            <a:prstDash val="solid"/>
          </a:ln>
        </p:spPr>
        <p:txBody>
          <a:bodyPr/>
          <a:lstStyle/>
          <a:p>
            <a:endParaRPr lang="es-ES"/>
          </a:p>
        </p:txBody>
      </p:sp>
      <p:sp>
        <p:nvSpPr>
          <p:cNvPr id="10" name="Text 8"/>
          <p:cNvSpPr/>
          <p:nvPr/>
        </p:nvSpPr>
        <p:spPr>
          <a:xfrm>
            <a:off x="502920" y="5074920"/>
            <a:ext cx="10835640" cy="457200"/>
          </a:xfrm>
          <a:prstGeom prst="rect">
            <a:avLst/>
          </a:prstGeom>
          <a:noFill/>
          <a:ln/>
        </p:spPr>
        <p:txBody>
          <a:bodyPr wrap="square" lIns="0" tIns="0" rIns="0" bIns="0" rtlCol="0" anchor="ctr">
            <a:normAutofit/>
          </a:bodyPr>
          <a:lstStyle/>
          <a:p>
            <a:pPr marL="0" indent="0" algn="l">
              <a:buNone/>
            </a:pPr>
            <a:r>
              <a:rPr lang="en-US" sz="1400" b="1" dirty="0">
                <a:solidFill>
                  <a:srgbClr val="1D3461"/>
                </a:solidFill>
                <a:latin typeface="Inter" pitchFamily="34" charset="0"/>
                <a:ea typeface="Inter" pitchFamily="34" charset="-122"/>
                <a:cs typeface="Inter" pitchFamily="34" charset="-120"/>
              </a:rPr>
              <a:t>Los grandes modelos generativos se encuadran como modelos de IA de uso general (GPAI). Que un contenido sea técnicamente nuevo no implica que sea original, verdadero, lícito o libre de derechos de terceros.</a:t>
            </a:r>
            <a:endParaRPr lang="en-US" sz="1400" dirty="0"/>
          </a:p>
        </p:txBody>
      </p:sp>
      <p:sp>
        <p:nvSpPr>
          <p:cNvPr id="11" name="Shape 9"/>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2" name="Text 10"/>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23544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19 · ¿CÓMO GENERA UNA RESPUESTA UN MODELO DE LENGUAJE?</a:t>
            </a:r>
            <a:endParaRPr lang="en-US" sz="20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658368" y="960120"/>
            <a:ext cx="10058400" cy="640080"/>
          </a:xfrm>
          <a:prstGeom prst="rect">
            <a:avLst/>
          </a:prstGeom>
          <a:noFill/>
          <a:ln/>
        </p:spPr>
        <p:txBody>
          <a:bodyPr wrap="square" lIns="0" tIns="0" rIns="0" bIns="0" rtlCol="0" anchor="ctr">
            <a:normAutofit/>
          </a:bodyPr>
          <a:lstStyle/>
          <a:p>
            <a:pPr marL="0" indent="0">
              <a:buNone/>
            </a:pPr>
            <a:r>
              <a:rPr lang="en-US" sz="1700" b="1" dirty="0">
                <a:solidFill>
                  <a:srgbClr val="1B4D5C"/>
                </a:solidFill>
                <a:latin typeface="Inter" pitchFamily="34" charset="0"/>
                <a:ea typeface="Inter" pitchFamily="34" charset="-122"/>
                <a:cs typeface="Inter" pitchFamily="34" charset="-120"/>
              </a:rPr>
              <a:t>De todos los tipos de IA generativa que has visto, nos centramos en los modelos de lenguaje de texto — son los que más vas a usar en tu día a día.</a:t>
            </a:r>
            <a:endParaRPr lang="en-US" sz="1700" dirty="0"/>
          </a:p>
        </p:txBody>
      </p:sp>
      <p:sp>
        <p:nvSpPr>
          <p:cNvPr id="9" name="Text 6"/>
          <p:cNvSpPr/>
          <p:nvPr/>
        </p:nvSpPr>
        <p:spPr>
          <a:xfrm>
            <a:off x="658368" y="1755648"/>
            <a:ext cx="1097280" cy="228600"/>
          </a:xfrm>
          <a:prstGeom prst="rect">
            <a:avLst/>
          </a:prstGeom>
          <a:noFill/>
          <a:ln/>
        </p:spPr>
        <p:txBody>
          <a:bodyPr wrap="square" lIns="0" tIns="0" rIns="0" bIns="0" rtlCol="0" anchor="ctr"/>
          <a:lstStyle/>
          <a:p>
            <a:pPr marL="0" indent="0">
              <a:buNone/>
            </a:pPr>
            <a:r>
              <a:rPr lang="en-US" sz="1450" b="1" dirty="0">
                <a:solidFill>
                  <a:srgbClr val="C66019"/>
                </a:solidFill>
                <a:latin typeface="Inter" pitchFamily="34" charset="0"/>
                <a:ea typeface="Inter" pitchFamily="34" charset="-122"/>
                <a:cs typeface="Inter" pitchFamily="34" charset="-120"/>
              </a:rPr>
              <a:t>5 pasos</a:t>
            </a:r>
            <a:endParaRPr lang="en-US" sz="1450" dirty="0"/>
          </a:p>
        </p:txBody>
      </p:sp>
      <p:sp>
        <p:nvSpPr>
          <p:cNvPr id="10" name="Shape 7"/>
          <p:cNvSpPr/>
          <p:nvPr/>
        </p:nvSpPr>
        <p:spPr>
          <a:xfrm>
            <a:off x="658368" y="2084832"/>
            <a:ext cx="10744200" cy="548640"/>
          </a:xfrm>
          <a:prstGeom prst="roundRect">
            <a:avLst>
              <a:gd name="adj" fmla="val 13333"/>
            </a:avLst>
          </a:prstGeom>
          <a:solidFill>
            <a:srgbClr val="EAF3F6"/>
          </a:solidFill>
          <a:ln w="12700">
            <a:solidFill>
              <a:srgbClr val="D8E4E8"/>
            </a:solidFill>
            <a:prstDash val="solid"/>
          </a:ln>
        </p:spPr>
        <p:txBody>
          <a:bodyPr/>
          <a:lstStyle/>
          <a:p>
            <a:endParaRPr lang="es-ES"/>
          </a:p>
        </p:txBody>
      </p:sp>
      <p:sp>
        <p:nvSpPr>
          <p:cNvPr id="11" name="Text 8"/>
          <p:cNvSpPr/>
          <p:nvPr/>
        </p:nvSpPr>
        <p:spPr>
          <a:xfrm>
            <a:off x="886968" y="2167128"/>
            <a:ext cx="10241280" cy="347472"/>
          </a:xfrm>
          <a:prstGeom prst="rect">
            <a:avLst/>
          </a:prstGeom>
          <a:noFill/>
          <a:ln/>
        </p:spPr>
        <p:txBody>
          <a:bodyPr wrap="square" lIns="0" tIns="0" rIns="0" bIns="0" rtlCol="0" anchor="ctr">
            <a:normAutofit/>
          </a:bodyPr>
          <a:lstStyle/>
          <a:p>
            <a:pPr marL="0" indent="0" algn="l">
              <a:buNone/>
            </a:pPr>
            <a:r>
              <a:rPr lang="en-US" sz="1480" b="1" dirty="0">
                <a:solidFill>
                  <a:srgbClr val="1B4D5C"/>
                </a:solidFill>
                <a:latin typeface="Inter" pitchFamily="34" charset="0"/>
                <a:ea typeface="Inter" pitchFamily="34" charset="-122"/>
                <a:cs typeface="Inter" pitchFamily="34" charset="-120"/>
              </a:rPr>
              <a:t>1. Recibe una instrucción</a:t>
            </a:r>
            <a:endParaRPr lang="en-US" sz="1480" dirty="0"/>
          </a:p>
        </p:txBody>
      </p:sp>
      <p:sp>
        <p:nvSpPr>
          <p:cNvPr id="12" name="Shape 9"/>
          <p:cNvSpPr/>
          <p:nvPr/>
        </p:nvSpPr>
        <p:spPr>
          <a:xfrm>
            <a:off x="658368" y="2779776"/>
            <a:ext cx="1074420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13" name="Text 10"/>
          <p:cNvSpPr/>
          <p:nvPr/>
        </p:nvSpPr>
        <p:spPr>
          <a:xfrm>
            <a:off x="886968" y="2862072"/>
            <a:ext cx="10241280" cy="347472"/>
          </a:xfrm>
          <a:prstGeom prst="rect">
            <a:avLst/>
          </a:prstGeom>
          <a:noFill/>
          <a:ln/>
        </p:spPr>
        <p:txBody>
          <a:bodyPr wrap="square" lIns="0" tIns="0" rIns="0" bIns="0" rtlCol="0" anchor="ctr">
            <a:normAutofit/>
          </a:bodyPr>
          <a:lstStyle/>
          <a:p>
            <a:pPr marL="0" indent="0" algn="l">
              <a:buNone/>
            </a:pPr>
            <a:r>
              <a:rPr lang="en-US" sz="1480" b="1" dirty="0">
                <a:solidFill>
                  <a:srgbClr val="1B4D5C"/>
                </a:solidFill>
                <a:latin typeface="Inter" pitchFamily="34" charset="0"/>
                <a:ea typeface="Inter" pitchFamily="34" charset="-122"/>
                <a:cs typeface="Inter" pitchFamily="34" charset="-120"/>
              </a:rPr>
              <a:t>2. Analiza el contexto disponible</a:t>
            </a:r>
            <a:endParaRPr lang="en-US" sz="1480" dirty="0"/>
          </a:p>
        </p:txBody>
      </p:sp>
      <p:sp>
        <p:nvSpPr>
          <p:cNvPr id="14" name="Shape 11"/>
          <p:cNvSpPr/>
          <p:nvPr/>
        </p:nvSpPr>
        <p:spPr>
          <a:xfrm>
            <a:off x="658368" y="3474720"/>
            <a:ext cx="10744200" cy="548640"/>
          </a:xfrm>
          <a:prstGeom prst="roundRect">
            <a:avLst>
              <a:gd name="adj" fmla="val 13333"/>
            </a:avLst>
          </a:prstGeom>
          <a:solidFill>
            <a:srgbClr val="EAF3F6"/>
          </a:solidFill>
          <a:ln w="12700">
            <a:solidFill>
              <a:srgbClr val="D8E4E8"/>
            </a:solidFill>
            <a:prstDash val="solid"/>
          </a:ln>
        </p:spPr>
        <p:txBody>
          <a:bodyPr/>
          <a:lstStyle/>
          <a:p>
            <a:endParaRPr lang="es-ES"/>
          </a:p>
        </p:txBody>
      </p:sp>
      <p:sp>
        <p:nvSpPr>
          <p:cNvPr id="15" name="Text 12"/>
          <p:cNvSpPr/>
          <p:nvPr/>
        </p:nvSpPr>
        <p:spPr>
          <a:xfrm>
            <a:off x="886968" y="3557016"/>
            <a:ext cx="10241280" cy="347472"/>
          </a:xfrm>
          <a:prstGeom prst="rect">
            <a:avLst/>
          </a:prstGeom>
          <a:noFill/>
          <a:ln/>
        </p:spPr>
        <p:txBody>
          <a:bodyPr wrap="square" lIns="0" tIns="0" rIns="0" bIns="0" rtlCol="0" anchor="ctr">
            <a:normAutofit/>
          </a:bodyPr>
          <a:lstStyle/>
          <a:p>
            <a:pPr marL="0" indent="0" algn="l">
              <a:buNone/>
            </a:pPr>
            <a:r>
              <a:rPr lang="en-US" sz="1480" b="1" dirty="0">
                <a:solidFill>
                  <a:srgbClr val="1B4D5C"/>
                </a:solidFill>
                <a:latin typeface="Inter" pitchFamily="34" charset="0"/>
                <a:ea typeface="Inter" pitchFamily="34" charset="-122"/>
                <a:cs typeface="Inter" pitchFamily="34" charset="-120"/>
              </a:rPr>
              <a:t>3. Calcula patrones y probabilidades</a:t>
            </a:r>
            <a:endParaRPr lang="en-US" sz="1480" dirty="0"/>
          </a:p>
        </p:txBody>
      </p:sp>
      <p:sp>
        <p:nvSpPr>
          <p:cNvPr id="16" name="Shape 13"/>
          <p:cNvSpPr/>
          <p:nvPr/>
        </p:nvSpPr>
        <p:spPr>
          <a:xfrm>
            <a:off x="658368" y="4169664"/>
            <a:ext cx="10744200" cy="548640"/>
          </a:xfrm>
          <a:prstGeom prst="roundRect">
            <a:avLst>
              <a:gd name="adj" fmla="val 13333"/>
            </a:avLst>
          </a:prstGeom>
          <a:solidFill>
            <a:srgbClr val="FFFFFF"/>
          </a:solidFill>
          <a:ln w="12700">
            <a:solidFill>
              <a:srgbClr val="D8E4E8"/>
            </a:solidFill>
            <a:prstDash val="solid"/>
          </a:ln>
        </p:spPr>
        <p:txBody>
          <a:bodyPr/>
          <a:lstStyle/>
          <a:p>
            <a:endParaRPr lang="es-ES"/>
          </a:p>
        </p:txBody>
      </p:sp>
      <p:sp>
        <p:nvSpPr>
          <p:cNvPr id="17" name="Text 14"/>
          <p:cNvSpPr/>
          <p:nvPr/>
        </p:nvSpPr>
        <p:spPr>
          <a:xfrm>
            <a:off x="886968" y="4251960"/>
            <a:ext cx="10241280" cy="347472"/>
          </a:xfrm>
          <a:prstGeom prst="rect">
            <a:avLst/>
          </a:prstGeom>
          <a:noFill/>
          <a:ln/>
        </p:spPr>
        <p:txBody>
          <a:bodyPr wrap="square" lIns="0" tIns="0" rIns="0" bIns="0" rtlCol="0" anchor="ctr">
            <a:normAutofit/>
          </a:bodyPr>
          <a:lstStyle/>
          <a:p>
            <a:pPr marL="0" indent="0" algn="l">
              <a:buNone/>
            </a:pPr>
            <a:r>
              <a:rPr lang="en-US" sz="1480" b="1" dirty="0">
                <a:solidFill>
                  <a:srgbClr val="1B4D5C"/>
                </a:solidFill>
                <a:latin typeface="Inter" pitchFamily="34" charset="0"/>
                <a:ea typeface="Inter" pitchFamily="34" charset="-122"/>
                <a:cs typeface="Inter" pitchFamily="34" charset="-120"/>
              </a:rPr>
              <a:t>4. Genera una secuencia de palabras</a:t>
            </a:r>
            <a:endParaRPr lang="en-US" sz="1480" dirty="0"/>
          </a:p>
        </p:txBody>
      </p:sp>
      <p:sp>
        <p:nvSpPr>
          <p:cNvPr id="18" name="Shape 15"/>
          <p:cNvSpPr/>
          <p:nvPr/>
        </p:nvSpPr>
        <p:spPr>
          <a:xfrm>
            <a:off x="658368" y="4864608"/>
            <a:ext cx="10744200" cy="548640"/>
          </a:xfrm>
          <a:prstGeom prst="roundRect">
            <a:avLst>
              <a:gd name="adj" fmla="val 13333"/>
            </a:avLst>
          </a:prstGeom>
          <a:solidFill>
            <a:srgbClr val="EAF3F6"/>
          </a:solidFill>
          <a:ln w="12700">
            <a:solidFill>
              <a:srgbClr val="D8E4E8"/>
            </a:solidFill>
            <a:prstDash val="solid"/>
          </a:ln>
        </p:spPr>
        <p:txBody>
          <a:bodyPr/>
          <a:lstStyle/>
          <a:p>
            <a:endParaRPr lang="es-ES"/>
          </a:p>
        </p:txBody>
      </p:sp>
      <p:sp>
        <p:nvSpPr>
          <p:cNvPr id="19" name="Text 16"/>
          <p:cNvSpPr/>
          <p:nvPr/>
        </p:nvSpPr>
        <p:spPr>
          <a:xfrm>
            <a:off x="886968" y="4946904"/>
            <a:ext cx="10241280" cy="347472"/>
          </a:xfrm>
          <a:prstGeom prst="rect">
            <a:avLst/>
          </a:prstGeom>
          <a:noFill/>
          <a:ln/>
        </p:spPr>
        <p:txBody>
          <a:bodyPr wrap="square" lIns="0" tIns="0" rIns="0" bIns="0" rtlCol="0" anchor="ctr">
            <a:normAutofit/>
          </a:bodyPr>
          <a:lstStyle/>
          <a:p>
            <a:pPr marL="0" indent="0" algn="l">
              <a:buNone/>
            </a:pPr>
            <a:r>
              <a:rPr lang="en-US" sz="1480" b="1" dirty="0">
                <a:solidFill>
                  <a:srgbClr val="1B4D5C"/>
                </a:solidFill>
                <a:latin typeface="Inter" pitchFamily="34" charset="0"/>
                <a:ea typeface="Inter" pitchFamily="34" charset="-122"/>
                <a:cs typeface="Inter" pitchFamily="34" charset="-120"/>
              </a:rPr>
              <a:t>5. Ajusta la salida a instrucciones y límites</a:t>
            </a:r>
            <a:endParaRPr lang="en-US" sz="1480" dirty="0"/>
          </a:p>
        </p:txBody>
      </p:sp>
      <p:sp>
        <p:nvSpPr>
          <p:cNvPr id="20" name="Shape 17"/>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1" name="Text 18"/>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20 · FLUIDEZ ≠ VERACIDAD</a:t>
            </a:r>
            <a:endParaRPr lang="en-US" sz="2000" dirty="0"/>
          </a:p>
        </p:txBody>
      </p:sp>
      <p:sp>
        <p:nvSpPr>
          <p:cNvPr id="3" name="Text 1"/>
          <p:cNvSpPr/>
          <p:nvPr/>
        </p:nvSpPr>
        <p:spPr>
          <a:xfrm>
            <a:off x="658368" y="896112"/>
            <a:ext cx="3657600" cy="274320"/>
          </a:xfrm>
          <a:prstGeom prst="rect">
            <a:avLst/>
          </a:prstGeom>
          <a:noFill/>
          <a:ln/>
        </p:spPr>
        <p:txBody>
          <a:bodyPr wrap="square" lIns="0" tIns="0" rIns="0" bIns="0" rtlCol="0" anchor="ctr"/>
          <a:lstStyle/>
          <a:p>
            <a:pPr marL="0" indent="0">
              <a:buNone/>
            </a:pPr>
            <a:r>
              <a:rPr lang="en-US" sz="2000" b="1" dirty="0">
                <a:solidFill>
                  <a:srgbClr val="1B4D5C"/>
                </a:solidFill>
                <a:latin typeface="Inter" pitchFamily="34" charset="0"/>
                <a:ea typeface="Inter" pitchFamily="34" charset="-122"/>
                <a:cs typeface="Inter" pitchFamily="34" charset="-120"/>
              </a:rPr>
              <a:t>ANTES DE UTILIZARLA:</a:t>
            </a:r>
            <a:endParaRPr lang="en-US" sz="2000" dirty="0"/>
          </a:p>
        </p:txBody>
      </p:sp>
      <p:sp>
        <p:nvSpPr>
          <p:cNvPr id="4" name="Text 2"/>
          <p:cNvSpPr/>
          <p:nvPr/>
        </p:nvSpPr>
        <p:spPr>
          <a:xfrm>
            <a:off x="658368" y="1280160"/>
            <a:ext cx="10607040" cy="603504"/>
          </a:xfrm>
          <a:prstGeom prst="rect">
            <a:avLst/>
          </a:prstGeom>
          <a:noFill/>
          <a:ln/>
        </p:spPr>
        <p:txBody>
          <a:bodyPr wrap="square" lIns="0" tIns="0" rIns="0" bIns="0" rtlCol="0" anchor="ctr">
            <a:normAutofit/>
          </a:bodyPr>
          <a:lstStyle/>
          <a:p>
            <a:pPr marL="0" indent="0">
              <a:buNone/>
            </a:pPr>
            <a:r>
              <a:rPr lang="en-US" sz="1650" dirty="0">
                <a:solidFill>
                  <a:srgbClr val="1B4D5C"/>
                </a:solidFill>
                <a:latin typeface="Inter" pitchFamily="34" charset="0"/>
                <a:ea typeface="Inter" pitchFamily="34" charset="-122"/>
                <a:cs typeface="Inter" pitchFamily="34" charset="-120"/>
              </a:rPr>
              <a:t>Comprueba datos, referencias y fuentes relevantes. Una respuesta puede parecer precisa sin que cada afirmación haya sido verificada.</a:t>
            </a:r>
            <a:endParaRPr lang="en-US" sz="1650" dirty="0"/>
          </a:p>
        </p:txBody>
      </p:sp>
      <p:sp>
        <p:nvSpPr>
          <p:cNvPr id="5" name="Text 3"/>
          <p:cNvSpPr/>
          <p:nvPr/>
        </p:nvSpPr>
        <p:spPr>
          <a:xfrm>
            <a:off x="658368" y="2084832"/>
            <a:ext cx="3017520" cy="256032"/>
          </a:xfrm>
          <a:prstGeom prst="rect">
            <a:avLst/>
          </a:prstGeom>
          <a:noFill/>
          <a:ln/>
        </p:spPr>
        <p:txBody>
          <a:bodyPr wrap="square" lIns="0" tIns="0" rIns="0" bIns="0" rtlCol="0" anchor="ctr"/>
          <a:lstStyle/>
          <a:p>
            <a:pPr marL="0" indent="0">
              <a:buNone/>
            </a:pPr>
            <a:r>
              <a:rPr lang="en-US" sz="1520" b="1" dirty="0">
                <a:solidFill>
                  <a:srgbClr val="C66019"/>
                </a:solidFill>
                <a:latin typeface="Inter" pitchFamily="34" charset="0"/>
                <a:ea typeface="Inter" pitchFamily="34" charset="-122"/>
                <a:cs typeface="Inter" pitchFamily="34" charset="-120"/>
              </a:rPr>
              <a:t>3 preguntas de control:</a:t>
            </a:r>
            <a:endParaRPr lang="en-US" sz="1520" dirty="0"/>
          </a:p>
        </p:txBody>
      </p:sp>
      <p:sp>
        <p:nvSpPr>
          <p:cNvPr id="6" name="Shape 4"/>
          <p:cNvSpPr/>
          <p:nvPr/>
        </p:nvSpPr>
        <p:spPr>
          <a:xfrm>
            <a:off x="658368" y="2487168"/>
            <a:ext cx="10744200" cy="749808"/>
          </a:xfrm>
          <a:prstGeom prst="roundRect">
            <a:avLst>
              <a:gd name="adj" fmla="val 9756"/>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96112" y="2724912"/>
            <a:ext cx="1645920" cy="228600"/>
          </a:xfrm>
          <a:prstGeom prst="rect">
            <a:avLst/>
          </a:prstGeom>
          <a:noFill/>
          <a:ln/>
        </p:spPr>
        <p:txBody>
          <a:bodyPr wrap="square" lIns="0" tIns="0" rIns="0" bIns="0" rtlCol="0" anchor="ctr"/>
          <a:lstStyle/>
          <a:p>
            <a:pPr marL="0" indent="0">
              <a:buNone/>
            </a:pPr>
            <a:r>
              <a:rPr lang="en-US" sz="1450" b="1" dirty="0">
                <a:solidFill>
                  <a:srgbClr val="1D3461"/>
                </a:solidFill>
                <a:latin typeface="Inter" pitchFamily="34" charset="0"/>
                <a:ea typeface="Inter" pitchFamily="34" charset="-122"/>
                <a:cs typeface="Inter" pitchFamily="34" charset="-120"/>
              </a:rPr>
              <a:t>FUENTE</a:t>
            </a:r>
            <a:endParaRPr lang="en-US" sz="1450" dirty="0"/>
          </a:p>
        </p:txBody>
      </p:sp>
      <p:sp>
        <p:nvSpPr>
          <p:cNvPr id="8" name="Text 6"/>
          <p:cNvSpPr/>
          <p:nvPr/>
        </p:nvSpPr>
        <p:spPr>
          <a:xfrm>
            <a:off x="2651760" y="2633472"/>
            <a:ext cx="8138160" cy="347472"/>
          </a:xfrm>
          <a:prstGeom prst="rect">
            <a:avLst/>
          </a:prstGeom>
          <a:noFill/>
          <a:ln/>
        </p:spPr>
        <p:txBody>
          <a:bodyPr wrap="square" lIns="0" tIns="0" rIns="0" bIns="0" rtlCol="0" anchor="ctr">
            <a:normAutofit/>
          </a:bodyPr>
          <a:lstStyle/>
          <a:p>
            <a:pPr marL="0" indent="0" algn="l">
              <a:buNone/>
            </a:pPr>
            <a:r>
              <a:rPr lang="en-US" sz="1550" dirty="0">
                <a:solidFill>
                  <a:srgbClr val="1B4D5C"/>
                </a:solidFill>
                <a:latin typeface="Inter" pitchFamily="34" charset="0"/>
                <a:ea typeface="Inter" pitchFamily="34" charset="-122"/>
                <a:cs typeface="Inter" pitchFamily="34" charset="-120"/>
              </a:rPr>
              <a:t>¿Existe y dice realmente eso?</a:t>
            </a:r>
            <a:endParaRPr lang="en-US" sz="1550" dirty="0"/>
          </a:p>
        </p:txBody>
      </p:sp>
      <p:sp>
        <p:nvSpPr>
          <p:cNvPr id="9" name="Shape 7"/>
          <p:cNvSpPr/>
          <p:nvPr/>
        </p:nvSpPr>
        <p:spPr>
          <a:xfrm>
            <a:off x="658368" y="3456432"/>
            <a:ext cx="10744200" cy="749808"/>
          </a:xfrm>
          <a:prstGeom prst="roundRect">
            <a:avLst>
              <a:gd name="adj" fmla="val 9756"/>
            </a:avLst>
          </a:prstGeom>
          <a:solidFill>
            <a:srgbClr val="FFF6EF"/>
          </a:solidFill>
          <a:ln w="12700">
            <a:solidFill>
              <a:srgbClr val="D8E4E8"/>
            </a:solidFill>
            <a:prstDash val="solid"/>
          </a:ln>
        </p:spPr>
        <p:txBody>
          <a:bodyPr/>
          <a:lstStyle/>
          <a:p>
            <a:endParaRPr lang="es-ES"/>
          </a:p>
        </p:txBody>
      </p:sp>
      <p:sp>
        <p:nvSpPr>
          <p:cNvPr id="10" name="Text 8"/>
          <p:cNvSpPr/>
          <p:nvPr/>
        </p:nvSpPr>
        <p:spPr>
          <a:xfrm>
            <a:off x="896112" y="3694176"/>
            <a:ext cx="1645920" cy="228600"/>
          </a:xfrm>
          <a:prstGeom prst="rect">
            <a:avLst/>
          </a:prstGeom>
          <a:noFill/>
          <a:ln/>
        </p:spPr>
        <p:txBody>
          <a:bodyPr wrap="square" lIns="0" tIns="0" rIns="0" bIns="0" rtlCol="0" anchor="ctr"/>
          <a:lstStyle/>
          <a:p>
            <a:pPr marL="0" indent="0">
              <a:buNone/>
            </a:pPr>
            <a:r>
              <a:rPr lang="en-US" sz="1450" b="1" dirty="0">
                <a:solidFill>
                  <a:srgbClr val="C66019"/>
                </a:solidFill>
                <a:latin typeface="Inter" pitchFamily="34" charset="0"/>
                <a:ea typeface="Inter" pitchFamily="34" charset="-122"/>
                <a:cs typeface="Inter" pitchFamily="34" charset="-120"/>
              </a:rPr>
              <a:t>FECHA</a:t>
            </a:r>
            <a:endParaRPr lang="en-US" sz="1450" dirty="0"/>
          </a:p>
        </p:txBody>
      </p:sp>
      <p:sp>
        <p:nvSpPr>
          <p:cNvPr id="11" name="Text 9"/>
          <p:cNvSpPr/>
          <p:nvPr/>
        </p:nvSpPr>
        <p:spPr>
          <a:xfrm>
            <a:off x="2651760" y="3602736"/>
            <a:ext cx="8138160" cy="347472"/>
          </a:xfrm>
          <a:prstGeom prst="rect">
            <a:avLst/>
          </a:prstGeom>
          <a:noFill/>
          <a:ln/>
        </p:spPr>
        <p:txBody>
          <a:bodyPr wrap="square" lIns="0" tIns="0" rIns="0" bIns="0" rtlCol="0" anchor="ctr">
            <a:normAutofit/>
          </a:bodyPr>
          <a:lstStyle/>
          <a:p>
            <a:pPr marL="0" indent="0" algn="l">
              <a:buNone/>
            </a:pPr>
            <a:r>
              <a:rPr lang="en-US" sz="1550" dirty="0">
                <a:solidFill>
                  <a:srgbClr val="1B4D5C"/>
                </a:solidFill>
                <a:latin typeface="Inter" pitchFamily="34" charset="0"/>
                <a:ea typeface="Inter" pitchFamily="34" charset="-122"/>
                <a:cs typeface="Inter" pitchFamily="34" charset="-120"/>
              </a:rPr>
              <a:t>¿La información sigue vigente?</a:t>
            </a:r>
            <a:endParaRPr lang="en-US" sz="1550" dirty="0"/>
          </a:p>
        </p:txBody>
      </p:sp>
      <p:sp>
        <p:nvSpPr>
          <p:cNvPr id="12" name="Shape 10"/>
          <p:cNvSpPr/>
          <p:nvPr/>
        </p:nvSpPr>
        <p:spPr>
          <a:xfrm>
            <a:off x="658368" y="4425696"/>
            <a:ext cx="10744200" cy="749808"/>
          </a:xfrm>
          <a:prstGeom prst="roundRect">
            <a:avLst>
              <a:gd name="adj" fmla="val 9756"/>
            </a:avLst>
          </a:prstGeom>
          <a:solidFill>
            <a:srgbClr val="EAF3F6"/>
          </a:solidFill>
          <a:ln w="12700">
            <a:solidFill>
              <a:srgbClr val="D8E4E8"/>
            </a:solidFill>
            <a:prstDash val="solid"/>
          </a:ln>
        </p:spPr>
        <p:txBody>
          <a:bodyPr/>
          <a:lstStyle/>
          <a:p>
            <a:endParaRPr lang="es-ES"/>
          </a:p>
        </p:txBody>
      </p:sp>
      <p:sp>
        <p:nvSpPr>
          <p:cNvPr id="13" name="Text 11"/>
          <p:cNvSpPr/>
          <p:nvPr/>
        </p:nvSpPr>
        <p:spPr>
          <a:xfrm>
            <a:off x="896112" y="4663440"/>
            <a:ext cx="1645920" cy="228600"/>
          </a:xfrm>
          <a:prstGeom prst="rect">
            <a:avLst/>
          </a:prstGeom>
          <a:noFill/>
          <a:ln/>
        </p:spPr>
        <p:txBody>
          <a:bodyPr wrap="square" lIns="0" tIns="0" rIns="0" bIns="0" rtlCol="0" anchor="ctr"/>
          <a:lstStyle/>
          <a:p>
            <a:pPr marL="0" indent="0">
              <a:buNone/>
            </a:pPr>
            <a:r>
              <a:rPr lang="en-US" sz="1450" b="1" dirty="0">
                <a:solidFill>
                  <a:srgbClr val="1D3461"/>
                </a:solidFill>
                <a:latin typeface="Inter" pitchFamily="34" charset="0"/>
                <a:ea typeface="Inter" pitchFamily="34" charset="-122"/>
                <a:cs typeface="Inter" pitchFamily="34" charset="-120"/>
              </a:rPr>
              <a:t>AFIRMACIÓN</a:t>
            </a:r>
            <a:endParaRPr lang="en-US" sz="1450" dirty="0"/>
          </a:p>
        </p:txBody>
      </p:sp>
      <p:sp>
        <p:nvSpPr>
          <p:cNvPr id="14" name="Text 12"/>
          <p:cNvSpPr/>
          <p:nvPr/>
        </p:nvSpPr>
        <p:spPr>
          <a:xfrm>
            <a:off x="2651760" y="4572000"/>
            <a:ext cx="8138160" cy="347472"/>
          </a:xfrm>
          <a:prstGeom prst="rect">
            <a:avLst/>
          </a:prstGeom>
          <a:noFill/>
          <a:ln/>
        </p:spPr>
        <p:txBody>
          <a:bodyPr wrap="square" lIns="0" tIns="0" rIns="0" bIns="0" rtlCol="0" anchor="ctr">
            <a:normAutofit/>
          </a:bodyPr>
          <a:lstStyle/>
          <a:p>
            <a:pPr marL="0" indent="0" algn="l">
              <a:buNone/>
            </a:pPr>
            <a:r>
              <a:rPr lang="en-US" sz="1550" dirty="0">
                <a:solidFill>
                  <a:srgbClr val="1B4D5C"/>
                </a:solidFill>
                <a:latin typeface="Inter" pitchFamily="34" charset="0"/>
                <a:ea typeface="Inter" pitchFamily="34" charset="-122"/>
                <a:cs typeface="Inter" pitchFamily="34" charset="-120"/>
              </a:rPr>
              <a:t>¿Está respaldada o solo suena convincente?</a:t>
            </a:r>
            <a:endParaRPr lang="en-US" sz="1550" dirty="0"/>
          </a:p>
        </p:txBody>
      </p:sp>
      <p:sp>
        <p:nvSpPr>
          <p:cNvPr id="15" name="Shape 13"/>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6" name="Text 14"/>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Comprobar una respuesta</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¿Qué señales deben verificarse en una respuesta generada? Selecciona todas las correctas.</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Una fuente o referencia que podría no existir</a:t>
            </a:r>
            <a:endParaRPr lang="en-US" sz="1350" dirty="0"/>
          </a:p>
        </p:txBody>
      </p:sp>
      <p:sp>
        <p:nvSpPr>
          <p:cNvPr id="11" name="Shape 9"/>
          <p:cNvSpPr/>
          <p:nvPr/>
        </p:nvSpPr>
        <p:spPr>
          <a:xfrm>
            <a:off x="1005840" y="3136392"/>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Una fecha que podría estar desactualizada</a:t>
            </a:r>
            <a:endParaRPr lang="en-US" sz="1350" dirty="0"/>
          </a:p>
        </p:txBody>
      </p:sp>
      <p:sp>
        <p:nvSpPr>
          <p:cNvPr id="14" name="Shape 12"/>
          <p:cNvSpPr/>
          <p:nvPr/>
        </p:nvSpPr>
        <p:spPr>
          <a:xfrm>
            <a:off x="1005840" y="3941064"/>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Una afirmación dudosa presentada como segura</a:t>
            </a:r>
            <a:endParaRPr lang="en-US" sz="1350" dirty="0"/>
          </a:p>
        </p:txBody>
      </p:sp>
      <p:sp>
        <p:nvSpPr>
          <p:cNvPr id="17" name="Shape 15"/>
          <p:cNvSpPr/>
          <p:nvPr/>
        </p:nvSpPr>
        <p:spPr>
          <a:xfrm>
            <a:off x="1005840" y="4745736"/>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8" name="Text 16"/>
          <p:cNvSpPr/>
          <p:nvPr/>
        </p:nvSpPr>
        <p:spPr>
          <a:xfrm>
            <a:off x="1152144" y="4892040"/>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4.</a:t>
            </a:r>
            <a:endParaRPr lang="en-US" sz="1350" dirty="0"/>
          </a:p>
        </p:txBody>
      </p:sp>
      <p:sp>
        <p:nvSpPr>
          <p:cNvPr id="19" name="Text 17"/>
          <p:cNvSpPr/>
          <p:nvPr/>
        </p:nvSpPr>
        <p:spPr>
          <a:xfrm>
            <a:off x="1444752" y="4818888"/>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Que el texto esté bien redactado</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9509760" cy="310896"/>
          </a:xfrm>
          <a:prstGeom prst="rect">
            <a:avLst/>
          </a:prstGeom>
          <a:noFill/>
          <a:ln/>
        </p:spPr>
        <p:txBody>
          <a:bodyPr wrap="square" lIns="0" tIns="0" rIns="0" bIns="0" rtlCol="0" anchor="ctr">
            <a:normAutofit/>
          </a:bodyPr>
          <a:lstStyle/>
          <a:p>
            <a:pPr marL="0" indent="0">
              <a:buNone/>
            </a:pPr>
            <a:r>
              <a:rPr lang="en-US" sz="2000" b="1" dirty="0">
                <a:solidFill>
                  <a:srgbClr val="C66019"/>
                </a:solidFill>
                <a:latin typeface="Inter" pitchFamily="34" charset="0"/>
                <a:ea typeface="Inter" pitchFamily="34" charset="-122"/>
                <a:cs typeface="Inter" pitchFamily="34" charset="-120"/>
              </a:rPr>
              <a:t>21 · CAPACIDADES Y LÍMITES</a:t>
            </a:r>
            <a:endParaRPr lang="en-US" sz="2000" dirty="0"/>
          </a:p>
        </p:txBody>
      </p:sp>
      <p:sp>
        <p:nvSpPr>
          <p:cNvPr id="3" name="Shape 1"/>
          <p:cNvSpPr/>
          <p:nvPr/>
        </p:nvSpPr>
        <p:spPr>
          <a:xfrm>
            <a:off x="292608" y="1325880"/>
            <a:ext cx="5394960" cy="3657600"/>
          </a:xfrm>
          <a:prstGeom prst="roundRect">
            <a:avLst>
              <a:gd name="adj" fmla="val 2000"/>
            </a:avLst>
          </a:prstGeom>
          <a:solidFill>
            <a:srgbClr val="EDF6F4"/>
          </a:solidFill>
          <a:ln w="12700">
            <a:solidFill>
              <a:srgbClr val="D8E4E8"/>
            </a:solidFill>
            <a:prstDash val="solid"/>
          </a:ln>
        </p:spPr>
        <p:txBody>
          <a:bodyPr/>
          <a:lstStyle/>
          <a:p>
            <a:endParaRPr lang="es-ES"/>
          </a:p>
        </p:txBody>
      </p:sp>
      <p:sp>
        <p:nvSpPr>
          <p:cNvPr id="4" name="Text 2"/>
          <p:cNvSpPr/>
          <p:nvPr/>
        </p:nvSpPr>
        <p:spPr>
          <a:xfrm>
            <a:off x="457200" y="1481328"/>
            <a:ext cx="5074920" cy="256032"/>
          </a:xfrm>
          <a:prstGeom prst="rect">
            <a:avLst/>
          </a:prstGeom>
          <a:noFill/>
          <a:ln/>
        </p:spPr>
        <p:txBody>
          <a:bodyPr wrap="square" lIns="0" tIns="0" rIns="0" bIns="0" rtlCol="0" anchor="ctr">
            <a:normAutofit/>
          </a:bodyPr>
          <a:lstStyle/>
          <a:p>
            <a:pPr marL="0" indent="0">
              <a:buNone/>
            </a:pPr>
            <a:r>
              <a:rPr lang="en-US" sz="1700" b="1" dirty="0">
                <a:solidFill>
                  <a:srgbClr val="0B2F3A"/>
                </a:solidFill>
                <a:latin typeface="Inter" pitchFamily="34" charset="0"/>
                <a:ea typeface="Inter" pitchFamily="34" charset="-122"/>
                <a:cs typeface="Inter" pitchFamily="34" charset="-120"/>
              </a:rPr>
              <a:t>PUEDE AYUDAR A</a:t>
            </a:r>
            <a:endParaRPr lang="en-US" sz="1700" dirty="0"/>
          </a:p>
        </p:txBody>
      </p:sp>
      <p:sp>
        <p:nvSpPr>
          <p:cNvPr id="5" name="Text 3"/>
          <p:cNvSpPr/>
          <p:nvPr/>
        </p:nvSpPr>
        <p:spPr>
          <a:xfrm>
            <a:off x="457200" y="1783080"/>
            <a:ext cx="5074920" cy="30632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 Preparar borradores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Resumir documentos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Organizar ideas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Traducir</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Analizar texto</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Crear propuestas</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Automatizar tareas</a:t>
            </a:r>
            <a:endParaRPr lang="en-US" sz="1700" dirty="0"/>
          </a:p>
        </p:txBody>
      </p:sp>
      <p:sp>
        <p:nvSpPr>
          <p:cNvPr id="6" name="Shape 4"/>
          <p:cNvSpPr/>
          <p:nvPr/>
        </p:nvSpPr>
        <p:spPr>
          <a:xfrm>
            <a:off x="6144768" y="1325880"/>
            <a:ext cx="5577840" cy="3657600"/>
          </a:xfrm>
          <a:prstGeom prst="roundRect">
            <a:avLst>
              <a:gd name="adj" fmla="val 2000"/>
            </a:avLst>
          </a:prstGeom>
          <a:solidFill>
            <a:srgbClr val="FFF6EF"/>
          </a:solidFill>
          <a:ln w="12700">
            <a:solidFill>
              <a:srgbClr val="D8E4E8"/>
            </a:solidFill>
            <a:prstDash val="solid"/>
          </a:ln>
        </p:spPr>
        <p:txBody>
          <a:bodyPr/>
          <a:lstStyle/>
          <a:p>
            <a:endParaRPr lang="es-ES"/>
          </a:p>
        </p:txBody>
      </p:sp>
      <p:sp>
        <p:nvSpPr>
          <p:cNvPr id="7" name="Text 5"/>
          <p:cNvSpPr/>
          <p:nvPr/>
        </p:nvSpPr>
        <p:spPr>
          <a:xfrm>
            <a:off x="6309360" y="1481328"/>
            <a:ext cx="5257800" cy="256032"/>
          </a:xfrm>
          <a:prstGeom prst="rect">
            <a:avLst/>
          </a:prstGeom>
          <a:noFill/>
          <a:ln/>
        </p:spPr>
        <p:txBody>
          <a:bodyPr wrap="square" lIns="0" tIns="0" rIns="0" bIns="0" rtlCol="0" anchor="ctr">
            <a:normAutofit/>
          </a:bodyPr>
          <a:lstStyle/>
          <a:p>
            <a:pPr marL="0" indent="0">
              <a:buNone/>
            </a:pPr>
            <a:r>
              <a:rPr lang="en-US" sz="1700" b="1" dirty="0">
                <a:solidFill>
                  <a:srgbClr val="C66019"/>
                </a:solidFill>
                <a:latin typeface="Inter" pitchFamily="34" charset="0"/>
                <a:ea typeface="Inter" pitchFamily="34" charset="-122"/>
                <a:cs typeface="Inter" pitchFamily="34" charset="-120"/>
              </a:rPr>
              <a:t>NO GARANTIZA</a:t>
            </a:r>
            <a:endParaRPr lang="en-US" sz="1700" dirty="0"/>
          </a:p>
        </p:txBody>
      </p:sp>
      <p:sp>
        <p:nvSpPr>
          <p:cNvPr id="8" name="Text 6"/>
          <p:cNvSpPr/>
          <p:nvPr/>
        </p:nvSpPr>
        <p:spPr>
          <a:xfrm>
            <a:off x="6309360" y="1783080"/>
            <a:ext cx="5257800" cy="3063240"/>
          </a:xfrm>
          <a:prstGeom prst="rect">
            <a:avLst/>
          </a:prstGeom>
          <a:noFill/>
          <a:ln/>
        </p:spPr>
        <p:txBody>
          <a:bodyPr wrap="square" lIns="0" tIns="0" rIns="0" bIns="0" rtlCol="0" anchor="t">
            <a:normAutofit/>
          </a:bodyPr>
          <a:lstStyle/>
          <a:p>
            <a:pPr marL="0" indent="0">
              <a:buNone/>
            </a:pPr>
            <a:r>
              <a:rPr lang="en-US" sz="1700" dirty="0">
                <a:solidFill>
                  <a:srgbClr val="0B2F3A"/>
                </a:solidFill>
                <a:latin typeface="Inter" pitchFamily="34" charset="0"/>
                <a:ea typeface="Inter" pitchFamily="34" charset="-122"/>
                <a:cs typeface="Inter" pitchFamily="34" charset="-120"/>
              </a:rPr>
              <a:t>• Veracidad</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Actualización</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Neutralidad</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Confidencialidad</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Legalidad</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Originalidad</a:t>
            </a:r>
            <a:endParaRPr lang="en-US" sz="1700" dirty="0"/>
          </a:p>
          <a:p>
            <a:pPr marL="0" indent="0">
              <a:buNone/>
            </a:pPr>
            <a:r>
              <a:rPr lang="en-US" sz="1700" dirty="0">
                <a:solidFill>
                  <a:srgbClr val="0B2F3A"/>
                </a:solidFill>
                <a:latin typeface="Inter" pitchFamily="34" charset="0"/>
                <a:ea typeface="Inter" pitchFamily="34" charset="-122"/>
                <a:cs typeface="Inter" pitchFamily="34" charset="-120"/>
              </a:rPr>
              <a:t>• Adecuación profesional</a:t>
            </a:r>
            <a:endParaRPr lang="en-US" sz="1700" dirty="0"/>
          </a:p>
        </p:txBody>
      </p:sp>
      <p:sp>
        <p:nvSpPr>
          <p:cNvPr id="9" name="Shape 7"/>
          <p:cNvSpPr/>
          <p:nvPr/>
        </p:nvSpPr>
        <p:spPr>
          <a:xfrm>
            <a:off x="292608" y="5321808"/>
            <a:ext cx="11430000" cy="566928"/>
          </a:xfrm>
          <a:prstGeom prst="roundRect">
            <a:avLst>
              <a:gd name="adj" fmla="val 12903"/>
            </a:avLst>
          </a:prstGeom>
          <a:solidFill>
            <a:srgbClr val="1D3461"/>
          </a:solidFill>
          <a:ln w="12700">
            <a:solidFill>
              <a:srgbClr val="1D3461"/>
            </a:solidFill>
            <a:prstDash val="solid"/>
          </a:ln>
        </p:spPr>
        <p:txBody>
          <a:bodyPr/>
          <a:lstStyle/>
          <a:p>
            <a:endParaRPr lang="es-ES"/>
          </a:p>
        </p:txBody>
      </p:sp>
      <p:sp>
        <p:nvSpPr>
          <p:cNvPr id="10" name="Text 8"/>
          <p:cNvSpPr/>
          <p:nvPr/>
        </p:nvSpPr>
        <p:spPr>
          <a:xfrm>
            <a:off x="530352" y="5468112"/>
            <a:ext cx="10789920" cy="274320"/>
          </a:xfrm>
          <a:prstGeom prst="rect">
            <a:avLst/>
          </a:prstGeom>
          <a:noFill/>
          <a:ln/>
        </p:spPr>
        <p:txBody>
          <a:bodyPr wrap="square" lIns="0" tIns="0" rIns="0" bIns="0" rtlCol="0" anchor="ctr">
            <a:normAutofit/>
          </a:bodyPr>
          <a:lstStyle/>
          <a:p>
            <a:pPr marL="0" indent="0" algn="l">
              <a:buNone/>
            </a:pPr>
            <a:r>
              <a:rPr lang="en-US" sz="1450" b="1" dirty="0">
                <a:solidFill>
                  <a:srgbClr val="FFFFFF"/>
                </a:solidFill>
                <a:latin typeface="Inter" pitchFamily="34" charset="0"/>
                <a:ea typeface="Inter" pitchFamily="34" charset="-122"/>
                <a:cs typeface="Inter" pitchFamily="34" charset="-120"/>
              </a:rPr>
              <a:t>Regla: una respuesta bien escrita no es una respuesta verificada.</a:t>
            </a:r>
            <a:endParaRPr lang="en-US" sz="1450" dirty="0"/>
          </a:p>
        </p:txBody>
      </p:sp>
      <p:sp>
        <p:nvSpPr>
          <p:cNvPr id="11" name="Shape 9"/>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2" name="Text 10"/>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58368" y="457200"/>
            <a:ext cx="1417320" cy="73152"/>
          </a:xfrm>
          <a:prstGeom prst="roundRect">
            <a:avLst>
              <a:gd name="adj" fmla="val 37500"/>
            </a:avLst>
          </a:prstGeom>
          <a:solidFill>
            <a:srgbClr val="C66019"/>
          </a:solidFill>
          <a:ln w="12700">
            <a:solidFill>
              <a:srgbClr val="C66019"/>
            </a:solidFill>
            <a:prstDash val="solid"/>
          </a:ln>
        </p:spPr>
        <p:txBody>
          <a:bodyPr/>
          <a:lstStyle/>
          <a:p>
            <a:endParaRPr lang="es-ES"/>
          </a:p>
        </p:txBody>
      </p:sp>
      <p:sp>
        <p:nvSpPr>
          <p:cNvPr id="3" name="Text 1"/>
          <p:cNvSpPr/>
          <p:nvPr/>
        </p:nvSpPr>
        <p:spPr>
          <a:xfrm>
            <a:off x="658368" y="731520"/>
            <a:ext cx="10698480" cy="411480"/>
          </a:xfrm>
          <a:prstGeom prst="rect">
            <a:avLst/>
          </a:prstGeom>
          <a:noFill/>
          <a:ln/>
        </p:spPr>
        <p:txBody>
          <a:bodyPr wrap="square" lIns="0" tIns="0" rIns="0" bIns="0" rtlCol="0" anchor="ctr">
            <a:normAutofit/>
          </a:bodyPr>
          <a:lstStyle/>
          <a:p>
            <a:pPr marL="0" indent="0">
              <a:buNone/>
            </a:pPr>
            <a:r>
              <a:rPr lang="en-US" sz="2500" b="1" dirty="0">
                <a:solidFill>
                  <a:srgbClr val="C66019"/>
                </a:solidFill>
                <a:latin typeface="Inter" pitchFamily="34" charset="0"/>
                <a:ea typeface="Inter" pitchFamily="34" charset="-122"/>
                <a:cs typeface="Inter" pitchFamily="34" charset="-120"/>
              </a:rPr>
              <a:t>BLOQUE 5 · PONLO EN PRÁCTICA</a:t>
            </a:r>
            <a:endParaRPr lang="en-US" sz="2500" dirty="0"/>
          </a:p>
        </p:txBody>
      </p:sp>
      <p:sp>
        <p:nvSpPr>
          <p:cNvPr id="4" name="Shape 2"/>
          <p:cNvSpPr/>
          <p:nvPr/>
        </p:nvSpPr>
        <p:spPr>
          <a:xfrm>
            <a:off x="676656" y="1325880"/>
            <a:ext cx="10771632" cy="3749040"/>
          </a:xfrm>
          <a:prstGeom prst="roundRect">
            <a:avLst>
              <a:gd name="adj" fmla="val 1951"/>
            </a:avLst>
          </a:prstGeom>
          <a:solidFill>
            <a:srgbClr val="EAF3F6"/>
          </a:solidFill>
          <a:ln w="12700">
            <a:solidFill>
              <a:srgbClr val="D8E4E8"/>
            </a:solidFill>
            <a:prstDash val="solid"/>
          </a:ln>
        </p:spPr>
        <p:txBody>
          <a:bodyPr/>
          <a:lstStyle/>
          <a:p>
            <a:endParaRPr lang="es-ES"/>
          </a:p>
        </p:txBody>
      </p:sp>
      <p:sp>
        <p:nvSpPr>
          <p:cNvPr id="5" name="Text 3"/>
          <p:cNvSpPr/>
          <p:nvPr/>
        </p:nvSpPr>
        <p:spPr>
          <a:xfrm>
            <a:off x="1078992" y="2423160"/>
            <a:ext cx="9829800" cy="1417320"/>
          </a:xfrm>
          <a:prstGeom prst="rect">
            <a:avLst/>
          </a:prstGeom>
          <a:noFill/>
          <a:ln/>
        </p:spPr>
        <p:txBody>
          <a:bodyPr wrap="square" lIns="0" tIns="0" rIns="0" bIns="0" rtlCol="0" anchor="ctr">
            <a:normAutofit/>
          </a:bodyPr>
          <a:lstStyle/>
          <a:p>
            <a:pPr marL="0" indent="0">
              <a:buNone/>
            </a:pPr>
            <a:r>
              <a:rPr lang="en-US" sz="2300" b="1" dirty="0">
                <a:solidFill>
                  <a:srgbClr val="1B4D5C"/>
                </a:solidFill>
                <a:latin typeface="Inter" pitchFamily="34" charset="0"/>
                <a:ea typeface="Inter" pitchFamily="34" charset="-122"/>
                <a:cs typeface="Inter" pitchFamily="34" charset="-120"/>
              </a:rPr>
              <a:t>Caso de estudio: vulnerabilidades operativas, revisión de riesgos y directriz final aplicable al entorno profesional.</a:t>
            </a:r>
            <a:endParaRPr lang="en-US" sz="23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2926080" cy="292608"/>
          </a:xfrm>
          <a:prstGeom prst="rect">
            <a:avLst/>
          </a:prstGeom>
          <a:noFill/>
          <a:ln/>
        </p:spPr>
        <p:txBody>
          <a:bodyPr wrap="square" lIns="0" tIns="0" rIns="0" bIns="0" rtlCol="0" anchor="ctr"/>
          <a:lstStyle/>
          <a:p>
            <a:pPr marL="0" indent="0">
              <a:buNone/>
            </a:pPr>
            <a:r>
              <a:rPr lang="en-US" sz="1800" b="1" dirty="0">
                <a:solidFill>
                  <a:srgbClr val="C66019"/>
                </a:solidFill>
                <a:latin typeface="Inter" pitchFamily="34" charset="0"/>
                <a:ea typeface="Inter" pitchFamily="34" charset="-122"/>
                <a:cs typeface="Inter" pitchFamily="34" charset="-120"/>
              </a:rPr>
              <a:t>CASO · PRÁCTICO FINAL</a:t>
            </a:r>
            <a:endParaRPr lang="en-US" sz="18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Text 5"/>
          <p:cNvSpPr/>
          <p:nvPr/>
        </p:nvSpPr>
        <p:spPr>
          <a:xfrm>
            <a:off x="658368" y="658368"/>
            <a:ext cx="10607040" cy="530352"/>
          </a:xfrm>
          <a:prstGeom prst="rect">
            <a:avLst/>
          </a:prstGeom>
          <a:noFill/>
          <a:ln/>
        </p:spPr>
        <p:txBody>
          <a:bodyPr wrap="square" lIns="0" tIns="0" rIns="0" bIns="0" rtlCol="0" anchor="ctr">
            <a:normAutofit/>
          </a:bodyPr>
          <a:lstStyle/>
          <a:p>
            <a:pPr marL="0" indent="0">
              <a:buNone/>
            </a:pPr>
            <a:r>
              <a:rPr lang="en-US" sz="2500" b="1" dirty="0">
                <a:solidFill>
                  <a:srgbClr val="1B4D5C"/>
                </a:solidFill>
                <a:latin typeface="Inter" pitchFamily="34" charset="0"/>
                <a:ea typeface="Inter" pitchFamily="34" charset="-122"/>
                <a:cs typeface="Inter" pitchFamily="34" charset="-120"/>
              </a:rPr>
              <a:t>El informe perfecto</a:t>
            </a:r>
            <a:endParaRPr lang="en-US" sz="2500" dirty="0"/>
          </a:p>
        </p:txBody>
      </p:sp>
      <p:sp>
        <p:nvSpPr>
          <p:cNvPr id="9" name="Shape 6"/>
          <p:cNvSpPr/>
          <p:nvPr/>
        </p:nvSpPr>
        <p:spPr>
          <a:xfrm>
            <a:off x="658368" y="1554480"/>
            <a:ext cx="10744200" cy="1572768"/>
          </a:xfrm>
          <a:prstGeom prst="roundRect">
            <a:avLst>
              <a:gd name="adj" fmla="val 4651"/>
            </a:avLst>
          </a:prstGeom>
          <a:solidFill>
            <a:srgbClr val="EAF3F6"/>
          </a:solidFill>
          <a:ln w="12700">
            <a:solidFill>
              <a:srgbClr val="D8E4E8"/>
            </a:solidFill>
            <a:prstDash val="solid"/>
          </a:ln>
        </p:spPr>
        <p:txBody>
          <a:bodyPr/>
          <a:lstStyle/>
          <a:p>
            <a:endParaRPr lang="es-ES"/>
          </a:p>
        </p:txBody>
      </p:sp>
      <p:sp>
        <p:nvSpPr>
          <p:cNvPr id="10" name="Text 7"/>
          <p:cNvSpPr/>
          <p:nvPr/>
        </p:nvSpPr>
        <p:spPr>
          <a:xfrm>
            <a:off x="896112" y="1792224"/>
            <a:ext cx="10287000" cy="1078992"/>
          </a:xfrm>
          <a:prstGeom prst="rect">
            <a:avLst/>
          </a:prstGeom>
          <a:noFill/>
          <a:ln/>
        </p:spPr>
        <p:txBody>
          <a:bodyPr wrap="square" lIns="0" tIns="0" rIns="0" bIns="0" rtlCol="0" anchor="t">
            <a:normAutofit/>
          </a:bodyPr>
          <a:lstStyle/>
          <a:p>
            <a:pPr marL="0" indent="0" algn="l">
              <a:buNone/>
            </a:pPr>
            <a:r>
              <a:rPr lang="en-US" sz="1440" b="1" dirty="0">
                <a:solidFill>
                  <a:srgbClr val="1B4D5C"/>
                </a:solidFill>
                <a:latin typeface="Inter" pitchFamily="34" charset="0"/>
                <a:ea typeface="Inter" pitchFamily="34" charset="-122"/>
                <a:cs typeface="Inter" pitchFamily="34" charset="-120"/>
              </a:rPr>
              <a:t>Laura trabaja en una empresa de servicios profesionales. Su responsable le pide un informe urgente sobre una nueva obligación legal. Laura consulta una herramienta de inteligencia artificial y recibe un texto claro, con artículos y sentencias. Como el resultado parece profesional, lo copia y lo envía al cliente. Al día siguiente descubre que una norma había cambiado, una sentencia no existía y otra pertenecía a un país diferente.</a:t>
            </a:r>
            <a:endParaRPr lang="en-US" sz="1440" dirty="0"/>
          </a:p>
        </p:txBody>
      </p:sp>
      <p:sp>
        <p:nvSpPr>
          <p:cNvPr id="11" name="Shape 8"/>
          <p:cNvSpPr/>
          <p:nvPr/>
        </p:nvSpPr>
        <p:spPr>
          <a:xfrm>
            <a:off x="1143000" y="3858768"/>
            <a:ext cx="457200" cy="457200"/>
          </a:xfrm>
          <a:prstGeom prst="ellipse">
            <a:avLst/>
          </a:prstGeom>
          <a:solidFill>
            <a:srgbClr val="F8FBFC"/>
          </a:solidFill>
          <a:ln w="12700">
            <a:solidFill>
              <a:srgbClr val="D8E4E8"/>
            </a:solidFill>
            <a:prstDash val="solid"/>
          </a:ln>
        </p:spPr>
        <p:txBody>
          <a:bodyPr/>
          <a:lstStyle/>
          <a:p>
            <a:endParaRPr lang="es-ES"/>
          </a:p>
        </p:txBody>
      </p:sp>
      <p:sp>
        <p:nvSpPr>
          <p:cNvPr id="12" name="Text 9"/>
          <p:cNvSpPr/>
          <p:nvPr/>
        </p:nvSpPr>
        <p:spPr>
          <a:xfrm>
            <a:off x="1143000" y="3941064"/>
            <a:ext cx="457200" cy="182880"/>
          </a:xfrm>
          <a:prstGeom prst="rect">
            <a:avLst/>
          </a:prstGeom>
          <a:noFill/>
          <a:ln/>
        </p:spPr>
        <p:txBody>
          <a:bodyPr wrap="square" lIns="0" tIns="0" rIns="0" bIns="0" rtlCol="0" anchor="ctr">
            <a:normAutofit/>
          </a:bodyPr>
          <a:lstStyle/>
          <a:p>
            <a:pPr marL="0" indent="0" algn="ctr">
              <a:buNone/>
            </a:pPr>
            <a:r>
              <a:rPr lang="en-US" sz="1200" b="1" dirty="0">
                <a:solidFill>
                  <a:srgbClr val="1D3461"/>
                </a:solidFill>
                <a:latin typeface="Inter" pitchFamily="34" charset="0"/>
                <a:ea typeface="Inter" pitchFamily="34" charset="-122"/>
                <a:cs typeface="Inter" pitchFamily="34" charset="-120"/>
              </a:rPr>
              <a:t>1</a:t>
            </a:r>
            <a:endParaRPr lang="en-US" sz="1200" dirty="0"/>
          </a:p>
        </p:txBody>
      </p:sp>
      <p:sp>
        <p:nvSpPr>
          <p:cNvPr id="13" name="Shape 10"/>
          <p:cNvSpPr/>
          <p:nvPr/>
        </p:nvSpPr>
        <p:spPr>
          <a:xfrm>
            <a:off x="1673352" y="3968496"/>
            <a:ext cx="1325880" cy="109728"/>
          </a:xfrm>
          <a:prstGeom prst="chevron">
            <a:avLst/>
          </a:prstGeom>
          <a:solidFill>
            <a:srgbClr val="D8E4E8"/>
          </a:solidFill>
          <a:ln w="12700">
            <a:solidFill>
              <a:srgbClr val="D8E4E8"/>
            </a:solidFill>
            <a:prstDash val="solid"/>
          </a:ln>
        </p:spPr>
        <p:txBody>
          <a:bodyPr/>
          <a:lstStyle/>
          <a:p>
            <a:endParaRPr lang="es-ES"/>
          </a:p>
        </p:txBody>
      </p:sp>
      <p:sp>
        <p:nvSpPr>
          <p:cNvPr id="14" name="Text 11"/>
          <p:cNvSpPr/>
          <p:nvPr/>
        </p:nvSpPr>
        <p:spPr>
          <a:xfrm>
            <a:off x="640080" y="4480560"/>
            <a:ext cx="1463040" cy="475488"/>
          </a:xfrm>
          <a:prstGeom prst="rect">
            <a:avLst/>
          </a:prstGeom>
          <a:noFill/>
          <a:ln/>
        </p:spPr>
        <p:txBody>
          <a:bodyPr wrap="square" lIns="0" tIns="0" rIns="0" bIns="0" rtlCol="0" anchor="ctr">
            <a:normAutofit/>
          </a:bodyPr>
          <a:lstStyle/>
          <a:p>
            <a:pPr marL="0" indent="0" algn="ctr">
              <a:buNone/>
            </a:pPr>
            <a:r>
              <a:rPr lang="en-US" sz="1150" b="1" dirty="0">
                <a:solidFill>
                  <a:srgbClr val="1B4D5C"/>
                </a:solidFill>
                <a:latin typeface="Inter" pitchFamily="34" charset="0"/>
                <a:ea typeface="Inter" pitchFamily="34" charset="-122"/>
                <a:cs typeface="Inter" pitchFamily="34" charset="-120"/>
              </a:rPr>
              <a:t>Antes de usar la</a:t>
            </a:r>
            <a:endParaRPr lang="en-US" sz="1150" dirty="0"/>
          </a:p>
          <a:p>
            <a:pPr marL="0" indent="0" algn="ctr">
              <a:buNone/>
            </a:pPr>
            <a:r>
              <a:rPr lang="en-US" sz="1150" b="1" dirty="0">
                <a:solidFill>
                  <a:srgbClr val="1B4D5C"/>
                </a:solidFill>
                <a:latin typeface="Inter" pitchFamily="34" charset="0"/>
                <a:ea typeface="Inter" pitchFamily="34" charset="-122"/>
                <a:cs typeface="Inter" pitchFamily="34" charset="-120"/>
              </a:rPr>
              <a:t>herramienta</a:t>
            </a:r>
            <a:endParaRPr lang="en-US" sz="1150" dirty="0"/>
          </a:p>
        </p:txBody>
      </p:sp>
      <p:sp>
        <p:nvSpPr>
          <p:cNvPr id="15" name="Shape 12"/>
          <p:cNvSpPr/>
          <p:nvPr/>
        </p:nvSpPr>
        <p:spPr>
          <a:xfrm>
            <a:off x="3630168" y="3858768"/>
            <a:ext cx="457200" cy="457200"/>
          </a:xfrm>
          <a:prstGeom prst="ellipse">
            <a:avLst/>
          </a:prstGeom>
          <a:solidFill>
            <a:srgbClr val="F8FBFC"/>
          </a:solidFill>
          <a:ln w="12700">
            <a:solidFill>
              <a:srgbClr val="D8E4E8"/>
            </a:solidFill>
            <a:prstDash val="solid"/>
          </a:ln>
        </p:spPr>
        <p:txBody>
          <a:bodyPr/>
          <a:lstStyle/>
          <a:p>
            <a:endParaRPr lang="es-ES"/>
          </a:p>
        </p:txBody>
      </p:sp>
      <p:sp>
        <p:nvSpPr>
          <p:cNvPr id="16" name="Text 13"/>
          <p:cNvSpPr/>
          <p:nvPr/>
        </p:nvSpPr>
        <p:spPr>
          <a:xfrm>
            <a:off x="3630168" y="3941064"/>
            <a:ext cx="457200" cy="182880"/>
          </a:xfrm>
          <a:prstGeom prst="rect">
            <a:avLst/>
          </a:prstGeom>
          <a:noFill/>
          <a:ln/>
        </p:spPr>
        <p:txBody>
          <a:bodyPr wrap="square" lIns="0" tIns="0" rIns="0" bIns="0" rtlCol="0" anchor="ctr">
            <a:normAutofit/>
          </a:bodyPr>
          <a:lstStyle/>
          <a:p>
            <a:pPr marL="0" indent="0" algn="ctr">
              <a:buNone/>
            </a:pPr>
            <a:r>
              <a:rPr lang="en-US" sz="1200" b="1" dirty="0">
                <a:solidFill>
                  <a:srgbClr val="1D3461"/>
                </a:solidFill>
                <a:latin typeface="Inter" pitchFamily="34" charset="0"/>
                <a:ea typeface="Inter" pitchFamily="34" charset="-122"/>
                <a:cs typeface="Inter" pitchFamily="34" charset="-120"/>
              </a:rPr>
              <a:t>2</a:t>
            </a:r>
            <a:endParaRPr lang="en-US" sz="1200" dirty="0"/>
          </a:p>
        </p:txBody>
      </p:sp>
      <p:sp>
        <p:nvSpPr>
          <p:cNvPr id="17" name="Shape 14"/>
          <p:cNvSpPr/>
          <p:nvPr/>
        </p:nvSpPr>
        <p:spPr>
          <a:xfrm>
            <a:off x="4160520" y="3968496"/>
            <a:ext cx="1325880" cy="109728"/>
          </a:xfrm>
          <a:prstGeom prst="chevron">
            <a:avLst/>
          </a:prstGeom>
          <a:solidFill>
            <a:srgbClr val="D8E4E8"/>
          </a:solidFill>
          <a:ln w="12700">
            <a:solidFill>
              <a:srgbClr val="D8E4E8"/>
            </a:solidFill>
            <a:prstDash val="solid"/>
          </a:ln>
        </p:spPr>
        <p:txBody>
          <a:bodyPr/>
          <a:lstStyle/>
          <a:p>
            <a:endParaRPr lang="es-ES"/>
          </a:p>
        </p:txBody>
      </p:sp>
      <p:sp>
        <p:nvSpPr>
          <p:cNvPr id="18" name="Text 15"/>
          <p:cNvSpPr/>
          <p:nvPr/>
        </p:nvSpPr>
        <p:spPr>
          <a:xfrm>
            <a:off x="3127248" y="4480560"/>
            <a:ext cx="1463040" cy="475488"/>
          </a:xfrm>
          <a:prstGeom prst="rect">
            <a:avLst/>
          </a:prstGeom>
          <a:noFill/>
          <a:ln/>
        </p:spPr>
        <p:txBody>
          <a:bodyPr wrap="square" lIns="0" tIns="0" rIns="0" bIns="0" rtlCol="0" anchor="ctr">
            <a:normAutofit/>
          </a:bodyPr>
          <a:lstStyle/>
          <a:p>
            <a:pPr marL="0" indent="0" algn="ctr">
              <a:buNone/>
            </a:pPr>
            <a:r>
              <a:rPr lang="en-US" sz="1150" b="1" dirty="0">
                <a:solidFill>
                  <a:srgbClr val="1B4D5C"/>
                </a:solidFill>
                <a:latin typeface="Inter" pitchFamily="34" charset="0"/>
                <a:ea typeface="Inter" pitchFamily="34" charset="-122"/>
                <a:cs typeface="Inter" pitchFamily="34" charset="-120"/>
              </a:rPr>
              <a:t>Antes de introducir</a:t>
            </a:r>
            <a:endParaRPr lang="en-US" sz="1150" dirty="0"/>
          </a:p>
          <a:p>
            <a:pPr marL="0" indent="0" algn="ctr">
              <a:buNone/>
            </a:pPr>
            <a:r>
              <a:rPr lang="en-US" sz="1150" b="1" dirty="0">
                <a:solidFill>
                  <a:srgbClr val="1B4D5C"/>
                </a:solidFill>
                <a:latin typeface="Inter" pitchFamily="34" charset="0"/>
                <a:ea typeface="Inter" pitchFamily="34" charset="-122"/>
                <a:cs typeface="Inter" pitchFamily="34" charset="-120"/>
              </a:rPr>
              <a:t>información</a:t>
            </a:r>
            <a:endParaRPr lang="en-US" sz="1150" dirty="0"/>
          </a:p>
        </p:txBody>
      </p:sp>
      <p:sp>
        <p:nvSpPr>
          <p:cNvPr id="19" name="Shape 16"/>
          <p:cNvSpPr/>
          <p:nvPr/>
        </p:nvSpPr>
        <p:spPr>
          <a:xfrm>
            <a:off x="6117336" y="3858768"/>
            <a:ext cx="457200" cy="457200"/>
          </a:xfrm>
          <a:prstGeom prst="ellipse">
            <a:avLst/>
          </a:prstGeom>
          <a:solidFill>
            <a:srgbClr val="F8FBFC"/>
          </a:solidFill>
          <a:ln w="12700">
            <a:solidFill>
              <a:srgbClr val="D8E4E8"/>
            </a:solidFill>
            <a:prstDash val="solid"/>
          </a:ln>
        </p:spPr>
        <p:txBody>
          <a:bodyPr/>
          <a:lstStyle/>
          <a:p>
            <a:endParaRPr lang="es-ES"/>
          </a:p>
        </p:txBody>
      </p:sp>
      <p:sp>
        <p:nvSpPr>
          <p:cNvPr id="20" name="Text 17"/>
          <p:cNvSpPr/>
          <p:nvPr/>
        </p:nvSpPr>
        <p:spPr>
          <a:xfrm>
            <a:off x="6117336" y="3941064"/>
            <a:ext cx="457200" cy="182880"/>
          </a:xfrm>
          <a:prstGeom prst="rect">
            <a:avLst/>
          </a:prstGeom>
          <a:noFill/>
          <a:ln/>
        </p:spPr>
        <p:txBody>
          <a:bodyPr wrap="square" lIns="0" tIns="0" rIns="0" bIns="0" rtlCol="0" anchor="ctr">
            <a:normAutofit/>
          </a:bodyPr>
          <a:lstStyle/>
          <a:p>
            <a:pPr marL="0" indent="0" algn="ctr">
              <a:buNone/>
            </a:pPr>
            <a:r>
              <a:rPr lang="en-US" sz="1200" b="1" dirty="0">
                <a:solidFill>
                  <a:srgbClr val="1D3461"/>
                </a:solidFill>
                <a:latin typeface="Inter" pitchFamily="34" charset="0"/>
                <a:ea typeface="Inter" pitchFamily="34" charset="-122"/>
                <a:cs typeface="Inter" pitchFamily="34" charset="-120"/>
              </a:rPr>
              <a:t>3</a:t>
            </a:r>
            <a:endParaRPr lang="en-US" sz="1200" dirty="0"/>
          </a:p>
        </p:txBody>
      </p:sp>
      <p:sp>
        <p:nvSpPr>
          <p:cNvPr id="21" name="Shape 18"/>
          <p:cNvSpPr/>
          <p:nvPr/>
        </p:nvSpPr>
        <p:spPr>
          <a:xfrm>
            <a:off x="6647688" y="3968496"/>
            <a:ext cx="1325880" cy="109728"/>
          </a:xfrm>
          <a:prstGeom prst="chevron">
            <a:avLst/>
          </a:prstGeom>
          <a:solidFill>
            <a:srgbClr val="D8E4E8"/>
          </a:solidFill>
          <a:ln w="12700">
            <a:solidFill>
              <a:srgbClr val="D8E4E8"/>
            </a:solidFill>
            <a:prstDash val="solid"/>
          </a:ln>
        </p:spPr>
        <p:txBody>
          <a:bodyPr/>
          <a:lstStyle/>
          <a:p>
            <a:endParaRPr lang="es-ES"/>
          </a:p>
        </p:txBody>
      </p:sp>
      <p:sp>
        <p:nvSpPr>
          <p:cNvPr id="22" name="Text 19"/>
          <p:cNvSpPr/>
          <p:nvPr/>
        </p:nvSpPr>
        <p:spPr>
          <a:xfrm>
            <a:off x="5614416" y="4480560"/>
            <a:ext cx="1463040" cy="475488"/>
          </a:xfrm>
          <a:prstGeom prst="rect">
            <a:avLst/>
          </a:prstGeom>
          <a:noFill/>
          <a:ln/>
        </p:spPr>
        <p:txBody>
          <a:bodyPr wrap="square" lIns="0" tIns="0" rIns="0" bIns="0" rtlCol="0" anchor="ctr">
            <a:normAutofit/>
          </a:bodyPr>
          <a:lstStyle/>
          <a:p>
            <a:pPr marL="0" indent="0" algn="ctr">
              <a:buNone/>
            </a:pPr>
            <a:r>
              <a:rPr lang="en-US" sz="1150" b="1" dirty="0">
                <a:solidFill>
                  <a:srgbClr val="1B4D5C"/>
                </a:solidFill>
                <a:latin typeface="Inter" pitchFamily="34" charset="0"/>
                <a:ea typeface="Inter" pitchFamily="34" charset="-122"/>
                <a:cs typeface="Inter" pitchFamily="34" charset="-120"/>
              </a:rPr>
              <a:t>Antes de enviar</a:t>
            </a:r>
            <a:endParaRPr lang="en-US" sz="1150" dirty="0"/>
          </a:p>
        </p:txBody>
      </p:sp>
      <p:sp>
        <p:nvSpPr>
          <p:cNvPr id="23" name="Shape 20"/>
          <p:cNvSpPr/>
          <p:nvPr/>
        </p:nvSpPr>
        <p:spPr>
          <a:xfrm>
            <a:off x="8604504" y="3858768"/>
            <a:ext cx="457200" cy="457200"/>
          </a:xfrm>
          <a:prstGeom prst="ellipse">
            <a:avLst/>
          </a:prstGeom>
          <a:solidFill>
            <a:srgbClr val="F8FBFC"/>
          </a:solidFill>
          <a:ln w="12700">
            <a:solidFill>
              <a:srgbClr val="D8E4E8"/>
            </a:solidFill>
            <a:prstDash val="solid"/>
          </a:ln>
        </p:spPr>
        <p:txBody>
          <a:bodyPr/>
          <a:lstStyle/>
          <a:p>
            <a:endParaRPr lang="es-ES"/>
          </a:p>
        </p:txBody>
      </p:sp>
      <p:sp>
        <p:nvSpPr>
          <p:cNvPr id="24" name="Text 21"/>
          <p:cNvSpPr/>
          <p:nvPr/>
        </p:nvSpPr>
        <p:spPr>
          <a:xfrm>
            <a:off x="8604504" y="3941064"/>
            <a:ext cx="457200" cy="182880"/>
          </a:xfrm>
          <a:prstGeom prst="rect">
            <a:avLst/>
          </a:prstGeom>
          <a:noFill/>
          <a:ln/>
        </p:spPr>
        <p:txBody>
          <a:bodyPr wrap="square" lIns="0" tIns="0" rIns="0" bIns="0" rtlCol="0" anchor="ctr">
            <a:normAutofit/>
          </a:bodyPr>
          <a:lstStyle/>
          <a:p>
            <a:pPr marL="0" indent="0" algn="ctr">
              <a:buNone/>
            </a:pPr>
            <a:r>
              <a:rPr lang="en-US" sz="1200" b="1" dirty="0">
                <a:solidFill>
                  <a:srgbClr val="1D3461"/>
                </a:solidFill>
                <a:latin typeface="Inter" pitchFamily="34" charset="0"/>
                <a:ea typeface="Inter" pitchFamily="34" charset="-122"/>
                <a:cs typeface="Inter" pitchFamily="34" charset="-120"/>
              </a:rPr>
              <a:t>4</a:t>
            </a:r>
            <a:endParaRPr lang="en-US" sz="1200" dirty="0"/>
          </a:p>
        </p:txBody>
      </p:sp>
      <p:sp>
        <p:nvSpPr>
          <p:cNvPr id="25" name="Text 22"/>
          <p:cNvSpPr/>
          <p:nvPr/>
        </p:nvSpPr>
        <p:spPr>
          <a:xfrm>
            <a:off x="8101584" y="4480560"/>
            <a:ext cx="1463040" cy="475488"/>
          </a:xfrm>
          <a:prstGeom prst="rect">
            <a:avLst/>
          </a:prstGeom>
          <a:noFill/>
          <a:ln/>
        </p:spPr>
        <p:txBody>
          <a:bodyPr wrap="square" lIns="0" tIns="0" rIns="0" bIns="0" rtlCol="0" anchor="ctr">
            <a:normAutofit/>
          </a:bodyPr>
          <a:lstStyle/>
          <a:p>
            <a:pPr marL="0" indent="0" algn="ctr">
              <a:buNone/>
            </a:pPr>
            <a:r>
              <a:rPr lang="en-US" sz="1150" b="1" dirty="0">
                <a:solidFill>
                  <a:srgbClr val="1B4D5C"/>
                </a:solidFill>
                <a:latin typeface="Inter" pitchFamily="34" charset="0"/>
                <a:ea typeface="Inter" pitchFamily="34" charset="-122"/>
                <a:cs typeface="Inter" pitchFamily="34" charset="-120"/>
              </a:rPr>
              <a:t>Después del incidente</a:t>
            </a:r>
            <a:endParaRPr lang="en-US" sz="1150" dirty="0"/>
          </a:p>
        </p:txBody>
      </p:sp>
      <p:sp>
        <p:nvSpPr>
          <p:cNvPr id="26" name="Shape 23"/>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27" name="Text 24"/>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El informe perfecto</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¿Cuál fue el principal error de Laura?</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No verificar el contenido antes de utilizarlo profesionalmente</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Utilizar una herramienta que redacta rápido</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Pedir un informe urgente</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El informe perfecto</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¿Quién mantiene la responsabilidad de revisar el resultado antes de enviarlo?</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La persona usuaria y la organización, según sus funciones</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Únicamente la herramienta de IA</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El proveedor de la herramienta</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El informe perfecto</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¿Qué debería haber hecho Laura? Selecciona las medidas adecuadas.</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Verificar las afirmaciones con fuentes fiables</a:t>
            </a:r>
            <a:endParaRPr lang="en-US" sz="1350" dirty="0"/>
          </a:p>
        </p:txBody>
      </p:sp>
      <p:sp>
        <p:nvSpPr>
          <p:cNvPr id="11" name="Shape 9"/>
          <p:cNvSpPr/>
          <p:nvPr/>
        </p:nvSpPr>
        <p:spPr>
          <a:xfrm>
            <a:off x="1005840" y="3136392"/>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Comprobar vigencia y jurisdicción</a:t>
            </a:r>
            <a:endParaRPr lang="en-US" sz="1350" dirty="0"/>
          </a:p>
        </p:txBody>
      </p:sp>
      <p:sp>
        <p:nvSpPr>
          <p:cNvPr id="14" name="Shape 12"/>
          <p:cNvSpPr/>
          <p:nvPr/>
        </p:nvSpPr>
        <p:spPr>
          <a:xfrm>
            <a:off x="1005840" y="3941064"/>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Revisar las sentencias y separar hechos de interpretación</a:t>
            </a:r>
            <a:endParaRPr lang="en-US" sz="1350" dirty="0"/>
          </a:p>
        </p:txBody>
      </p:sp>
      <p:sp>
        <p:nvSpPr>
          <p:cNvPr id="17" name="Shape 15"/>
          <p:cNvSpPr/>
          <p:nvPr/>
        </p:nvSpPr>
        <p:spPr>
          <a:xfrm>
            <a:off x="1005840" y="4745736"/>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8" name="Text 16"/>
          <p:cNvSpPr/>
          <p:nvPr/>
        </p:nvSpPr>
        <p:spPr>
          <a:xfrm>
            <a:off x="1152144" y="4892040"/>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4.</a:t>
            </a:r>
            <a:endParaRPr lang="en-US" sz="1350" dirty="0"/>
          </a:p>
        </p:txBody>
      </p:sp>
      <p:sp>
        <p:nvSpPr>
          <p:cNvPr id="19" name="Text 17"/>
          <p:cNvSpPr/>
          <p:nvPr/>
        </p:nvSpPr>
        <p:spPr>
          <a:xfrm>
            <a:off x="1444752" y="4818888"/>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Enviar el texto si parece profesional</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El informe perfecto</a:t>
            </a:r>
            <a:endParaRPr lang="en-US" sz="2400" dirty="0"/>
          </a:p>
        </p:txBody>
      </p:sp>
      <p:sp>
        <p:nvSpPr>
          <p:cNvPr id="4" name="Shape 2"/>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5" name="Text 3"/>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
        <p:nvSpPr>
          <p:cNvPr id="6" name="Shape 4"/>
          <p:cNvSpPr/>
          <p:nvPr/>
        </p:nvSpPr>
        <p:spPr>
          <a:xfrm>
            <a:off x="658368" y="1097280"/>
            <a:ext cx="10881360" cy="960120"/>
          </a:xfrm>
          <a:prstGeom prst="roundRect">
            <a:avLst>
              <a:gd name="adj" fmla="val 7619"/>
            </a:avLst>
          </a:prstGeom>
          <a:solidFill>
            <a:srgbClr val="EAF3F6"/>
          </a:solidFill>
          <a:ln w="12700">
            <a:solidFill>
              <a:srgbClr val="D8E4E8"/>
            </a:solidFill>
            <a:prstDash val="solid"/>
          </a:ln>
        </p:spPr>
        <p:txBody>
          <a:bodyPr/>
          <a:lstStyle/>
          <a:p>
            <a:endParaRPr lang="es-ES"/>
          </a:p>
        </p:txBody>
      </p:sp>
      <p:sp>
        <p:nvSpPr>
          <p:cNvPr id="7" name="Text 5"/>
          <p:cNvSpPr/>
          <p:nvPr/>
        </p:nvSpPr>
        <p:spPr>
          <a:xfrm>
            <a:off x="841248" y="1261872"/>
            <a:ext cx="10469880" cy="566928"/>
          </a:xfrm>
          <a:prstGeom prst="rect">
            <a:avLst/>
          </a:prstGeom>
          <a:noFill/>
          <a:ln/>
        </p:spPr>
        <p:txBody>
          <a:bodyPr wrap="square" lIns="0" tIns="0" rIns="0" bIns="0" rtlCol="0" anchor="ctr">
            <a:normAutofit/>
          </a:bodyPr>
          <a:lstStyle/>
          <a:p>
            <a:pPr marL="0" indent="0" algn="l">
              <a:buNone/>
            </a:pPr>
            <a:r>
              <a:rPr lang="en-US" sz="1700" b="1" dirty="0">
                <a:solidFill>
                  <a:srgbClr val="1D3461"/>
                </a:solidFill>
                <a:latin typeface="Inter" pitchFamily="34" charset="0"/>
                <a:ea typeface="Inter" pitchFamily="34" charset="-122"/>
                <a:cs typeface="Inter" pitchFamily="34" charset="-120"/>
              </a:rPr>
              <a:t>¿Podría utilizar IA para esta tarea?</a:t>
            </a:r>
            <a:endParaRPr lang="en-US" sz="1700" dirty="0"/>
          </a:p>
        </p:txBody>
      </p:sp>
      <p:sp>
        <p:nvSpPr>
          <p:cNvPr id="8" name="Shape 6"/>
          <p:cNvSpPr/>
          <p:nvPr/>
        </p:nvSpPr>
        <p:spPr>
          <a:xfrm>
            <a:off x="1005840" y="2331720"/>
            <a:ext cx="10058400" cy="658368"/>
          </a:xfrm>
          <a:prstGeom prst="roundRect">
            <a:avLst>
              <a:gd name="adj" fmla="val 11111"/>
            </a:avLst>
          </a:prstGeom>
          <a:solidFill>
            <a:srgbClr val="EDF6F4"/>
          </a:solidFill>
          <a:ln w="12700">
            <a:solidFill>
              <a:srgbClr val="A5CDBB"/>
            </a:solidFill>
            <a:prstDash val="solid"/>
          </a:ln>
        </p:spPr>
        <p:txBody>
          <a:bodyPr/>
          <a:lstStyle/>
          <a:p>
            <a:endParaRPr lang="es-ES"/>
          </a:p>
        </p:txBody>
      </p:sp>
      <p:sp>
        <p:nvSpPr>
          <p:cNvPr id="9" name="Text 7"/>
          <p:cNvSpPr/>
          <p:nvPr/>
        </p:nvSpPr>
        <p:spPr>
          <a:xfrm>
            <a:off x="1152144" y="2478024"/>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10" name="Text 8"/>
          <p:cNvSpPr/>
          <p:nvPr/>
        </p:nvSpPr>
        <p:spPr>
          <a:xfrm>
            <a:off x="1444752" y="2404872"/>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Sí, como apoyo inicial, si la herramienta está autorizada, se protege la información y se revisa el resultado</a:t>
            </a:r>
            <a:endParaRPr lang="en-US" sz="1350" dirty="0"/>
          </a:p>
        </p:txBody>
      </p:sp>
      <p:sp>
        <p:nvSpPr>
          <p:cNvPr id="11" name="Shape 9"/>
          <p:cNvSpPr/>
          <p:nvPr/>
        </p:nvSpPr>
        <p:spPr>
          <a:xfrm>
            <a:off x="1005840" y="3136392"/>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2" name="Text 10"/>
          <p:cNvSpPr/>
          <p:nvPr/>
        </p:nvSpPr>
        <p:spPr>
          <a:xfrm>
            <a:off x="1152144" y="3282696"/>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13" name="Text 11"/>
          <p:cNvSpPr/>
          <p:nvPr/>
        </p:nvSpPr>
        <p:spPr>
          <a:xfrm>
            <a:off x="1444752" y="3209544"/>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No, nunca puede utilizarse IA en un informe</a:t>
            </a:r>
            <a:endParaRPr lang="en-US" sz="1350" dirty="0"/>
          </a:p>
        </p:txBody>
      </p:sp>
      <p:sp>
        <p:nvSpPr>
          <p:cNvPr id="14" name="Shape 12"/>
          <p:cNvSpPr/>
          <p:nvPr/>
        </p:nvSpPr>
        <p:spPr>
          <a:xfrm>
            <a:off x="1005840" y="3941064"/>
            <a:ext cx="10058400" cy="658368"/>
          </a:xfrm>
          <a:prstGeom prst="roundRect">
            <a:avLst>
              <a:gd name="adj" fmla="val 11111"/>
            </a:avLst>
          </a:prstGeom>
          <a:solidFill>
            <a:srgbClr val="FFFFFF"/>
          </a:solidFill>
          <a:ln w="12700">
            <a:solidFill>
              <a:srgbClr val="D8E4E8"/>
            </a:solidFill>
            <a:prstDash val="solid"/>
          </a:ln>
        </p:spPr>
        <p:txBody>
          <a:bodyPr/>
          <a:lstStyle/>
          <a:p>
            <a:endParaRPr lang="es-ES"/>
          </a:p>
        </p:txBody>
      </p:sp>
      <p:sp>
        <p:nvSpPr>
          <p:cNvPr id="15" name="Text 13"/>
          <p:cNvSpPr/>
          <p:nvPr/>
        </p:nvSpPr>
        <p:spPr>
          <a:xfrm>
            <a:off x="1152144" y="4087368"/>
            <a:ext cx="256032" cy="4297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16" name="Text 14"/>
          <p:cNvSpPr/>
          <p:nvPr/>
        </p:nvSpPr>
        <p:spPr>
          <a:xfrm>
            <a:off x="1444752" y="4014216"/>
            <a:ext cx="9491472" cy="512064"/>
          </a:xfrm>
          <a:prstGeom prst="rect">
            <a:avLst/>
          </a:prstGeom>
          <a:noFill/>
          <a:ln/>
        </p:spPr>
        <p:txBody>
          <a:bodyPr wrap="square" lIns="0" tIns="0" rIns="0" bIns="0" rtlCol="0" anchor="ctr">
            <a:normAutofit/>
          </a:bodyPr>
          <a:lstStyle/>
          <a:p>
            <a:pPr marL="0" indent="0">
              <a:buNone/>
            </a:pPr>
            <a:r>
              <a:rPr lang="en-US" sz="1350" b="1" dirty="0">
                <a:solidFill>
                  <a:srgbClr val="0B2F3A"/>
                </a:solidFill>
                <a:latin typeface="Inter" pitchFamily="34" charset="0"/>
                <a:ea typeface="Inter" pitchFamily="34" charset="-122"/>
                <a:cs typeface="Inter" pitchFamily="34" charset="-120"/>
              </a:rPr>
              <a:t>Sí, sin revisión si el texto contiene artículos y sentencias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92608"/>
            <a:ext cx="3200400" cy="274320"/>
          </a:xfrm>
          <a:prstGeom prst="rect">
            <a:avLst/>
          </a:prstGeom>
          <a:noFill/>
          <a:ln/>
        </p:spPr>
        <p:txBody>
          <a:bodyPr wrap="square" lIns="0" tIns="0" rIns="0" bIns="0" rtlCol="0" anchor="ctr"/>
          <a:lstStyle/>
          <a:p>
            <a:pPr marL="0" indent="0">
              <a:buNone/>
            </a:pPr>
            <a:r>
              <a:rPr lang="en-US" sz="1800" b="1" dirty="0">
                <a:solidFill>
                  <a:srgbClr val="C66019"/>
                </a:solidFill>
                <a:latin typeface="Inter" pitchFamily="34" charset="0"/>
                <a:ea typeface="Inter" pitchFamily="34" charset="-122"/>
                <a:cs typeface="Inter" pitchFamily="34" charset="-120"/>
              </a:rPr>
              <a:t>CIERRE · RESUMEN</a:t>
            </a:r>
            <a:endParaRPr lang="en-US" sz="1800" dirty="0"/>
          </a:p>
        </p:txBody>
      </p:sp>
      <p:pic>
        <p:nvPicPr>
          <p:cNvPr id="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04120" y="182880"/>
            <a:ext cx="1508760" cy="457200"/>
          </a:xfrm>
          <a:prstGeom prst="rect">
            <a:avLst/>
          </a:prstGeom>
        </p:spPr>
      </p:pic>
      <p:sp>
        <p:nvSpPr>
          <p:cNvPr id="4" name="Shape 1"/>
          <p:cNvSpPr/>
          <p:nvPr/>
        </p:nvSpPr>
        <p:spPr>
          <a:xfrm>
            <a:off x="10076688" y="164592"/>
            <a:ext cx="1572768" cy="457200"/>
          </a:xfrm>
          <a:prstGeom prst="roundRect">
            <a:avLst>
              <a:gd name="adj" fmla="val 24000"/>
            </a:avLst>
          </a:prstGeom>
          <a:solidFill>
            <a:srgbClr val="C06020"/>
          </a:solidFill>
          <a:ln w="6350">
            <a:solidFill>
              <a:srgbClr val="C06020"/>
            </a:solidFill>
            <a:prstDash val="solid"/>
          </a:ln>
        </p:spPr>
        <p:txBody>
          <a:bodyPr/>
          <a:lstStyle/>
          <a:p>
            <a:endParaRPr lang="es-ES"/>
          </a:p>
        </p:txBody>
      </p:sp>
      <p:sp>
        <p:nvSpPr>
          <p:cNvPr id="5" name="Shape 2"/>
          <p:cNvSpPr/>
          <p:nvPr/>
        </p:nvSpPr>
        <p:spPr>
          <a:xfrm rot="10800000">
            <a:off x="10204704" y="256032"/>
            <a:ext cx="164592" cy="164592"/>
          </a:xfrm>
          <a:prstGeom prst="chevron">
            <a:avLst/>
          </a:prstGeom>
          <a:solidFill>
            <a:srgbClr val="FFFFFF"/>
          </a:solidFill>
          <a:ln w="12700">
            <a:solidFill>
              <a:srgbClr val="FFFFFF">
                <a:alpha val="0"/>
              </a:srgbClr>
            </a:solidFill>
            <a:prstDash val="solid"/>
          </a:ln>
        </p:spPr>
        <p:txBody>
          <a:bodyPr/>
          <a:lstStyle/>
          <a:p>
            <a:endParaRPr lang="es-ES"/>
          </a:p>
        </p:txBody>
      </p:sp>
      <p:sp>
        <p:nvSpPr>
          <p:cNvPr id="6" name="Shape 3"/>
          <p:cNvSpPr/>
          <p:nvPr/>
        </p:nvSpPr>
        <p:spPr>
          <a:xfrm>
            <a:off x="10387584" y="237744"/>
            <a:ext cx="164592" cy="201168"/>
          </a:xfrm>
          <a:prstGeom prst="arc">
            <a:avLst/>
          </a:prstGeom>
          <a:solidFill>
            <a:srgbClr val="C06020">
              <a:alpha val="0"/>
            </a:srgbClr>
          </a:solidFill>
          <a:ln w="16510">
            <a:solidFill>
              <a:srgbClr val="FFFFFF"/>
            </a:solidFill>
            <a:prstDash val="solid"/>
          </a:ln>
        </p:spPr>
        <p:txBody>
          <a:bodyPr/>
          <a:lstStyle/>
          <a:p>
            <a:endParaRPr lang="es-ES"/>
          </a:p>
        </p:txBody>
      </p:sp>
      <p:sp>
        <p:nvSpPr>
          <p:cNvPr id="7" name="Text 4"/>
          <p:cNvSpPr/>
          <p:nvPr/>
        </p:nvSpPr>
        <p:spPr>
          <a:xfrm>
            <a:off x="10588752" y="265176"/>
            <a:ext cx="658368"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AUDIO</a:t>
            </a:r>
            <a:endParaRPr lang="en-US" sz="950" dirty="0"/>
          </a:p>
        </p:txBody>
      </p:sp>
      <p:sp>
        <p:nvSpPr>
          <p:cNvPr id="8" name="Shape 5"/>
          <p:cNvSpPr/>
          <p:nvPr/>
        </p:nvSpPr>
        <p:spPr>
          <a:xfrm>
            <a:off x="292608" y="1170432"/>
            <a:ext cx="2542032" cy="530352"/>
          </a:xfrm>
          <a:prstGeom prst="roundRect">
            <a:avLst>
              <a:gd name="adj" fmla="val 13793"/>
            </a:avLst>
          </a:prstGeom>
          <a:solidFill>
            <a:srgbClr val="1B4D5C"/>
          </a:solidFill>
          <a:ln w="12700">
            <a:solidFill>
              <a:srgbClr val="1B4D5C"/>
            </a:solidFill>
            <a:prstDash val="solid"/>
          </a:ln>
        </p:spPr>
        <p:txBody>
          <a:bodyPr/>
          <a:lstStyle/>
          <a:p>
            <a:endParaRPr lang="es-ES"/>
          </a:p>
        </p:txBody>
      </p:sp>
      <p:sp>
        <p:nvSpPr>
          <p:cNvPr id="9" name="Text 6"/>
          <p:cNvSpPr/>
          <p:nvPr/>
        </p:nvSpPr>
        <p:spPr>
          <a:xfrm>
            <a:off x="429768" y="1316736"/>
            <a:ext cx="2267712" cy="219456"/>
          </a:xfrm>
          <a:prstGeom prst="rect">
            <a:avLst/>
          </a:prstGeom>
          <a:noFill/>
          <a:ln/>
        </p:spPr>
        <p:txBody>
          <a:bodyPr wrap="square" lIns="0" tIns="0" rIns="0" bIns="0" rtlCol="0" anchor="ctr">
            <a:normAutofit/>
          </a:bodyPr>
          <a:lstStyle/>
          <a:p>
            <a:pPr marL="0" indent="0" algn="ctr">
              <a:buNone/>
            </a:pPr>
            <a:r>
              <a:rPr lang="en-US" sz="1380" b="1" dirty="0">
                <a:solidFill>
                  <a:srgbClr val="FFFFFF"/>
                </a:solidFill>
                <a:latin typeface="Inter" pitchFamily="34" charset="0"/>
                <a:ea typeface="Inter" pitchFamily="34" charset="-122"/>
                <a:cs typeface="Inter" pitchFamily="34" charset="-120"/>
              </a:rPr>
              <a:t>COMPRENDER</a:t>
            </a:r>
            <a:endParaRPr lang="en-US" sz="1380" dirty="0"/>
          </a:p>
        </p:txBody>
      </p:sp>
      <p:sp>
        <p:nvSpPr>
          <p:cNvPr id="10" name="Text 7"/>
          <p:cNvSpPr/>
          <p:nvPr/>
        </p:nvSpPr>
        <p:spPr>
          <a:xfrm>
            <a:off x="2843784" y="1298448"/>
            <a:ext cx="320040" cy="219456"/>
          </a:xfrm>
          <a:prstGeom prst="rect">
            <a:avLst/>
          </a:prstGeom>
          <a:noFill/>
          <a:ln/>
        </p:spPr>
        <p:txBody>
          <a:bodyPr wrap="square" lIns="0" tIns="0" rIns="0" bIns="0" rtlCol="0" anchor="ctr"/>
          <a:lstStyle/>
          <a:p>
            <a:pPr marL="0" indent="0" algn="ctr">
              <a:buNone/>
            </a:pPr>
            <a:r>
              <a:rPr lang="en-US" sz="2200" b="1" dirty="0">
                <a:solidFill>
                  <a:srgbClr val="6A7E87"/>
                </a:solidFill>
                <a:latin typeface="Inter" pitchFamily="34" charset="0"/>
                <a:ea typeface="Inter" pitchFamily="34" charset="-122"/>
                <a:cs typeface="Inter" pitchFamily="34" charset="-120"/>
              </a:rPr>
              <a:t>→</a:t>
            </a:r>
            <a:endParaRPr lang="en-US" sz="2200" dirty="0"/>
          </a:p>
        </p:txBody>
      </p:sp>
      <p:sp>
        <p:nvSpPr>
          <p:cNvPr id="11" name="Shape 8"/>
          <p:cNvSpPr/>
          <p:nvPr/>
        </p:nvSpPr>
        <p:spPr>
          <a:xfrm>
            <a:off x="3200400" y="1170432"/>
            <a:ext cx="2542032" cy="530352"/>
          </a:xfrm>
          <a:prstGeom prst="roundRect">
            <a:avLst>
              <a:gd name="adj" fmla="val 13793"/>
            </a:avLst>
          </a:prstGeom>
          <a:solidFill>
            <a:srgbClr val="C66019"/>
          </a:solidFill>
          <a:ln w="12700">
            <a:solidFill>
              <a:srgbClr val="C66019"/>
            </a:solidFill>
            <a:prstDash val="solid"/>
          </a:ln>
        </p:spPr>
        <p:txBody>
          <a:bodyPr/>
          <a:lstStyle/>
          <a:p>
            <a:endParaRPr lang="es-ES"/>
          </a:p>
        </p:txBody>
      </p:sp>
      <p:sp>
        <p:nvSpPr>
          <p:cNvPr id="12" name="Text 9"/>
          <p:cNvSpPr/>
          <p:nvPr/>
        </p:nvSpPr>
        <p:spPr>
          <a:xfrm>
            <a:off x="3337560" y="1316736"/>
            <a:ext cx="2267712" cy="219456"/>
          </a:xfrm>
          <a:prstGeom prst="rect">
            <a:avLst/>
          </a:prstGeom>
          <a:noFill/>
          <a:ln/>
        </p:spPr>
        <p:txBody>
          <a:bodyPr wrap="square" lIns="0" tIns="0" rIns="0" bIns="0" rtlCol="0" anchor="ctr">
            <a:normAutofit/>
          </a:bodyPr>
          <a:lstStyle/>
          <a:p>
            <a:pPr marL="0" indent="0" algn="ctr">
              <a:buNone/>
            </a:pPr>
            <a:r>
              <a:rPr lang="en-US" sz="1380" b="1" dirty="0">
                <a:solidFill>
                  <a:srgbClr val="FFFFFF"/>
                </a:solidFill>
                <a:latin typeface="Inter" pitchFamily="34" charset="0"/>
                <a:ea typeface="Inter" pitchFamily="34" charset="-122"/>
                <a:cs typeface="Inter" pitchFamily="34" charset="-120"/>
              </a:rPr>
              <a:t>LIMITAR</a:t>
            </a:r>
            <a:endParaRPr lang="en-US" sz="1380" dirty="0"/>
          </a:p>
        </p:txBody>
      </p:sp>
      <p:sp>
        <p:nvSpPr>
          <p:cNvPr id="13" name="Text 10"/>
          <p:cNvSpPr/>
          <p:nvPr/>
        </p:nvSpPr>
        <p:spPr>
          <a:xfrm>
            <a:off x="5751576" y="1298448"/>
            <a:ext cx="320040" cy="219456"/>
          </a:xfrm>
          <a:prstGeom prst="rect">
            <a:avLst/>
          </a:prstGeom>
          <a:noFill/>
          <a:ln/>
        </p:spPr>
        <p:txBody>
          <a:bodyPr wrap="square" lIns="0" tIns="0" rIns="0" bIns="0" rtlCol="0" anchor="ctr"/>
          <a:lstStyle/>
          <a:p>
            <a:pPr marL="0" indent="0" algn="ctr">
              <a:buNone/>
            </a:pPr>
            <a:r>
              <a:rPr lang="en-US" sz="2200" b="1" dirty="0">
                <a:solidFill>
                  <a:srgbClr val="6A7E87"/>
                </a:solidFill>
                <a:latin typeface="Inter" pitchFamily="34" charset="0"/>
                <a:ea typeface="Inter" pitchFamily="34" charset="-122"/>
                <a:cs typeface="Inter" pitchFamily="34" charset="-120"/>
              </a:rPr>
              <a:t>→</a:t>
            </a:r>
            <a:endParaRPr lang="en-US" sz="2200" dirty="0"/>
          </a:p>
        </p:txBody>
      </p:sp>
      <p:sp>
        <p:nvSpPr>
          <p:cNvPr id="14" name="Shape 11"/>
          <p:cNvSpPr/>
          <p:nvPr/>
        </p:nvSpPr>
        <p:spPr>
          <a:xfrm>
            <a:off x="6108192" y="1170432"/>
            <a:ext cx="2542032" cy="530352"/>
          </a:xfrm>
          <a:prstGeom prst="roundRect">
            <a:avLst>
              <a:gd name="adj" fmla="val 13793"/>
            </a:avLst>
          </a:prstGeom>
          <a:solidFill>
            <a:srgbClr val="1D3461"/>
          </a:solidFill>
          <a:ln w="12700">
            <a:solidFill>
              <a:srgbClr val="1D3461"/>
            </a:solidFill>
            <a:prstDash val="solid"/>
          </a:ln>
        </p:spPr>
        <p:txBody>
          <a:bodyPr/>
          <a:lstStyle/>
          <a:p>
            <a:endParaRPr lang="es-ES"/>
          </a:p>
        </p:txBody>
      </p:sp>
      <p:sp>
        <p:nvSpPr>
          <p:cNvPr id="15" name="Text 12"/>
          <p:cNvSpPr/>
          <p:nvPr/>
        </p:nvSpPr>
        <p:spPr>
          <a:xfrm>
            <a:off x="6245352" y="1316736"/>
            <a:ext cx="2267712" cy="219456"/>
          </a:xfrm>
          <a:prstGeom prst="rect">
            <a:avLst/>
          </a:prstGeom>
          <a:noFill/>
          <a:ln/>
        </p:spPr>
        <p:txBody>
          <a:bodyPr wrap="square" lIns="0" tIns="0" rIns="0" bIns="0" rtlCol="0" anchor="ctr">
            <a:normAutofit/>
          </a:bodyPr>
          <a:lstStyle/>
          <a:p>
            <a:pPr marL="0" indent="0" algn="ctr">
              <a:buNone/>
            </a:pPr>
            <a:r>
              <a:rPr lang="en-US" sz="1380" b="1" dirty="0">
                <a:solidFill>
                  <a:srgbClr val="FFFFFF"/>
                </a:solidFill>
                <a:latin typeface="Inter" pitchFamily="34" charset="0"/>
                <a:ea typeface="Inter" pitchFamily="34" charset="-122"/>
                <a:cs typeface="Inter" pitchFamily="34" charset="-120"/>
              </a:rPr>
              <a:t>VERIFICAR</a:t>
            </a:r>
            <a:endParaRPr lang="en-US" sz="1380" dirty="0"/>
          </a:p>
        </p:txBody>
      </p:sp>
      <p:sp>
        <p:nvSpPr>
          <p:cNvPr id="16" name="Text 13"/>
          <p:cNvSpPr/>
          <p:nvPr/>
        </p:nvSpPr>
        <p:spPr>
          <a:xfrm>
            <a:off x="8659368" y="1298448"/>
            <a:ext cx="320040" cy="219456"/>
          </a:xfrm>
          <a:prstGeom prst="rect">
            <a:avLst/>
          </a:prstGeom>
          <a:noFill/>
          <a:ln/>
        </p:spPr>
        <p:txBody>
          <a:bodyPr wrap="square" lIns="0" tIns="0" rIns="0" bIns="0" rtlCol="0" anchor="ctr"/>
          <a:lstStyle/>
          <a:p>
            <a:pPr marL="0" indent="0" algn="ctr">
              <a:buNone/>
            </a:pPr>
            <a:r>
              <a:rPr lang="en-US" sz="2200" b="1" dirty="0">
                <a:solidFill>
                  <a:srgbClr val="6A7E87"/>
                </a:solidFill>
                <a:latin typeface="Inter" pitchFamily="34" charset="0"/>
                <a:ea typeface="Inter" pitchFamily="34" charset="-122"/>
                <a:cs typeface="Inter" pitchFamily="34" charset="-120"/>
              </a:rPr>
              <a:t>→</a:t>
            </a:r>
            <a:endParaRPr lang="en-US" sz="2200" dirty="0"/>
          </a:p>
        </p:txBody>
      </p:sp>
      <p:sp>
        <p:nvSpPr>
          <p:cNvPr id="17" name="Shape 14"/>
          <p:cNvSpPr/>
          <p:nvPr/>
        </p:nvSpPr>
        <p:spPr>
          <a:xfrm>
            <a:off x="9015984" y="1170432"/>
            <a:ext cx="2542032" cy="530352"/>
          </a:xfrm>
          <a:prstGeom prst="roundRect">
            <a:avLst>
              <a:gd name="adj" fmla="val 13793"/>
            </a:avLst>
          </a:prstGeom>
          <a:solidFill>
            <a:srgbClr val="1B4D5C"/>
          </a:solidFill>
          <a:ln w="12700">
            <a:solidFill>
              <a:srgbClr val="1B4D5C"/>
            </a:solidFill>
            <a:prstDash val="solid"/>
          </a:ln>
        </p:spPr>
        <p:txBody>
          <a:bodyPr/>
          <a:lstStyle/>
          <a:p>
            <a:endParaRPr lang="es-ES"/>
          </a:p>
        </p:txBody>
      </p:sp>
      <p:sp>
        <p:nvSpPr>
          <p:cNvPr id="18" name="Text 15"/>
          <p:cNvSpPr/>
          <p:nvPr/>
        </p:nvSpPr>
        <p:spPr>
          <a:xfrm>
            <a:off x="9153144" y="1316736"/>
            <a:ext cx="2267712" cy="219456"/>
          </a:xfrm>
          <a:prstGeom prst="rect">
            <a:avLst/>
          </a:prstGeom>
          <a:noFill/>
          <a:ln/>
        </p:spPr>
        <p:txBody>
          <a:bodyPr wrap="square" lIns="0" tIns="0" rIns="0" bIns="0" rtlCol="0" anchor="ctr">
            <a:normAutofit/>
          </a:bodyPr>
          <a:lstStyle/>
          <a:p>
            <a:pPr marL="0" indent="0" algn="ctr">
              <a:buNone/>
            </a:pPr>
            <a:r>
              <a:rPr lang="en-US" sz="1380" b="1" dirty="0">
                <a:solidFill>
                  <a:srgbClr val="FFFFFF"/>
                </a:solidFill>
                <a:latin typeface="Inter" pitchFamily="34" charset="0"/>
                <a:ea typeface="Inter" pitchFamily="34" charset="-122"/>
                <a:cs typeface="Inter" pitchFamily="34" charset="-120"/>
              </a:rPr>
              <a:t>DECIDIR</a:t>
            </a:r>
            <a:endParaRPr lang="en-US" sz="1380" dirty="0"/>
          </a:p>
        </p:txBody>
      </p:sp>
      <p:sp>
        <p:nvSpPr>
          <p:cNvPr id="19" name="Text 16"/>
          <p:cNvSpPr/>
          <p:nvPr/>
        </p:nvSpPr>
        <p:spPr>
          <a:xfrm>
            <a:off x="384048" y="2423160"/>
            <a:ext cx="274320" cy="2011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1.</a:t>
            </a:r>
            <a:endParaRPr lang="en-US" sz="1350" dirty="0"/>
          </a:p>
        </p:txBody>
      </p:sp>
      <p:sp>
        <p:nvSpPr>
          <p:cNvPr id="20" name="Text 17"/>
          <p:cNvSpPr/>
          <p:nvPr/>
        </p:nvSpPr>
        <p:spPr>
          <a:xfrm>
            <a:off x="713232" y="2377440"/>
            <a:ext cx="10515600" cy="310896"/>
          </a:xfrm>
          <a:prstGeom prst="rect">
            <a:avLst/>
          </a:prstGeom>
          <a:noFill/>
          <a:ln/>
        </p:spPr>
        <p:txBody>
          <a:bodyPr wrap="square" lIns="0" tIns="0" rIns="0" bIns="0" rtlCol="0" anchor="ctr">
            <a:normAutofit/>
          </a:bodyPr>
          <a:lstStyle/>
          <a:p>
            <a:pPr marL="0" indent="0">
              <a:buNone/>
            </a:pPr>
            <a:r>
              <a:rPr lang="en-US" sz="1400" b="1" dirty="0">
                <a:solidFill>
                  <a:srgbClr val="0B2F3A"/>
                </a:solidFill>
                <a:latin typeface="Inter" pitchFamily="34" charset="0"/>
                <a:ea typeface="Inter" pitchFamily="34" charset="-122"/>
                <a:cs typeface="Inter" pitchFamily="34" charset="-120"/>
              </a:rPr>
              <a:t>La IA genera predicciones, contenidos, recomendaciones, clasificaciones o decisiones.</a:t>
            </a:r>
            <a:endParaRPr lang="en-US" sz="1400" dirty="0"/>
          </a:p>
        </p:txBody>
      </p:sp>
      <p:sp>
        <p:nvSpPr>
          <p:cNvPr id="21" name="Text 18"/>
          <p:cNvSpPr/>
          <p:nvPr/>
        </p:nvSpPr>
        <p:spPr>
          <a:xfrm>
            <a:off x="384048" y="2990088"/>
            <a:ext cx="274320" cy="2011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2.</a:t>
            </a:r>
            <a:endParaRPr lang="en-US" sz="1350" dirty="0"/>
          </a:p>
        </p:txBody>
      </p:sp>
      <p:sp>
        <p:nvSpPr>
          <p:cNvPr id="22" name="Text 19"/>
          <p:cNvSpPr/>
          <p:nvPr/>
        </p:nvSpPr>
        <p:spPr>
          <a:xfrm>
            <a:off x="713232" y="2944368"/>
            <a:ext cx="10515600" cy="310896"/>
          </a:xfrm>
          <a:prstGeom prst="rect">
            <a:avLst/>
          </a:prstGeom>
          <a:noFill/>
          <a:ln/>
        </p:spPr>
        <p:txBody>
          <a:bodyPr wrap="square" lIns="0" tIns="0" rIns="0" bIns="0" rtlCol="0" anchor="ctr">
            <a:normAutofit/>
          </a:bodyPr>
          <a:lstStyle/>
          <a:p>
            <a:pPr marL="0" indent="0">
              <a:buNone/>
            </a:pPr>
            <a:r>
              <a:rPr lang="en-US" sz="1400" b="1" dirty="0">
                <a:solidFill>
                  <a:srgbClr val="0B2F3A"/>
                </a:solidFill>
                <a:latin typeface="Inter" pitchFamily="34" charset="0"/>
                <a:ea typeface="Inter" pitchFamily="34" charset="-122"/>
                <a:cs typeface="Inter" pitchFamily="34" charset="-120"/>
              </a:rPr>
              <a:t>No toda automatización es IA.</a:t>
            </a:r>
            <a:endParaRPr lang="en-US" sz="1400" dirty="0"/>
          </a:p>
        </p:txBody>
      </p:sp>
      <p:sp>
        <p:nvSpPr>
          <p:cNvPr id="23" name="Text 20"/>
          <p:cNvSpPr/>
          <p:nvPr/>
        </p:nvSpPr>
        <p:spPr>
          <a:xfrm>
            <a:off x="384048" y="3557016"/>
            <a:ext cx="274320" cy="2011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3.</a:t>
            </a:r>
            <a:endParaRPr lang="en-US" sz="1350" dirty="0"/>
          </a:p>
        </p:txBody>
      </p:sp>
      <p:sp>
        <p:nvSpPr>
          <p:cNvPr id="24" name="Text 21"/>
          <p:cNvSpPr/>
          <p:nvPr/>
        </p:nvSpPr>
        <p:spPr>
          <a:xfrm>
            <a:off x="713232" y="3511296"/>
            <a:ext cx="10515600" cy="310896"/>
          </a:xfrm>
          <a:prstGeom prst="rect">
            <a:avLst/>
          </a:prstGeom>
          <a:noFill/>
          <a:ln/>
        </p:spPr>
        <p:txBody>
          <a:bodyPr wrap="square" lIns="0" tIns="0" rIns="0" bIns="0" rtlCol="0" anchor="ctr">
            <a:normAutofit/>
          </a:bodyPr>
          <a:lstStyle/>
          <a:p>
            <a:pPr marL="0" indent="0">
              <a:buNone/>
            </a:pPr>
            <a:r>
              <a:rPr lang="en-US" sz="1400" b="1" dirty="0">
                <a:solidFill>
                  <a:srgbClr val="0B2F3A"/>
                </a:solidFill>
                <a:latin typeface="Inter" pitchFamily="34" charset="0"/>
                <a:ea typeface="Inter" pitchFamily="34" charset="-122"/>
                <a:cs typeface="Inter" pitchFamily="34" charset="-120"/>
              </a:rPr>
              <a:t>Los sistemas dependen de datos, algoritmos, modelos y una finalidad concreta.</a:t>
            </a:r>
            <a:endParaRPr lang="en-US" sz="1400" dirty="0"/>
          </a:p>
        </p:txBody>
      </p:sp>
      <p:sp>
        <p:nvSpPr>
          <p:cNvPr id="25" name="Text 22"/>
          <p:cNvSpPr/>
          <p:nvPr/>
        </p:nvSpPr>
        <p:spPr>
          <a:xfrm>
            <a:off x="384048" y="4123944"/>
            <a:ext cx="274320" cy="2011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4.</a:t>
            </a:r>
            <a:endParaRPr lang="en-US" sz="1350" dirty="0"/>
          </a:p>
        </p:txBody>
      </p:sp>
      <p:sp>
        <p:nvSpPr>
          <p:cNvPr id="26" name="Text 23"/>
          <p:cNvSpPr/>
          <p:nvPr/>
        </p:nvSpPr>
        <p:spPr>
          <a:xfrm>
            <a:off x="713232" y="4078224"/>
            <a:ext cx="10515600" cy="310896"/>
          </a:xfrm>
          <a:prstGeom prst="rect">
            <a:avLst/>
          </a:prstGeom>
          <a:noFill/>
          <a:ln/>
        </p:spPr>
        <p:txBody>
          <a:bodyPr wrap="square" lIns="0" tIns="0" rIns="0" bIns="0" rtlCol="0" anchor="ctr">
            <a:normAutofit/>
          </a:bodyPr>
          <a:lstStyle/>
          <a:p>
            <a:pPr marL="0" indent="0">
              <a:buNone/>
            </a:pPr>
            <a:r>
              <a:rPr lang="en-US" sz="1400" b="1" dirty="0">
                <a:solidFill>
                  <a:srgbClr val="0B2F3A"/>
                </a:solidFill>
                <a:latin typeface="Inter" pitchFamily="34" charset="0"/>
                <a:ea typeface="Inter" pitchFamily="34" charset="-122"/>
                <a:cs typeface="Inter" pitchFamily="34" charset="-120"/>
              </a:rPr>
              <a:t>La IA generativa puede producir información falsa de forma convincente.</a:t>
            </a:r>
            <a:endParaRPr lang="en-US" sz="1400" dirty="0"/>
          </a:p>
        </p:txBody>
      </p:sp>
      <p:sp>
        <p:nvSpPr>
          <p:cNvPr id="27" name="Text 24"/>
          <p:cNvSpPr/>
          <p:nvPr/>
        </p:nvSpPr>
        <p:spPr>
          <a:xfrm>
            <a:off x="384048" y="4690872"/>
            <a:ext cx="274320" cy="201168"/>
          </a:xfrm>
          <a:prstGeom prst="rect">
            <a:avLst/>
          </a:prstGeom>
          <a:noFill/>
          <a:ln/>
        </p:spPr>
        <p:txBody>
          <a:bodyPr wrap="square" lIns="0" tIns="0" rIns="0" bIns="0" rtlCol="0" anchor="ctr"/>
          <a:lstStyle/>
          <a:p>
            <a:pPr marL="0" indent="0">
              <a:buNone/>
            </a:pPr>
            <a:r>
              <a:rPr lang="en-US" sz="1350" b="1" dirty="0">
                <a:solidFill>
                  <a:srgbClr val="C66019"/>
                </a:solidFill>
                <a:latin typeface="Inter" pitchFamily="34" charset="0"/>
                <a:ea typeface="Inter" pitchFamily="34" charset="-122"/>
                <a:cs typeface="Inter" pitchFamily="34" charset="-120"/>
              </a:rPr>
              <a:t>5.</a:t>
            </a:r>
            <a:endParaRPr lang="en-US" sz="1350" dirty="0"/>
          </a:p>
        </p:txBody>
      </p:sp>
      <p:sp>
        <p:nvSpPr>
          <p:cNvPr id="28" name="Text 25"/>
          <p:cNvSpPr/>
          <p:nvPr/>
        </p:nvSpPr>
        <p:spPr>
          <a:xfrm>
            <a:off x="713232" y="4645152"/>
            <a:ext cx="10515600" cy="310896"/>
          </a:xfrm>
          <a:prstGeom prst="rect">
            <a:avLst/>
          </a:prstGeom>
          <a:noFill/>
          <a:ln/>
        </p:spPr>
        <p:txBody>
          <a:bodyPr wrap="square" lIns="0" tIns="0" rIns="0" bIns="0" rtlCol="0" anchor="ctr">
            <a:normAutofit/>
          </a:bodyPr>
          <a:lstStyle/>
          <a:p>
            <a:pPr marL="0" indent="0">
              <a:buNone/>
            </a:pPr>
            <a:r>
              <a:rPr lang="en-US" sz="1400" b="1" dirty="0">
                <a:solidFill>
                  <a:srgbClr val="0B2F3A"/>
                </a:solidFill>
                <a:latin typeface="Inter" pitchFamily="34" charset="0"/>
                <a:ea typeface="Inter" pitchFamily="34" charset="-122"/>
                <a:cs typeface="Inter" pitchFamily="34" charset="-120"/>
              </a:rPr>
              <a:t>La responsabilidad profesional no desaparece por utilizar una herramienta.</a:t>
            </a:r>
            <a:endParaRPr lang="en-US" sz="1400" dirty="0"/>
          </a:p>
        </p:txBody>
      </p:sp>
      <p:sp>
        <p:nvSpPr>
          <p:cNvPr id="29" name="Shape 26"/>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30" name="Text 27"/>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37744"/>
            <a:ext cx="1920240" cy="201168"/>
          </a:xfrm>
          <a:prstGeom prst="rect">
            <a:avLst/>
          </a:prstGeom>
          <a:noFill/>
          <a:ln/>
        </p:spPr>
        <p:txBody>
          <a:bodyPr wrap="square" lIns="0" tIns="0" rIns="0" bIns="0" rtlCol="0" anchor="ctr"/>
          <a:lstStyle/>
          <a:p>
            <a:pPr marL="0" indent="0">
              <a:buNone/>
            </a:pPr>
            <a:r>
              <a:rPr lang="en-US" sz="1050" b="1" dirty="0">
                <a:solidFill>
                  <a:srgbClr val="C66019"/>
                </a:solidFill>
                <a:latin typeface="Inter" pitchFamily="34" charset="0"/>
                <a:ea typeface="Inter" pitchFamily="34" charset="-122"/>
                <a:cs typeface="Inter" pitchFamily="34" charset="-120"/>
              </a:rPr>
              <a:t>ACTIVIDAD</a:t>
            </a:r>
            <a:endParaRPr lang="en-US" sz="1050" dirty="0"/>
          </a:p>
        </p:txBody>
      </p:sp>
      <p:sp>
        <p:nvSpPr>
          <p:cNvPr id="3" name="Text 1"/>
          <p:cNvSpPr/>
          <p:nvPr/>
        </p:nvSpPr>
        <p:spPr>
          <a:xfrm>
            <a:off x="658368" y="530352"/>
            <a:ext cx="9692640" cy="384048"/>
          </a:xfrm>
          <a:prstGeom prst="rect">
            <a:avLst/>
          </a:prstGeom>
          <a:noFill/>
          <a:ln/>
        </p:spPr>
        <p:txBody>
          <a:bodyPr wrap="square" lIns="0" tIns="0" rIns="0" bIns="0" rtlCol="0" anchor="ctr">
            <a:normAutofit/>
          </a:bodyPr>
          <a:lstStyle/>
          <a:p>
            <a:pPr marL="0" indent="0">
              <a:buNone/>
            </a:pPr>
            <a:r>
              <a:rPr lang="en-US" sz="2400" b="1" dirty="0">
                <a:solidFill>
                  <a:srgbClr val="1B4D5C"/>
                </a:solidFill>
                <a:latin typeface="Inter" pitchFamily="34" charset="0"/>
                <a:ea typeface="Inter" pitchFamily="34" charset="-122"/>
                <a:cs typeface="Inter" pitchFamily="34" charset="-120"/>
              </a:rPr>
              <a:t>Regla de los cuatro pasos</a:t>
            </a:r>
            <a:endParaRPr lang="en-US" sz="2400" dirty="0"/>
          </a:p>
        </p:txBody>
      </p:sp>
      <p:sp>
        <p:nvSpPr>
          <p:cNvPr id="4" name="Text 2"/>
          <p:cNvSpPr/>
          <p:nvPr/>
        </p:nvSpPr>
        <p:spPr>
          <a:xfrm>
            <a:off x="658368" y="1143000"/>
            <a:ext cx="6400800" cy="310896"/>
          </a:xfrm>
          <a:prstGeom prst="rect">
            <a:avLst/>
          </a:prstGeom>
          <a:noFill/>
          <a:ln/>
        </p:spPr>
        <p:txBody>
          <a:bodyPr wrap="square" lIns="0" tIns="0" rIns="0" bIns="0" rtlCol="0" anchor="ctr"/>
          <a:lstStyle/>
          <a:p>
            <a:pPr marL="0" indent="0">
              <a:buNone/>
            </a:pPr>
            <a:r>
              <a:rPr lang="en-US" sz="1600" b="1" dirty="0">
                <a:solidFill>
                  <a:srgbClr val="1D3461"/>
                </a:solidFill>
                <a:latin typeface="Inter" pitchFamily="34" charset="0"/>
                <a:ea typeface="Inter" pitchFamily="34" charset="-122"/>
                <a:cs typeface="Inter" pitchFamily="34" charset="-120"/>
              </a:rPr>
              <a:t>Completa la regla de los cuatro pasos en el orden correcto.</a:t>
            </a:r>
            <a:endParaRPr lang="en-US" sz="1600" dirty="0"/>
          </a:p>
        </p:txBody>
      </p:sp>
      <p:sp>
        <p:nvSpPr>
          <p:cNvPr id="5" name="Shape 3"/>
          <p:cNvSpPr/>
          <p:nvPr/>
        </p:nvSpPr>
        <p:spPr>
          <a:xfrm>
            <a:off x="749808" y="2194560"/>
            <a:ext cx="2240280" cy="749808"/>
          </a:xfrm>
          <a:prstGeom prst="roundRect">
            <a:avLst>
              <a:gd name="adj" fmla="val 9756"/>
            </a:avLst>
          </a:prstGeom>
          <a:solidFill>
            <a:srgbClr val="1B4D5C"/>
          </a:solidFill>
          <a:ln w="12700">
            <a:solidFill>
              <a:srgbClr val="1B4D5C"/>
            </a:solidFill>
            <a:prstDash val="solid"/>
          </a:ln>
        </p:spPr>
        <p:txBody>
          <a:bodyPr/>
          <a:lstStyle/>
          <a:p>
            <a:endParaRPr lang="es-ES"/>
          </a:p>
        </p:txBody>
      </p:sp>
      <p:sp>
        <p:nvSpPr>
          <p:cNvPr id="6" name="Text 4"/>
          <p:cNvSpPr/>
          <p:nvPr/>
        </p:nvSpPr>
        <p:spPr>
          <a:xfrm>
            <a:off x="896112" y="2432304"/>
            <a:ext cx="1920240" cy="23774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Inter" pitchFamily="34" charset="0"/>
                <a:ea typeface="Inter" pitchFamily="34" charset="-122"/>
                <a:cs typeface="Inter" pitchFamily="34" charset="-120"/>
              </a:rPr>
              <a:t>Comprender</a:t>
            </a:r>
            <a:endParaRPr lang="en-US" sz="1600" dirty="0"/>
          </a:p>
        </p:txBody>
      </p:sp>
      <p:sp>
        <p:nvSpPr>
          <p:cNvPr id="7" name="Text 5"/>
          <p:cNvSpPr/>
          <p:nvPr/>
        </p:nvSpPr>
        <p:spPr>
          <a:xfrm>
            <a:off x="2999232" y="2432304"/>
            <a:ext cx="310896" cy="237744"/>
          </a:xfrm>
          <a:prstGeom prst="rect">
            <a:avLst/>
          </a:prstGeom>
          <a:noFill/>
          <a:ln/>
        </p:spPr>
        <p:txBody>
          <a:bodyPr wrap="square" lIns="0" tIns="0" rIns="0" bIns="0" rtlCol="0" anchor="ctr"/>
          <a:lstStyle/>
          <a:p>
            <a:pPr marL="0" indent="0" algn="ctr">
              <a:buNone/>
            </a:pPr>
            <a:r>
              <a:rPr lang="en-US" sz="2400" b="1" dirty="0">
                <a:solidFill>
                  <a:srgbClr val="6A7E87"/>
                </a:solidFill>
                <a:latin typeface="Inter" pitchFamily="34" charset="0"/>
                <a:ea typeface="Inter" pitchFamily="34" charset="-122"/>
                <a:cs typeface="Inter" pitchFamily="34" charset="-120"/>
              </a:rPr>
              <a:t>→</a:t>
            </a:r>
            <a:endParaRPr lang="en-US" sz="2400" dirty="0"/>
          </a:p>
        </p:txBody>
      </p:sp>
      <p:sp>
        <p:nvSpPr>
          <p:cNvPr id="8" name="Shape 6"/>
          <p:cNvSpPr/>
          <p:nvPr/>
        </p:nvSpPr>
        <p:spPr>
          <a:xfrm>
            <a:off x="3520440" y="2194560"/>
            <a:ext cx="2240280" cy="749808"/>
          </a:xfrm>
          <a:prstGeom prst="roundRect">
            <a:avLst>
              <a:gd name="adj" fmla="val 9756"/>
            </a:avLst>
          </a:prstGeom>
          <a:solidFill>
            <a:srgbClr val="C66019"/>
          </a:solidFill>
          <a:ln w="12700">
            <a:solidFill>
              <a:srgbClr val="C66019"/>
            </a:solidFill>
            <a:prstDash val="solid"/>
          </a:ln>
        </p:spPr>
        <p:txBody>
          <a:bodyPr/>
          <a:lstStyle/>
          <a:p>
            <a:endParaRPr lang="es-ES"/>
          </a:p>
        </p:txBody>
      </p:sp>
      <p:sp>
        <p:nvSpPr>
          <p:cNvPr id="9" name="Text 7"/>
          <p:cNvSpPr/>
          <p:nvPr/>
        </p:nvSpPr>
        <p:spPr>
          <a:xfrm>
            <a:off x="3666744" y="2432304"/>
            <a:ext cx="1920240" cy="23774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Inter" pitchFamily="34" charset="0"/>
                <a:ea typeface="Inter" pitchFamily="34" charset="-122"/>
                <a:cs typeface="Inter" pitchFamily="34" charset="-120"/>
              </a:rPr>
              <a:t>Limitar</a:t>
            </a:r>
            <a:endParaRPr lang="en-US" sz="1600" dirty="0"/>
          </a:p>
        </p:txBody>
      </p:sp>
      <p:sp>
        <p:nvSpPr>
          <p:cNvPr id="10" name="Text 8"/>
          <p:cNvSpPr/>
          <p:nvPr/>
        </p:nvSpPr>
        <p:spPr>
          <a:xfrm>
            <a:off x="5769864" y="2432304"/>
            <a:ext cx="310896" cy="237744"/>
          </a:xfrm>
          <a:prstGeom prst="rect">
            <a:avLst/>
          </a:prstGeom>
          <a:noFill/>
          <a:ln/>
        </p:spPr>
        <p:txBody>
          <a:bodyPr wrap="square" lIns="0" tIns="0" rIns="0" bIns="0" rtlCol="0" anchor="ctr"/>
          <a:lstStyle/>
          <a:p>
            <a:pPr marL="0" indent="0" algn="ctr">
              <a:buNone/>
            </a:pPr>
            <a:r>
              <a:rPr lang="en-US" sz="2400" b="1" dirty="0">
                <a:solidFill>
                  <a:srgbClr val="6A7E87"/>
                </a:solidFill>
                <a:latin typeface="Inter" pitchFamily="34" charset="0"/>
                <a:ea typeface="Inter" pitchFamily="34" charset="-122"/>
                <a:cs typeface="Inter" pitchFamily="34" charset="-120"/>
              </a:rPr>
              <a:t>→</a:t>
            </a:r>
            <a:endParaRPr lang="en-US" sz="2400" dirty="0"/>
          </a:p>
        </p:txBody>
      </p:sp>
      <p:sp>
        <p:nvSpPr>
          <p:cNvPr id="11" name="Shape 9"/>
          <p:cNvSpPr/>
          <p:nvPr/>
        </p:nvSpPr>
        <p:spPr>
          <a:xfrm>
            <a:off x="6291072" y="2194560"/>
            <a:ext cx="2240280" cy="749808"/>
          </a:xfrm>
          <a:prstGeom prst="roundRect">
            <a:avLst>
              <a:gd name="adj" fmla="val 9756"/>
            </a:avLst>
          </a:prstGeom>
          <a:solidFill>
            <a:srgbClr val="1D3461"/>
          </a:solidFill>
          <a:ln w="12700">
            <a:solidFill>
              <a:srgbClr val="1D3461"/>
            </a:solidFill>
            <a:prstDash val="solid"/>
          </a:ln>
        </p:spPr>
        <p:txBody>
          <a:bodyPr/>
          <a:lstStyle/>
          <a:p>
            <a:endParaRPr lang="es-ES"/>
          </a:p>
        </p:txBody>
      </p:sp>
      <p:sp>
        <p:nvSpPr>
          <p:cNvPr id="12" name="Text 10"/>
          <p:cNvSpPr/>
          <p:nvPr/>
        </p:nvSpPr>
        <p:spPr>
          <a:xfrm>
            <a:off x="6437376" y="2432304"/>
            <a:ext cx="1920240" cy="23774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Inter" pitchFamily="34" charset="0"/>
                <a:ea typeface="Inter" pitchFamily="34" charset="-122"/>
                <a:cs typeface="Inter" pitchFamily="34" charset="-120"/>
              </a:rPr>
              <a:t>Verificar</a:t>
            </a:r>
            <a:endParaRPr lang="en-US" sz="1600" dirty="0"/>
          </a:p>
        </p:txBody>
      </p:sp>
      <p:sp>
        <p:nvSpPr>
          <p:cNvPr id="13" name="Text 11"/>
          <p:cNvSpPr/>
          <p:nvPr/>
        </p:nvSpPr>
        <p:spPr>
          <a:xfrm>
            <a:off x="8540496" y="2432304"/>
            <a:ext cx="310896" cy="237744"/>
          </a:xfrm>
          <a:prstGeom prst="rect">
            <a:avLst/>
          </a:prstGeom>
          <a:noFill/>
          <a:ln/>
        </p:spPr>
        <p:txBody>
          <a:bodyPr wrap="square" lIns="0" tIns="0" rIns="0" bIns="0" rtlCol="0" anchor="ctr"/>
          <a:lstStyle/>
          <a:p>
            <a:pPr marL="0" indent="0" algn="ctr">
              <a:buNone/>
            </a:pPr>
            <a:r>
              <a:rPr lang="en-US" sz="2400" b="1" dirty="0">
                <a:solidFill>
                  <a:srgbClr val="6A7E87"/>
                </a:solidFill>
                <a:latin typeface="Inter" pitchFamily="34" charset="0"/>
                <a:ea typeface="Inter" pitchFamily="34" charset="-122"/>
                <a:cs typeface="Inter" pitchFamily="34" charset="-120"/>
              </a:rPr>
              <a:t>→</a:t>
            </a:r>
            <a:endParaRPr lang="en-US" sz="2400" dirty="0"/>
          </a:p>
        </p:txBody>
      </p:sp>
      <p:sp>
        <p:nvSpPr>
          <p:cNvPr id="14" name="Shape 12"/>
          <p:cNvSpPr/>
          <p:nvPr/>
        </p:nvSpPr>
        <p:spPr>
          <a:xfrm>
            <a:off x="9061704" y="2194560"/>
            <a:ext cx="2240280" cy="749808"/>
          </a:xfrm>
          <a:prstGeom prst="roundRect">
            <a:avLst>
              <a:gd name="adj" fmla="val 9756"/>
            </a:avLst>
          </a:prstGeom>
          <a:solidFill>
            <a:srgbClr val="1B4D5C"/>
          </a:solidFill>
          <a:ln w="12700">
            <a:solidFill>
              <a:srgbClr val="1B4D5C"/>
            </a:solidFill>
            <a:prstDash val="solid"/>
          </a:ln>
        </p:spPr>
        <p:txBody>
          <a:bodyPr/>
          <a:lstStyle/>
          <a:p>
            <a:endParaRPr lang="es-ES"/>
          </a:p>
        </p:txBody>
      </p:sp>
      <p:sp>
        <p:nvSpPr>
          <p:cNvPr id="15" name="Text 13"/>
          <p:cNvSpPr/>
          <p:nvPr/>
        </p:nvSpPr>
        <p:spPr>
          <a:xfrm>
            <a:off x="9208008" y="2432304"/>
            <a:ext cx="1920240" cy="237744"/>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Inter" pitchFamily="34" charset="0"/>
                <a:ea typeface="Inter" pitchFamily="34" charset="-122"/>
                <a:cs typeface="Inter" pitchFamily="34" charset="-120"/>
              </a:rPr>
              <a:t>Decidir</a:t>
            </a:r>
            <a:endParaRPr lang="en-US" sz="1600" dirty="0"/>
          </a:p>
        </p:txBody>
      </p:sp>
      <p:sp>
        <p:nvSpPr>
          <p:cNvPr id="16" name="Shape 14"/>
          <p:cNvSpPr/>
          <p:nvPr/>
        </p:nvSpPr>
        <p:spPr>
          <a:xfrm>
            <a:off x="749808" y="3730752"/>
            <a:ext cx="10607040" cy="914400"/>
          </a:xfrm>
          <a:prstGeom prst="roundRect">
            <a:avLst>
              <a:gd name="adj" fmla="val 8000"/>
            </a:avLst>
          </a:prstGeom>
          <a:solidFill>
            <a:srgbClr val="EAF3F6"/>
          </a:solidFill>
          <a:ln w="12700">
            <a:solidFill>
              <a:srgbClr val="D8E4E8"/>
            </a:solidFill>
            <a:prstDash val="solid"/>
          </a:ln>
        </p:spPr>
        <p:txBody>
          <a:bodyPr/>
          <a:lstStyle/>
          <a:p>
            <a:endParaRPr lang="es-ES"/>
          </a:p>
        </p:txBody>
      </p:sp>
      <p:sp>
        <p:nvSpPr>
          <p:cNvPr id="17" name="Text 15"/>
          <p:cNvSpPr/>
          <p:nvPr/>
        </p:nvSpPr>
        <p:spPr>
          <a:xfrm>
            <a:off x="1024128" y="3986784"/>
            <a:ext cx="10058400" cy="411480"/>
          </a:xfrm>
          <a:prstGeom prst="rect">
            <a:avLst/>
          </a:prstGeom>
          <a:noFill/>
          <a:ln/>
        </p:spPr>
        <p:txBody>
          <a:bodyPr wrap="square" lIns="0" tIns="0" rIns="0" bIns="0" rtlCol="0" anchor="ctr">
            <a:normAutofit/>
          </a:bodyPr>
          <a:lstStyle/>
          <a:p>
            <a:pPr marL="0" indent="0" algn="ctr">
              <a:buNone/>
            </a:pPr>
            <a:r>
              <a:rPr lang="en-US" sz="1700" b="1" dirty="0">
                <a:solidFill>
                  <a:srgbClr val="1B4D5C"/>
                </a:solidFill>
                <a:latin typeface="Inter" pitchFamily="34" charset="0"/>
                <a:ea typeface="Inter" pitchFamily="34" charset="-122"/>
                <a:cs typeface="Inter" pitchFamily="34" charset="-120"/>
              </a:rPr>
              <a:t>Comprender la herramienta → Limitar la información → Verificar el contenido → Decidir con criterio humano.</a:t>
            </a:r>
            <a:endParaRPr lang="en-US" sz="1700" dirty="0"/>
          </a:p>
        </p:txBody>
      </p:sp>
      <p:sp>
        <p:nvSpPr>
          <p:cNvPr id="18" name="Shape 16"/>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19" name="Text 17"/>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21808" y="1847088"/>
            <a:ext cx="1508760" cy="1508760"/>
          </a:xfrm>
          <a:prstGeom prst="ellipse">
            <a:avLst/>
          </a:prstGeom>
          <a:solidFill>
            <a:srgbClr val="EAF3F6"/>
          </a:solidFill>
          <a:ln w="12700">
            <a:solidFill>
              <a:srgbClr val="D8E4E8"/>
            </a:solidFill>
            <a:prstDash val="solid"/>
          </a:ln>
        </p:spPr>
        <p:txBody>
          <a:bodyPr/>
          <a:lstStyle/>
          <a:p>
            <a:endParaRPr lang="es-ES"/>
          </a:p>
        </p:txBody>
      </p:sp>
      <p:sp>
        <p:nvSpPr>
          <p:cNvPr id="3" name="Shape 1"/>
          <p:cNvSpPr/>
          <p:nvPr/>
        </p:nvSpPr>
        <p:spPr>
          <a:xfrm>
            <a:off x="5705856" y="2587752"/>
            <a:ext cx="256032" cy="274320"/>
          </a:xfrm>
          <a:prstGeom prst="line">
            <a:avLst/>
          </a:prstGeom>
          <a:noFill/>
          <a:ln w="50800">
            <a:solidFill>
              <a:srgbClr val="1B4D5C"/>
            </a:solidFill>
            <a:prstDash val="solid"/>
          </a:ln>
        </p:spPr>
        <p:txBody>
          <a:bodyPr/>
          <a:lstStyle/>
          <a:p>
            <a:endParaRPr lang="es-ES"/>
          </a:p>
        </p:txBody>
      </p:sp>
      <p:sp>
        <p:nvSpPr>
          <p:cNvPr id="4" name="Shape 2"/>
          <p:cNvSpPr/>
          <p:nvPr/>
        </p:nvSpPr>
        <p:spPr>
          <a:xfrm>
            <a:off x="5943600" y="2843784"/>
            <a:ext cx="475488" cy="0"/>
          </a:xfrm>
          <a:prstGeom prst="line">
            <a:avLst/>
          </a:prstGeom>
          <a:noFill/>
          <a:ln w="50800">
            <a:solidFill>
              <a:srgbClr val="1B4D5C"/>
            </a:solidFill>
            <a:prstDash val="solid"/>
          </a:ln>
        </p:spPr>
        <p:txBody>
          <a:bodyPr/>
          <a:lstStyle/>
          <a:p>
            <a:endParaRPr lang="es-ES"/>
          </a:p>
        </p:txBody>
      </p:sp>
      <p:sp>
        <p:nvSpPr>
          <p:cNvPr id="5" name="Text 3"/>
          <p:cNvSpPr/>
          <p:nvPr/>
        </p:nvSpPr>
        <p:spPr>
          <a:xfrm>
            <a:off x="4069080" y="3730752"/>
            <a:ext cx="4160520" cy="438912"/>
          </a:xfrm>
          <a:prstGeom prst="rect">
            <a:avLst/>
          </a:prstGeom>
          <a:noFill/>
          <a:ln/>
        </p:spPr>
        <p:txBody>
          <a:bodyPr wrap="square" lIns="0" tIns="0" rIns="0" bIns="0" rtlCol="0" anchor="ctr"/>
          <a:lstStyle/>
          <a:p>
            <a:pPr marL="0" indent="0" algn="ctr">
              <a:buNone/>
            </a:pPr>
            <a:r>
              <a:rPr lang="en-US" sz="2700" b="1" dirty="0">
                <a:solidFill>
                  <a:srgbClr val="1B4D5C"/>
                </a:solidFill>
                <a:latin typeface="Inter" pitchFamily="34" charset="0"/>
                <a:ea typeface="Inter" pitchFamily="34" charset="-122"/>
                <a:cs typeface="Inter" pitchFamily="34" charset="-120"/>
              </a:rPr>
              <a:t>Módulo 1 finalizado</a:t>
            </a:r>
            <a:endParaRPr lang="en-US" sz="2700" dirty="0"/>
          </a:p>
        </p:txBody>
      </p:sp>
      <p:sp>
        <p:nvSpPr>
          <p:cNvPr id="6" name="Shape 4"/>
          <p:cNvSpPr/>
          <p:nvPr/>
        </p:nvSpPr>
        <p:spPr>
          <a:xfrm>
            <a:off x="658368" y="6510528"/>
            <a:ext cx="10863072" cy="0"/>
          </a:xfrm>
          <a:prstGeom prst="line">
            <a:avLst/>
          </a:prstGeom>
          <a:noFill/>
          <a:ln w="12700">
            <a:solidFill>
              <a:srgbClr val="D8E4E8"/>
            </a:solidFill>
            <a:prstDash val="solid"/>
          </a:ln>
        </p:spPr>
        <p:txBody>
          <a:bodyPr/>
          <a:lstStyle/>
          <a:p>
            <a:endParaRPr lang="es-ES"/>
          </a:p>
        </p:txBody>
      </p:sp>
      <p:sp>
        <p:nvSpPr>
          <p:cNvPr id="7" name="Text 5"/>
          <p:cNvSpPr/>
          <p:nvPr/>
        </p:nvSpPr>
        <p:spPr>
          <a:xfrm>
            <a:off x="658368" y="6565392"/>
            <a:ext cx="3840480" cy="164592"/>
          </a:xfrm>
          <a:prstGeom prst="rect">
            <a:avLst/>
          </a:prstGeom>
          <a:noFill/>
          <a:ln/>
        </p:spPr>
        <p:txBody>
          <a:bodyPr wrap="square" lIns="0" tIns="0" rIns="0" bIns="0" rtlCol="0" anchor="ctr"/>
          <a:lstStyle/>
          <a:p>
            <a:pPr marL="0" indent="0">
              <a:buNone/>
            </a:pPr>
            <a:r>
              <a:rPr lang="en-US" sz="850" dirty="0">
                <a:solidFill>
                  <a:srgbClr val="6A7E87"/>
                </a:solidFill>
                <a:latin typeface="Inter" pitchFamily="34" charset="0"/>
                <a:ea typeface="Inter" pitchFamily="34" charset="-122"/>
                <a:cs typeface="Inter" pitchFamily="34" charset="-120"/>
              </a:rPr>
              <a:t>Curso de alfabetización en IA · Módulo 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3519</Words>
  <Application>Microsoft Macintosh PowerPoint</Application>
  <PresentationFormat>Panorámica</PresentationFormat>
  <Paragraphs>510</Paragraphs>
  <Slides>43</Slides>
  <Notes>43</Notes>
  <HiddenSlides>0</HiddenSlides>
  <MMClips>7</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43</vt:i4>
      </vt:variant>
    </vt:vector>
  </HeadingPairs>
  <TitlesOfParts>
    <vt:vector size="46" baseType="lpstr">
      <vt:lpstr>Arial</vt:lpstr>
      <vt:lpstr>Inter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Marta Bono</cp:lastModifiedBy>
  <cp:revision>3</cp:revision>
  <dcterms:created xsi:type="dcterms:W3CDTF">2026-08-27T16:37:42Z</dcterms:created>
  <dcterms:modified xsi:type="dcterms:W3CDTF">2026-09-01T18:10:13Z</dcterms:modified>
</cp:coreProperties>
</file>